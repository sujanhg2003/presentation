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6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FUNDAMENTALS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874520"/>
            <a:ext cx="7315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Behavior: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Prompts, Memory &amp;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language model turns a prompt into an answer — and where, along the way, it can go wrong.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86700" y="4256532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16224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61020" y="4458715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092440" y="46542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“Why is the sky </a:t>
            </a: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92440" y="5074920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0B14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2440" y="5054855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98280" y="5291836"/>
            <a:ext cx="20116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092440" y="534746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prediction, one token at a time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5621783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5871465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“Sunlight scatters more at blue wavelengths.”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ideas, each building on the last — from a single prompt to a fully grounded, controlled response.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E0F2F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48840"/>
            <a:ext cx="2121408" cy="68580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514600"/>
            <a:ext cx="2121408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0175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Behavior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749040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completion, roles, formatting, why system prompts dominate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52344" y="214884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EDE9FE"/>
          </a:solidFill>
          <a:ln/>
        </p:spPr>
      </p:sp>
      <p:sp>
        <p:nvSpPr>
          <p:cNvPr id="11" name="Shape 9"/>
          <p:cNvSpPr/>
          <p:nvPr/>
        </p:nvSpPr>
        <p:spPr>
          <a:xfrm>
            <a:off x="2752344" y="2148840"/>
            <a:ext cx="2121408" cy="68580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752344" y="2514600"/>
            <a:ext cx="2121408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16936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916936" y="30175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Memory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16936" y="3749040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limits, sliding window, truncation, short vs long-term memory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47488" y="214884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FFE4E6"/>
          </a:solidFill>
          <a:ln/>
        </p:spPr>
      </p:sp>
      <p:sp>
        <p:nvSpPr>
          <p:cNvPr id="17" name="Shape 15"/>
          <p:cNvSpPr/>
          <p:nvPr/>
        </p:nvSpPr>
        <p:spPr>
          <a:xfrm>
            <a:off x="5047488" y="2148840"/>
            <a:ext cx="2121408" cy="685800"/>
          </a:xfrm>
          <a:prstGeom prst="roundRect">
            <a:avLst>
              <a:gd name="adj" fmla="val 13333"/>
            </a:avLst>
          </a:prstGeom>
          <a:solidFill>
            <a:srgbClr val="FB7185"/>
          </a:solidFill>
          <a:ln/>
        </p:spPr>
      </p:sp>
      <p:sp>
        <p:nvSpPr>
          <p:cNvPr id="18" name="Shape 16"/>
          <p:cNvSpPr/>
          <p:nvPr/>
        </p:nvSpPr>
        <p:spPr>
          <a:xfrm>
            <a:off x="5047488" y="2514600"/>
            <a:ext cx="2121408" cy="32004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12080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0175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E1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749040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happens, open-ended vs closed-domain risk, temperature, grounding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42632" y="214884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D1FAE5"/>
          </a:solidFill>
          <a:ln/>
        </p:spPr>
      </p:sp>
      <p:sp>
        <p:nvSpPr>
          <p:cNvPr id="23" name="Shape 21"/>
          <p:cNvSpPr/>
          <p:nvPr/>
        </p:nvSpPr>
        <p:spPr>
          <a:xfrm>
            <a:off x="7342632" y="2148840"/>
            <a:ext cx="2121408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342632" y="2514600"/>
            <a:ext cx="2121408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07224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507224" y="30175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507224" y="3749040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prompting, RAG, citations, refusal instructions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37776" y="214884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FEF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9637776" y="2148840"/>
            <a:ext cx="2121408" cy="6858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9637776" y="2514600"/>
            <a:ext cx="2121408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02368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9802368" y="30175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802368" y="3749040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top-p, top-k, repetition penalty, max tokens, seed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69034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CORE BEHAVIOR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prompt → completion?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next-token predictor: given the text so far, it scores every possible next token in its vocabulary.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“prompt” is the input text. The “completion” is what the model generates, one token at a time, after it.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token is appended to the input, and the model predicts the next one again — one step at a time.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26480" y="1920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6364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capital of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France is”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49640" y="2295144"/>
            <a:ext cx="502920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0" y="2148840"/>
            <a:ext cx="914400" cy="457200"/>
          </a:xfrm>
          <a:prstGeom prst="roundRect">
            <a:avLst>
              <a:gd name="adj" fmla="val 24000"/>
            </a:avLst>
          </a:prstGeom>
          <a:solidFill>
            <a:srgbClr val="0B14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149840" y="2295144"/>
            <a:ext cx="502920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315468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246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“Paris.”  ← generated one token at a 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0" y="2606040"/>
            <a:ext cx="0" cy="5486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5166360"/>
            <a:ext cx="11247120" cy="640080"/>
          </a:xfrm>
          <a:prstGeom prst="roundRect">
            <a:avLst>
              <a:gd name="adj" fmla="val 12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166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“Translate to French: Hello” → Completion “Bonjour”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09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made simple: predict the single most likely next word — then repeat.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69034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CORE BEHAVIOR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System, User, Assistant roles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9180" y="1884934"/>
            <a:ext cx="777240" cy="777240"/>
          </a:xfrm>
          <a:prstGeom prst="ellipse">
            <a:avLst/>
          </a:prstGeom>
          <a:solidFill>
            <a:srgbClr val="0B14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918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918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84446" y="2880360"/>
            <a:ext cx="2594008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158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Sets the assistant’s identity, rules, and boundaries. Written once, before the conversation starts.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53940" y="1893570"/>
            <a:ext cx="777240" cy="7772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5394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5394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001127" y="2875703"/>
            <a:ext cx="252502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31012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The person’s questions, requests, and instructions — one message per turn.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648700" y="1911096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870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4870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600440" y="2880360"/>
            <a:ext cx="218493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31012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The model’s own previous replies, kept in the transcript so it remembers what it already said.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57200" y="4347337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conversation, laid out by role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646422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0B143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5016754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   “You are a concise, factual assistant.”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     “What’s the boiling point of water?”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Assistant: “100°C at sea level.”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69034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CORE BEHAVIOR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formatting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scenes, chat messages are stitched into one long text string using special tokens the model was trained on.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this format exactly right matters — a misplaced tag can make the model ignore instructions or produce broken output.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family has its own template (e.g. &lt;|system|&gt; tags, [INST] blocks, &lt;s&gt; markers).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200" y="1828800"/>
            <a:ext cx="5577840" cy="2880360"/>
          </a:xfrm>
          <a:prstGeom prst="roundRect">
            <a:avLst>
              <a:gd name="adj" fmla="val 2540"/>
            </a:avLst>
          </a:prstGeom>
          <a:solidFill>
            <a:srgbClr val="0B1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2057400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&lt;|system|&gt;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helpful tutor.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&lt;|user|&gt;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photosynthesis.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&lt;|assistant|&gt;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5074920"/>
            <a:ext cx="5577840" cy="6858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50749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full formatted string — not just your visible question — is what the model actually reads.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69034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CORE BEHAVIOR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system prompts dominate behavior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is seen first, and models are trained to treat it as the highest-priority instruction.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present on every turn, so its rules compound across a long conversation — unlike a one-off user request.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well-written system prompt constrains tone, scope, and refusals far more reliably than asking nicely mid-chat.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0" y="178308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0B1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856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30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strongest, always-on pull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0" y="2569464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1622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2642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tool instructions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916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rules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0" y="3355848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0369A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(this turn)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703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immediate request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89520" y="4142232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0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conversation history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489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weakest, easiest to override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490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influence at top ↓ weakest at bottom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532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“Never give medical dosages.” → User: “What’s the dose of X?” → the model declines, even though this turn never repeats the rule.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93976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CONTEXT &amp; MEMORY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has a maximum number of tokens it can “see” at once — prompt, conversation history, and completion, combined.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that limit is hit, the oldest content must be dropped or compressed to make room for new tokens.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windows cost more compute and money per request — context isn't free to expand.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200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69964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67728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5492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63256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61020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58784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56548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54312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076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47604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45368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43132" y="2103120"/>
            <a:ext cx="347472" cy="457200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outside the window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16102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context now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547604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tokens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33375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= 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tokens + history tokens + completion tokens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counted against one fixed maximum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532120"/>
            <a:ext cx="11247120" cy="640080"/>
          </a:xfrm>
          <a:prstGeom prst="roundRect">
            <a:avLst>
              <a:gd name="adj" fmla="val 12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532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8K-token window holds roughly 10–15 pages of text before something has to give.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93976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CONTEXT &amp; MEMORY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conversation grows, the model only keeps the most recent N tokens “in view” — a window sliding along the transcript.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turns silently fall outside the window and are no longer considered when generating the next reply.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latency and cost bounded, but it means the model can quietly “forget” something said many turns ago.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1–6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217627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6591300" y="217627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7056120" y="217627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7520940" y="217627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Shape 9"/>
          <p:cNvSpPr/>
          <p:nvPr/>
        </p:nvSpPr>
        <p:spPr>
          <a:xfrm>
            <a:off x="7985760" y="217627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450580" y="217627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915400" y="217627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9380220" y="217627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9845040" y="217627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09860" y="217627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74680" y="217627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39500" y="217627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08192" y="2148840"/>
            <a:ext cx="2788920" cy="347472"/>
          </a:xfrm>
          <a:prstGeom prst="rect">
            <a:avLst/>
          </a:prstGeom>
          <a:ln w="28575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1–12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99923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6591300" y="299923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56120" y="299923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7520940" y="299923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985760" y="299923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450580" y="299923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8915400" y="299923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9380220" y="299923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9845040" y="299923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09860" y="299923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74680" y="299923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239500" y="299923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7502652" y="2971800"/>
            <a:ext cx="2788920" cy="347472"/>
          </a:xfrm>
          <a:prstGeom prst="rect">
            <a:avLst/>
          </a:prstGeom>
          <a:ln w="28575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2648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1–20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82219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6591300" y="382219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7056120" y="382219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Shape 36"/>
          <p:cNvSpPr/>
          <p:nvPr/>
        </p:nvSpPr>
        <p:spPr>
          <a:xfrm>
            <a:off x="7520940" y="382219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7985760" y="382219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Shape 38"/>
          <p:cNvSpPr/>
          <p:nvPr/>
        </p:nvSpPr>
        <p:spPr>
          <a:xfrm>
            <a:off x="8450580" y="3822192"/>
            <a:ext cx="428244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Shape 39"/>
          <p:cNvSpPr/>
          <p:nvPr/>
        </p:nvSpPr>
        <p:spPr>
          <a:xfrm>
            <a:off x="8915400" y="382219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Shape 40"/>
          <p:cNvSpPr/>
          <p:nvPr/>
        </p:nvSpPr>
        <p:spPr>
          <a:xfrm>
            <a:off x="9380220" y="382219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Shape 41"/>
          <p:cNvSpPr/>
          <p:nvPr/>
        </p:nvSpPr>
        <p:spPr>
          <a:xfrm>
            <a:off x="9845040" y="382219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4" name="Shape 42"/>
          <p:cNvSpPr/>
          <p:nvPr/>
        </p:nvSpPr>
        <p:spPr>
          <a:xfrm>
            <a:off x="10309860" y="382219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Shape 43"/>
          <p:cNvSpPr/>
          <p:nvPr/>
        </p:nvSpPr>
        <p:spPr>
          <a:xfrm>
            <a:off x="10774680" y="382219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Shape 44"/>
          <p:cNvSpPr/>
          <p:nvPr/>
        </p:nvSpPr>
        <p:spPr>
          <a:xfrm>
            <a:off x="11239500" y="3822192"/>
            <a:ext cx="428244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Shape 45"/>
          <p:cNvSpPr/>
          <p:nvPr/>
        </p:nvSpPr>
        <p:spPr>
          <a:xfrm>
            <a:off x="8897112" y="3794760"/>
            <a:ext cx="2788920" cy="347472"/>
          </a:xfrm>
          <a:prstGeom prst="rect">
            <a:avLst/>
          </a:prstGeom>
          <a:ln w="28575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26480" y="44074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= the last-N tokens still inside the window as the chat keeps growing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26480" y="5532120"/>
            <a:ext cx="5577840" cy="640080"/>
          </a:xfrm>
          <a:prstGeom prst="roundRect">
            <a:avLst>
              <a:gd name="adj" fmla="val 12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55080" y="5532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window's size doesn't grow with the conversation — it slides, trading old context for new.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93976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CONTEXT &amp; MEMORY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Truncation strategies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window fills up, something has to give. Three common approaches: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8600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26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Latest messages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278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sliding window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935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/>
              <a:t>Delete older messages ,keep only latest messages</a:t>
            </a:r>
          </a:p>
        </p:txBody>
      </p:sp>
      <p:sp>
        <p:nvSpPr>
          <p:cNvPr id="12" name="Shape 10"/>
          <p:cNvSpPr/>
          <p:nvPr/>
        </p:nvSpPr>
        <p:spPr>
          <a:xfrm>
            <a:off x="4251960" y="205740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28600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805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926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based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2278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5935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/>
              <a:t>Keep as many recent messages as fit within specific defined token size.</a:t>
            </a:r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22860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53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926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278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compress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5935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replace old turns with a short-generated summary. Keeps more information per token, at the cost of extra compute.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1247120" cy="731520"/>
          </a:xfrm>
          <a:prstGeom prst="roundRect">
            <a:avLst>
              <a:gd name="adj" fmla="val 112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303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systems protect the system prompt and the most recent turns first, and truncate or summarize everything else.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93976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CONTEXT &amp; MEMORY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vs long-term memory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memory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394960" cy="2240280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974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entirely inside the context window.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Disappears once the conversation ends, or once it slides out of the window.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free — no extra storage or lookup step.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828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memory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5394960" cy="224028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6974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outside the model, in a database or vector store.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and re-inserted into the prompt only when relevant.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sessions — but needs an explicit retrieval step.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98348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12064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remembers your name within this chat.
</a:t>
            </a: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remembers your name next week — because it was saved, then looked back up.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69034" cy="29260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HALLUCINATION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hallucination happens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856232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isn't truth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939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predict plausible-sounding text, not verified facts — confidence in tone doesn't imply accuracy.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9352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training data is filled with the model's best statistical guess, stated as confidently as a known fact.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538728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5112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fact-check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7764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doesn't “look anything up” on its own, unless a tool or retrieval step tells it to.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79976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3525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prompts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617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leading questions nudge the model toward an answer that fits — even if none actually exists.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18288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20840" y="2331720"/>
            <a:ext cx="2103120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2331720"/>
            <a:ext cx="2423160" cy="548640"/>
          </a:xfrm>
          <a:prstGeom prst="rect">
            <a:avLst/>
          </a:prstGeom>
          <a:solidFill>
            <a:srgbClr val="FFE4E6"/>
          </a:solidFill>
          <a:ln w="15875">
            <a:solidFill>
              <a:srgbClr val="FB7185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7208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241280" y="2880360"/>
            <a:ext cx="0" cy="502920"/>
          </a:xfrm>
          <a:prstGeom prst="line">
            <a:avLst/>
          </a:prstGeom>
          <a:noFill/>
          <a:ln w="19050">
            <a:solidFill>
              <a:srgbClr val="FB7185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92240" y="347472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0B14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2084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treaty was signed in 1834.”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with full confidence — and invented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623560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FFE4E6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56235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isn't a bug in one place — it's the natural result of a model that always tries to complete the sentence.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69034" cy="29260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HALLUCINATION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Open-ended vs closed-domain questions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140693"/>
              </p:ext>
            </p:extLst>
          </p:nvPr>
        </p:nvGraphicFramePr>
        <p:xfrm>
          <a:off x="472440" y="1463040"/>
          <a:ext cx="11247120" cy="38404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Open-ended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Closed-domain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verifiable answer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exists in a fixed, checkable source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“Write a poem about the ocean.”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year did India gain independence?”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risk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creativity is the goal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if unsupported — a wrong “fact” reads as confidently as a right 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There's no ground truth to violate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may guess fluently when it doesn't actually know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69034" cy="29260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HALLUCINATION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vs hallucination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5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controls how much randomness is added when picking the next token from the probability distribution.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5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temperature: the model almost always picks the top choice — safer and more repetitive, closer to its training patterns.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5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temperature: more low-probability tokens get chosen — more creative, but a higher chance of wandering into an unsupported claim.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96275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(~0.2)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209647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peak — one dominant token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2445105"/>
            <a:ext cx="384048" cy="1346454"/>
          </a:xfrm>
          <a:prstGeom prst="roundRect">
            <a:avLst>
              <a:gd name="adj" fmla="val 4762"/>
            </a:avLst>
          </a:prstGeom>
          <a:solidFill>
            <a:srgbClr val="0369A1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3295497"/>
            <a:ext cx="384048" cy="496062"/>
          </a:xfrm>
          <a:prstGeom prst="roundRect">
            <a:avLst>
              <a:gd name="adj" fmla="val 4762"/>
            </a:avLst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7287768" y="3536441"/>
            <a:ext cx="384048" cy="255118"/>
          </a:xfrm>
          <a:prstGeom prst="roundRect">
            <a:avLst>
              <a:gd name="adj" fmla="val 7168"/>
            </a:avLst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7799832" y="3649827"/>
            <a:ext cx="384048" cy="141732"/>
          </a:xfrm>
          <a:prstGeom prst="roundRect">
            <a:avLst>
              <a:gd name="adj" fmla="val 12903"/>
            </a:avLst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8311896" y="3706520"/>
            <a:ext cx="384048" cy="85039"/>
          </a:xfrm>
          <a:prstGeom prst="roundRect">
            <a:avLst>
              <a:gd name="adj" fmla="val 21505"/>
            </a:avLst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3791559"/>
            <a:ext cx="2432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96275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 (~1.2)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209647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 — many similar-odds tokens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3012033"/>
            <a:ext cx="384048" cy="779526"/>
          </a:xfrm>
          <a:prstGeom prst="roundRect">
            <a:avLst>
              <a:gd name="adj" fmla="val 4762"/>
            </a:avLst>
          </a:prstGeom>
          <a:solidFill>
            <a:srgbClr val="FB7185"/>
          </a:solidFill>
          <a:ln/>
        </p:spPr>
      </p:sp>
      <p:sp>
        <p:nvSpPr>
          <p:cNvPr id="17" name="Shape 15"/>
          <p:cNvSpPr/>
          <p:nvPr/>
        </p:nvSpPr>
        <p:spPr>
          <a:xfrm>
            <a:off x="9564624" y="3111245"/>
            <a:ext cx="384048" cy="680314"/>
          </a:xfrm>
          <a:prstGeom prst="roundRect">
            <a:avLst>
              <a:gd name="adj" fmla="val 4762"/>
            </a:avLst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76688" y="3196285"/>
            <a:ext cx="384048" cy="595274"/>
          </a:xfrm>
          <a:prstGeom prst="roundRect">
            <a:avLst>
              <a:gd name="adj" fmla="val 4762"/>
            </a:avLst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88752" y="3281324"/>
            <a:ext cx="384048" cy="510235"/>
          </a:xfrm>
          <a:prstGeom prst="roundRect">
            <a:avLst>
              <a:gd name="adj" fmla="val 4762"/>
            </a:avLst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00816" y="3366363"/>
            <a:ext cx="384048" cy="425196"/>
          </a:xfrm>
          <a:prstGeom prst="roundRect">
            <a:avLst>
              <a:gd name="adj" fmla="val 4762"/>
            </a:avLst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3791559"/>
            <a:ext cx="2432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539496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FFE4E6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53949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factual question asked at temperature 0.9 is more likely to produce an invented citation than the same question at temperature 0.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69034" cy="29260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HALLUCINATION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grounding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only on memorized training data, the model is handed real, current source documents at answer time.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instructed to answer using only the retrieved text — reducing how much it needs to guess.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doesn't eliminate hallucination, but it gives the model something true to lean on, and to cite.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92750" y="2279650"/>
            <a:ext cx="971804" cy="1117346"/>
          </a:xfrm>
          <a:prstGeom prst="roundRect">
            <a:avLst>
              <a:gd name="adj" fmla="val 6863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86730" y="24185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586730" y="272948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was</a:t>
            </a:r>
            <a:endParaRPr lang="en-US" sz="7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</a:t>
            </a:r>
            <a:endParaRPr lang="en-US" sz="7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updated?”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6533515" y="2788920"/>
            <a:ext cx="109728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6702299" y="2279650"/>
            <a:ext cx="971804" cy="1117346"/>
          </a:xfrm>
          <a:prstGeom prst="roundRect">
            <a:avLst>
              <a:gd name="adj" fmla="val 6863"/>
            </a:avLst>
          </a:prstGeom>
          <a:solidFill>
            <a:srgbClr val="FFE4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96279" y="24185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796279" y="272948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</a:t>
            </a:r>
            <a:endParaRPr lang="en-US" sz="7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724015" y="2788920"/>
            <a:ext cx="109728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7537" y="2279650"/>
            <a:ext cx="971804" cy="1117346"/>
          </a:xfrm>
          <a:prstGeom prst="roundRect">
            <a:avLst>
              <a:gd name="adj" fmla="val 6863"/>
            </a:avLst>
          </a:prstGeom>
          <a:solidFill>
            <a:srgbClr val="FFE4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1517" y="24185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951517" y="272948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current</a:t>
            </a:r>
            <a:endParaRPr lang="en-US" sz="7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text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959597" y="2788920"/>
            <a:ext cx="109728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34476" y="2279650"/>
            <a:ext cx="971804" cy="1117346"/>
          </a:xfrm>
          <a:prstGeom prst="roundRect">
            <a:avLst>
              <a:gd name="adj" fmla="val 6863"/>
            </a:avLst>
          </a:prstGeom>
          <a:solidFill>
            <a:srgbClr val="0B14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28456" y="24185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228456" y="272948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using</a:t>
            </a:r>
            <a:endParaRPr lang="en-US" sz="7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that text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0192768" y="2756027"/>
            <a:ext cx="109728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59391" y="2279650"/>
            <a:ext cx="971804" cy="1117346"/>
          </a:xfrm>
          <a:prstGeom prst="roundRect">
            <a:avLst>
              <a:gd name="adj" fmla="val 6863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453371" y="24185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453371" y="272948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to</a:t>
            </a:r>
            <a:endParaRPr lang="en-US" sz="7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8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source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217920" y="5623560"/>
            <a:ext cx="5486400" cy="685800"/>
          </a:xfrm>
          <a:prstGeom prst="roundRect">
            <a:avLst>
              <a:gd name="adj" fmla="val 12000"/>
            </a:avLst>
          </a:prstGeom>
          <a:solidFill>
            <a:srgbClr val="FFE4E6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5623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“Answer using only the context below” turns a memory test into an open-book exam.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4091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644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MITIGATION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reduce hallucination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is perfect alone — used together, they close most of the gap.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4917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24917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91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Constrained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233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 specific format, scope, or allowed source.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82696" y="21945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8536" y="24917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88536" y="24917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19856" y="3291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465576" y="40233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in retrieved, real documents.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21945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4032" y="24917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14032" y="24917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3291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40233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the model to point to its source.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33688" y="21945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39528" y="24917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39528" y="24917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070848" y="3291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116568" y="40233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model to say “I don't know.”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4091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644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MITIGATION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Constrained prompting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Constraining format, scope, and allowed sources removes room for the model to improvise facts.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94960" cy="502920"/>
          </a:xfrm>
          <a:prstGeom prst="roundRect">
            <a:avLst>
              <a:gd name="adj" fmla="val 12727"/>
            </a:avLst>
          </a:prstGeom>
          <a:solidFill>
            <a:srgbClr val="FB718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loose prompt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394960" cy="3063240"/>
          </a:xfrm>
          <a:prstGeom prst="roundRect">
            <a:avLst/>
          </a:prstGeom>
          <a:solidFill>
            <a:srgbClr val="FFE4E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9748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0B14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“Tell me about our refund policy.”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490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the model invents a plausible-sounding but wrong policy — nothing stops it from filling the gap.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5394960" cy="502920"/>
          </a:xfrm>
          <a:prstGeom prst="roundRect">
            <a:avLst>
              <a:gd name="adj" fmla="val 12727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constrained prompt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2423160"/>
            <a:ext cx="5394960" cy="306324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69748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0B143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2926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“Using ONLY the policy text below,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in one sentence. If it isn't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covered, say ‘Not specified.’”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023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model sticks to what's given — or openly admits the gap, instead of guessing.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4091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644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MITIGATION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in action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turn “what the model remembers” into “what it can look up right now.”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23545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" y="2354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query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66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converted into a numeric vector that captures its meaning.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3346704"/>
            <a:ext cx="146304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1945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1860" y="23545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51860" y="2354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vector store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566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matching document chunks are found by similarity, not keywords.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61888" y="3346704"/>
            <a:ext cx="146304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21945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6500" y="23545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86500" y="2354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the prompt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566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matches are added to the prompt, next to the original question.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96528" y="3346704"/>
            <a:ext cx="146304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8961120" y="21945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0B1437"/>
          </a:solidFill>
          <a:ln/>
        </p:spPr>
      </p:sp>
      <p:sp>
        <p:nvSpPr>
          <p:cNvPr id="25" name="Shape 23"/>
          <p:cNvSpPr/>
          <p:nvPr/>
        </p:nvSpPr>
        <p:spPr>
          <a:xfrm>
            <a:off x="9121140" y="23545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21140" y="2354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from that context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3566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instructed to answer using only the injected passages.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074920"/>
            <a:ext cx="11247120" cy="731520"/>
          </a:xfrm>
          <a:prstGeom prst="roundRect">
            <a:avLst>
              <a:gd name="adj" fmla="val 1125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0749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the single most effective practical fix for factual hallucination — it gives the model something to point to.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4091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644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MITIGATION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 &amp; refusal instructions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D1FA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tag each claim with its source, e.g. [Doc 2]. A false claim becomes easy to spot and check — and a true claim becomes easy to verify.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 instructions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14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tell the model it's allowed — even expected — to say “I don't know” or “this isn't in the provided context,” instead of guessing.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B143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983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“If the answer isn’t in the context, say so — do not guess.”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far fewer confident wrong answers, and clear signals when to check further.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4091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644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PARAMETERS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probability distribution before a token is sampled. Typical range: 0–2.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  (deterministic)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365760" cy="128016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3867912"/>
            <a:ext cx="365760" cy="64008"/>
          </a:xfrm>
          <a:prstGeom prst="roundRect">
            <a:avLst>
              <a:gd name="adj" fmla="val 28571"/>
            </a:avLst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1764792" y="3906317"/>
            <a:ext cx="365760" cy="25603"/>
          </a:xfrm>
          <a:prstGeom prst="roundRect">
            <a:avLst>
              <a:gd name="adj" fmla="val 71429"/>
            </a:avLst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2258568" y="3919118"/>
            <a:ext cx="365760" cy="12802"/>
          </a:xfrm>
          <a:prstGeom prst="roundRect">
            <a:avLst>
              <a:gd name="adj" fmla="val 142853"/>
            </a:avLst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2752344" y="3919118"/>
            <a:ext cx="365760" cy="12802"/>
          </a:xfrm>
          <a:prstGeom prst="roundRect">
            <a:avLst>
              <a:gd name="adj" fmla="val 142853"/>
            </a:avLst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931920"/>
            <a:ext cx="23408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9202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4340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0.7  (balanced)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2971800"/>
            <a:ext cx="365760" cy="9601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4974336" y="3291840"/>
            <a:ext cx="365760" cy="640080"/>
          </a:xfrm>
          <a:prstGeom prst="roundRect">
            <a:avLst>
              <a:gd name="adj" fmla="val 5000"/>
            </a:avLst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5468112" y="3522269"/>
            <a:ext cx="365760" cy="409651"/>
          </a:xfrm>
          <a:prstGeom prst="roundRect">
            <a:avLst>
              <a:gd name="adj" fmla="val 5000"/>
            </a:avLst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61888" y="3675888"/>
            <a:ext cx="365760" cy="256032"/>
          </a:xfrm>
          <a:prstGeom prst="roundRect">
            <a:avLst>
              <a:gd name="adj" fmla="val 7143"/>
            </a:avLst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5664" y="3778301"/>
            <a:ext cx="365760" cy="153619"/>
          </a:xfrm>
          <a:prstGeom prst="roundRect">
            <a:avLst>
              <a:gd name="adj" fmla="val 11905"/>
            </a:avLst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4480560" y="3931920"/>
            <a:ext cx="23408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19202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1.5  (very random)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3291840"/>
            <a:ext cx="365760" cy="64008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677656" y="3343046"/>
            <a:ext cx="365760" cy="588874"/>
          </a:xfrm>
          <a:prstGeom prst="roundRect">
            <a:avLst>
              <a:gd name="adj" fmla="val 5000"/>
            </a:avLst>
          </a:prstGeom>
          <a:solidFill>
            <a:srgbClr val="CBD5E1"/>
          </a:solidFill>
          <a:ln/>
        </p:spPr>
      </p:sp>
      <p:sp>
        <p:nvSpPr>
          <p:cNvPr id="26" name="Shape 24"/>
          <p:cNvSpPr/>
          <p:nvPr/>
        </p:nvSpPr>
        <p:spPr>
          <a:xfrm>
            <a:off x="9171432" y="3394253"/>
            <a:ext cx="365760" cy="537667"/>
          </a:xfrm>
          <a:prstGeom prst="roundRect">
            <a:avLst>
              <a:gd name="adj" fmla="val 5000"/>
            </a:avLst>
          </a:prstGeom>
          <a:solidFill>
            <a:srgbClr val="CBD5E1"/>
          </a:solidFill>
          <a:ln/>
        </p:spPr>
      </p:sp>
      <p:sp>
        <p:nvSpPr>
          <p:cNvPr id="27" name="Shape 25"/>
          <p:cNvSpPr/>
          <p:nvPr/>
        </p:nvSpPr>
        <p:spPr>
          <a:xfrm>
            <a:off x="9665208" y="3445459"/>
            <a:ext cx="365760" cy="486461"/>
          </a:xfrm>
          <a:prstGeom prst="roundRect">
            <a:avLst>
              <a:gd name="adj" fmla="val 5000"/>
            </a:avLst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58984" y="3496666"/>
            <a:ext cx="365760" cy="435254"/>
          </a:xfrm>
          <a:prstGeom prst="roundRect">
            <a:avLst>
              <a:gd name="adj" fmla="val 5000"/>
            </a:avLst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8183880" y="3931920"/>
            <a:ext cx="23408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always the single top-scoring token: fully deterministic, repeatable.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(~0.6–0.9) → balances coherence with variety; the common default.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(&gt;1.2) → flattens the distribution so unlikely tokens get picked more often: more creative, less reliable.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4091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644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PARAMETERS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Top-p and top-k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57400"/>
            <a:ext cx="1371600" cy="41148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k highest-probability tokens are eligible; everything else is discarded before sampling.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35204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5376" y="35204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35204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9232" y="3520440"/>
            <a:ext cx="457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3520440"/>
            <a:ext cx="457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33088" y="3520440"/>
            <a:ext cx="457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0016" y="3520440"/>
            <a:ext cx="457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 = 4  →  keeps just the 4 best options, rank by rank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057400"/>
            <a:ext cx="1554480" cy="41148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2057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651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smallest set of tokens whose cumulative probability reaches p — the set's size can change each step.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3977640"/>
            <a:ext cx="2017166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19134" y="3977640"/>
            <a:ext cx="133868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76104" y="3977640"/>
            <a:ext cx="7086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03052" y="3977640"/>
            <a:ext cx="369418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90758" y="3977640"/>
            <a:ext cx="175565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84610" y="3977640"/>
            <a:ext cx="127102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 = 0.9  →  keeps enough tokens to cover 90% of the probability mass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4091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644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PARAMETERS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 penalty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the score of tokens the model has already used, discouraging loops and stuck phrases.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during sampling, on top of whatever temperature or top-p/top-k already selected.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 a penalty can push the model into odd, unnatural word choices just to avoid repeating itself.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20116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penalty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860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cat sat on the mat. The cat sat on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mat. The cat sat on the mat…”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356616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37033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penalty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977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cat sat on the mat, watching birds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and flicking its tail.”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4091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644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PARAMETERS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tokens and seed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39496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21408"/>
            <a:ext cx="5394960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828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tokens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cap on how many tokens the completion can contain.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6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Hitting the limit cuts the response off mid-thought — it doesn't mean the model was “done.”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20624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0B14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3891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 = 200 → the reply stops at 200 tokens, finished sentence or not.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828800"/>
            <a:ext cx="539496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2121408"/>
            <a:ext cx="5394960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1828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random number generator used when sampling tokens.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46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+ same seed + same parameters → the same output every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420624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0B14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0" y="43891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= 42 → useful for reproducible testing and debugging.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4091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644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PARAMETERS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cheat sheet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193942"/>
              </p:ext>
            </p:extLst>
          </p:nvPr>
        </p:nvGraphicFramePr>
        <p:xfrm>
          <a:off x="308008" y="1444752"/>
          <a:ext cx="11396312" cy="4498851"/>
        </p:xfrm>
        <a:graphic>
          <a:graphicData uri="http://schemas.openxmlformats.org/drawingml/2006/table">
            <a:tbl>
              <a:tblPr/>
              <a:tblGrid>
                <a:gridCol w="1838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6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9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Parameter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Controls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Low value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High value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Temperature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Randomness of token choice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Safe, repetitive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Creative, riskier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Top-p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Candidate pool, by probability mass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Narrow, focused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Broad, varied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Top-k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Candidate pool, by token count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Few options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Many options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Repetition penalty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Discourages reusing tokens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Natural repeats allowed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Forced variety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Max tokens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Length ceiling of the output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Short, may cut off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Long, costs more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Seed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Reproducibility of sampling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Fixed → identical runs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Unset → varies each run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62940" y="127558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2940" y="12755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only ever predicts the next token — roles, memory, and grounding are all scaffolding around that one operation.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2940" y="22631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" y="22631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2199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is finite; sliding windows and truncation decide what the model can still “see.”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2940" y="325069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" y="32506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0954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a natural side effect of fluent next-token prediction, not a rare glitch.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2940" y="4238244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" y="42382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9709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citations, and refusal instructions are the most reliable practical fixes — prompting alone isn't enough.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2940" y="5225796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" y="52257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8464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top-p/top-k, and repetition penalty jointly control the creativity-vs-reliability trade-off.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27183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79019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Thank you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1475720" y="6492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2557</Words>
  <Application>Microsoft Office PowerPoint</Application>
  <PresentationFormat>Widescreen</PresentationFormat>
  <Paragraphs>387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Sujan H G</cp:lastModifiedBy>
  <cp:revision>12</cp:revision>
  <dcterms:created xsi:type="dcterms:W3CDTF">2026-09-23T04:37:26Z</dcterms:created>
  <dcterms:modified xsi:type="dcterms:W3CDTF">2026-09-30T11:53:39Z</dcterms:modified>
</cp:coreProperties>
</file>