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6" r:id="rId13"/>
    <p:sldId id="269" r:id="rId14"/>
    <p:sldId id="285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E293B"/>
                </a:solidFill>
                <a:latin typeface="Calibri"/>
              </a:rPr>
              <a:t>P(next token | “The capital of France is”)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Probability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FE8-4BD8-88F1-D96179CD9F71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E8-4BD8-88F1-D96179CD9F71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FE8-4BD8-88F1-D96179CD9F71}"/>
              </c:ext>
            </c:extLst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FE8-4BD8-88F1-D96179CD9F71}"/>
              </c:ext>
            </c:extLst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FE8-4BD8-88F1-D96179CD9F71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Paris</c:v>
                </c:pt>
                <c:pt idx="1">
                  <c:v>Lyon</c:v>
                </c:pt>
                <c:pt idx="2">
                  <c:v>the</c:v>
                </c:pt>
                <c:pt idx="3">
                  <c:v>Marseille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0.92</c:v>
                </c:pt>
                <c:pt idx="1">
                  <c:v>0.03</c:v>
                </c:pt>
                <c:pt idx="2">
                  <c:v>0.02</c:v>
                </c:pt>
                <c:pt idx="3">
                  <c:v>0.01</c:v>
                </c:pt>
                <c:pt idx="4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FE8-4BD8-88F1-D96179CD9F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534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through how an LLM turns text into numbers, generates text one token at a time, and how the Transformer and attention make that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blocks: text to numbers, generation, the Transformer architecture, and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LLM is a neural network trained to predict the next token. That single objective, at large scale, gives translation, coding, Q&amp;A and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Models work on numbers, so text must be split into pieces first. Characters are too long, whole words make the vocabulary too large. Subwords are the middle 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characters. Count adjacent pairs. Merge the most frequent pair into a new token. Repeat until the vocabulary is big enough. The table re-segments the words after each merge.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SentencePiece works on the raw character stream, using a visible space symbol so tokenization is reversible. It is a tool that can train BPE or Unigram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is split into tokens, and each token is mapped to an integer ID. The IDs shown are illustrative; every model has its own tokenizer and ID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token ID is just a label. The embedding matrix turns it into a learned vector, and similar meanings end up close together. Positional information is added so word order is 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context window is the maximum number of tokens the model can see at once, prompt plus output. Older tokens fall off; longer windows cost more because of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does not output one word. It scores every token in the vocabulary, softmax turns the scores into probabilities, and they sum to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part is deterministic: same input and weights give the same distribution. The randomness comes from the sampler that picks a token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RNNs and LSTMs process tokens one after another. Transformers process all tokens in parallel and use attention to connect any two tokens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encoder reads the entire input bidirectionally: every token can attend to every other token. It suits understanding tasks such as classification and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decoder generates left to right with masked self-attention. In the original Transformer it also uses cross-attention over the encoder output, as in translation.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Encoder-only models understand, encoder-decoder models translate or summarise, and decoder-only models generate. Most modern LLMs are decoder-only.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 keeps only masked self-attention and feed-forward blocks. The causal mask blocks attention to future positions, so training is pure next-token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decides which other words matter for its meaning. For the word “it”, the attention weights are highest on “animal”. The same mechanism disambiguates “bank”.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token is projected into three vectors. The query is matched against keys to get weights, and the weights blend the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steps: project to Q, K, V; score with QK transpose; scale by root d_k; softmax; and take the weighted sum of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tokens, toy numbers. The row for “love” gives weights 0.2, 0.5, 0.3, and the output is those weights applied to toy value vectors. Real vectors have many more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Several attention heads run in parallel, each with its own Q, K, V projections. Their outputs are concatenated and projected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token attends to every other token, giving an n by n score matrix. Doubling the length quadruples the cost; ten times longer means a hundred times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Several techniques reduce the cost of attention. FlashAttention and the KV cache keep the results exact; the others trade some modelling power for speed or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pipeline in one picture: text to tokens to IDs to embeddings, through the Transformer blocks, to logits, softmax, sampling and the next token, which is appended and the loop repeats.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things to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F59E0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LLM FUNDAMENTALS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182880" y="29718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LLMs</a:t>
            </a:r>
          </a:p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&amp;</a:t>
            </a:r>
          </a:p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Transformer Architecture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0175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440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33272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292608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16224F"/>
          </a:solidFill>
          <a:ln w="12700">
            <a:solidFill>
              <a:srgbClr val="3341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790688" y="292608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16224F"/>
          </a:solidFill>
          <a:ln w="12700">
            <a:solidFill>
              <a:srgbClr val="3341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▁sky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814816" y="292608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16224F"/>
          </a:solidFill>
          <a:ln w="12700">
            <a:solidFill>
              <a:srgbClr val="33415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▁is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9829800" y="3268980"/>
            <a:ext cx="411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10332720" y="292608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▁blue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3931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prediction: the one task behind every LLM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783080"/>
            <a:ext cx="2514600" cy="3931920"/>
          </a:xfrm>
          <a:prstGeom prst="roundRect">
            <a:avLst>
              <a:gd name="adj" fmla="val 4364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920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→ Numbers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3375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(BPE, SentencePiece)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vs tokens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63240" y="3749040"/>
            <a:ext cx="3383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401568" y="1783080"/>
            <a:ext cx="2514600" cy="3931920"/>
          </a:xfrm>
          <a:prstGeom prst="roundRect">
            <a:avLst>
              <a:gd name="adj" fmla="val 4364"/>
            </a:avLst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30168" y="1920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3630168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630168" y="33375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vs stochastic</a:t>
            </a:r>
            <a:endParaRPr lang="en-US" sz="1400" dirty="0"/>
          </a:p>
          <a:p>
            <a:pPr>
              <a:spcAft>
                <a:spcPts val="600"/>
              </a:spcAft>
              <a:buSzPct val="100000"/>
            </a:pP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16168" y="3749040"/>
            <a:ext cx="3383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254496" y="1783080"/>
            <a:ext cx="2514600" cy="3931920"/>
          </a:xfrm>
          <a:prstGeom prst="roundRect">
            <a:avLst>
              <a:gd name="adj" fmla="val 4364"/>
            </a:avLst>
          </a:prstGeom>
          <a:solidFill>
            <a:srgbClr val="047857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83096" y="1920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6483096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483096" y="33375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and decoder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GPT: decoder-only</a:t>
            </a:r>
            <a:endParaRPr lang="en-US" sz="1400" dirty="0"/>
          </a:p>
          <a:p>
            <a:pPr>
              <a:spcAft>
                <a:spcPts val="600"/>
              </a:spcAft>
              <a:buSzPct val="100000"/>
            </a:pP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769096" y="3749040"/>
            <a:ext cx="3383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107424" y="1783080"/>
            <a:ext cx="2514600" cy="3931920"/>
          </a:xfrm>
          <a:prstGeom prst="roundRect">
            <a:avLst>
              <a:gd name="adj" fmla="val 4364"/>
            </a:avLst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336024" y="1920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DE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21" name="Text 18"/>
          <p:cNvSpPr txBox="1"/>
          <p:nvPr/>
        </p:nvSpPr>
        <p:spPr>
          <a:xfrm>
            <a:off x="9336024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9336024" y="33375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(Q, K, V)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scales as O(n²)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prompt, followed all the way through the model: text in, next token out.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9525"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TEXT → NUMBERS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LLM?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huge amounts of text to predict the next token.</a:t>
            </a:r>
            <a:endParaRPr lang="en-US" sz="18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“Large” 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billions of parameters and trillions of training tokens.</a:t>
            </a:r>
            <a:endParaRPr lang="en-US" sz="18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task 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(next-token prediction) is enough to give translation, coding, Q&amp;A and more.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8745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E0F2FE"/>
          </a:solidFill>
          <a:ln w="9525">
            <a:solidFill>
              <a:srgbClr val="0EA5E9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text</a:t>
            </a:r>
            <a:endParaRPr lang="en-US" sz="14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sky is”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26680" y="246888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8092440" y="187452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0B1437"/>
          </a:solidFill>
          <a:ln w="9525">
            <a:solidFill>
              <a:srgbClr val="0B143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parameters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829800" y="246888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10195560" y="187452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 w="952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token</a:t>
            </a:r>
            <a:endParaRPr lang="en-US" sz="14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task, many skills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388620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388620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869680" y="388620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0" y="388620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26480" y="466344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55080" y="46634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sky is” → the most likely next token is “blue”.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9525"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TEXT → NUMBERS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905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tokenization?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21259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438144" y="21259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858768" y="21259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279392" y="21259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700016" y="21259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21259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541264" y="21259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961888" y="21259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382512" y="21259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803136" y="21259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21259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17830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get very long, and single letters carry little meaning.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20040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32004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3017520" y="3543300"/>
            <a:ext cx="167030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unhappiness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32004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explodes, and unseen words become “unknown”.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461772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E0F2FE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46177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Subword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3017520" y="4960620"/>
            <a:ext cx="573024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3681984" y="4960620"/>
            <a:ext cx="938784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happi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712208" y="4960620"/>
            <a:ext cx="816864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ness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138160" y="4617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Balanced: small vocabulary, rare words built from known pieces.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word, three ways to split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9525"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TEXT → NUMBERS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BPE: Byte Pair Encoding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every word into characters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651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all adjacent pairs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3520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most frequent pair into one new token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4389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vocabulary hits the target size</a:t>
            </a: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4F58D6-0502-A59C-2903-B4CF88E88774}"/>
              </a:ext>
            </a:extLst>
          </p:cNvPr>
          <p:cNvSpPr txBox="1"/>
          <p:nvPr/>
        </p:nvSpPr>
        <p:spPr>
          <a:xfrm>
            <a:off x="5909913" y="2109376"/>
            <a:ext cx="49088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play             → [play] </a:t>
            </a:r>
          </a:p>
          <a:p>
            <a:r>
              <a:rPr lang="en-US" sz="2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playing      → [play] [</a:t>
            </a:r>
            <a:r>
              <a:rPr lang="en-US" sz="2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ing</a:t>
            </a:r>
            <a:r>
              <a:rPr lang="en-US" sz="2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] </a:t>
            </a:r>
          </a:p>
          <a:p>
            <a:r>
              <a:rPr lang="en-US" sz="2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replay        → [re] [play] </a:t>
            </a:r>
          </a:p>
          <a:p>
            <a:r>
              <a:rPr lang="en-US" sz="2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replaying  → [re] [play] [</a:t>
            </a:r>
            <a:r>
              <a:rPr lang="en-US" sz="2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ing</a:t>
            </a:r>
            <a:r>
              <a:rPr lang="en-US" sz="2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] </a:t>
            </a:r>
          </a:p>
          <a:p>
            <a:r>
              <a:rPr lang="en-US" sz="2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            → [read] </a:t>
            </a:r>
          </a:p>
          <a:p>
            <a:r>
              <a:rPr lang="en-US" sz="2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reader        → [read] [er]</a:t>
            </a:r>
            <a:endParaRPr lang="en-IN" sz="28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9525"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TEXT → NUMBERS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SentencePiece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stream: 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pre-splitting on spaces; text is treated as one character sequence.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symbol ▁: 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become part of tokens, so decoding is fully reversible.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Language-agnostic: 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Kannada, Hindi, Japanese and others that do not rely on spaces.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algorithms: 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either BPE or Unigram models.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0" y="1783080"/>
            <a:ext cx="5239512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2940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011680"/>
            <a:ext cx="158648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world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2633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becomes ▁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2633472"/>
            <a:ext cx="158648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Hello▁world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32552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255264"/>
            <a:ext cx="1014984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▁Hello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518904" y="3255264"/>
            <a:ext cx="1014984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▁world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206240"/>
          <a:ext cx="5239512" cy="16916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algorithm: repeatedly merge the most frequent pair.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SentencePiece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tool that trains and applies BPE or Unigram directly on raw text.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9525"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TEXT → NUMBERS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 in action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48256"/>
            <a:ext cx="384048" cy="384048"/>
          </a:xfrm>
          <a:prstGeom prst="ellipse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text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19856"/>
            <a:ext cx="384048" cy="384048"/>
          </a:xfrm>
          <a:prstGeom prst="ellipse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246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82896"/>
            <a:ext cx="384048" cy="384048"/>
          </a:xfrm>
          <a:prstGeom prst="ellipse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4709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IDs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108960" y="1783080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9525">
            <a:solidFill>
              <a:srgbClr val="0EA5E9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love AI”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5577840" y="2697480"/>
            <a:ext cx="0" cy="5029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3108960" y="32461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32461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▁love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2461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▁AI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3840480" y="3977640"/>
            <a:ext cx="0" cy="6858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3108960" y="470916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0B1437"/>
          </a:solidFill>
          <a:ln w="12700">
            <a:solidFill>
              <a:srgbClr val="0B143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486400" y="3977640"/>
            <a:ext cx="0" cy="6858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4754880" y="470916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0B1437"/>
          </a:solidFill>
          <a:ln w="12700">
            <a:solidFill>
              <a:srgbClr val="0B143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1842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7132320" y="3977640"/>
            <a:ext cx="0" cy="6858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6400800" y="470916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0B1437"/>
          </a:solidFill>
          <a:ln w="12700">
            <a:solidFill>
              <a:srgbClr val="0B143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9552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3108960" y="5532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are illustrative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9525"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TEXT → NUMBERS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vs embeddings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03504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integer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dense vector of numbers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1842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[0.21, −0.53, 0.88, …]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Carries meaning?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just a lookup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learned semantics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39319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Lookup: ID → row of the embedding matrix → vector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6177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0B1437"/>
          </a:solidFill>
          <a:ln w="12700">
            <a:solidFill>
              <a:srgbClr val="0B143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1842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1463040" y="484632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1828800" y="4343400"/>
            <a:ext cx="2103120" cy="274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828800" y="4617720"/>
            <a:ext cx="2103120" cy="274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828800" y="4892040"/>
            <a:ext cx="2103120" cy="274320"/>
          </a:xfrm>
          <a:prstGeom prst="rect">
            <a:avLst/>
          </a:prstGeom>
          <a:solidFill>
            <a:srgbClr val="F59E0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828800" y="5166360"/>
            <a:ext cx="2103120" cy="274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828800" y="54681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× d_model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931920" y="484632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Text 12"/>
          <p:cNvSpPr txBox="1"/>
          <p:nvPr/>
        </p:nvSpPr>
        <p:spPr>
          <a:xfrm>
            <a:off x="4297680" y="4617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[0.21, −0.53, 0.88, …]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8521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information is added to these vectors so the model knows word order.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949440" y="1783080"/>
            <a:ext cx="4690872" cy="4297680"/>
          </a:xfrm>
          <a:prstGeom prst="roundRect">
            <a:avLst>
              <a:gd name="adj" fmla="val 2128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178040" y="1920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space (2D sketch)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7589520" y="2606040"/>
            <a:ext cx="2011680" cy="1600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0EA5E9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9646920" y="4617720"/>
            <a:ext cx="1920240" cy="11887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0B981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7955280" y="3017520"/>
            <a:ext cx="201168" cy="20116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211312" y="29809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8686800" y="2880360"/>
            <a:ext cx="201168" cy="20116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942832" y="28437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001000" y="3703320"/>
            <a:ext cx="201168" cy="20116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257032" y="3666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732520" y="3566160"/>
            <a:ext cx="201168" cy="20116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988552" y="35295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woman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10058400" y="4846320"/>
            <a:ext cx="201168" cy="20116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0314432" y="4809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9875520" y="5303520"/>
            <a:ext cx="201168" cy="20116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131552" y="52669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7178040" y="5349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meaning → nearby vectors.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9525"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TEXT → NUMBERS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window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tokens fall out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652760" y="1920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2E8F0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132588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2E8F0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92024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2E8F0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251460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2E8F0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310896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2E8F0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37033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9768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9204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8076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751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6948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6384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5820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5256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469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24128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83564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03320" y="2971800"/>
            <a:ext cx="7040880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703320" y="2862072"/>
            <a:ext cx="0" cy="109728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744200" y="2862072"/>
            <a:ext cx="0" cy="109728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703320" y="30632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window: at most N tokens (prompt + output together)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48640" y="384048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724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budget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777240" y="4389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prompt, the chat history and the model’s reply all count toward the limit.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311396" y="384048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539996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edge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4539996" y="4389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beyond the window is truncated, so the model simply does not see it.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074152" y="384048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302752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Costly to grow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8302752" y="4389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cost rises with the square of length, so bigger windows cost more.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724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8K-token window holds roughly 10–15 pages, so a 50-page document has to be split or summarised.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9525"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GENERATION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= a probability distribution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EDE9FE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7830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capital of France is ___”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8346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Logits: 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scores every token in its vocabulary (tens of thousands of tokens).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39319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Softmax: 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those scores into probabilities.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50292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to 1: 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a distribution over tokens, not a single word.</a:t>
            </a:r>
            <a:endParaRPr lang="en-US" sz="16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6035040" y="1783080"/>
          <a:ext cx="5605272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9525"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GENERATION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distribution vs stochastic generation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“Once upon a”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377440" y="2560320"/>
            <a:ext cx="4114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2788920" y="182880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0B1437"/>
          </a:solidFill>
          <a:ln w="9525">
            <a:solidFill>
              <a:srgbClr val="0B143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983480" y="2560320"/>
            <a:ext cx="4114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394960" y="182880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32120" y="1874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P(token)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23560" y="2286000"/>
            <a:ext cx="320040" cy="86868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0760" y="2788920"/>
            <a:ext cx="320040" cy="365760"/>
          </a:xfrm>
          <a:prstGeom prst="roundRect">
            <a:avLst>
              <a:gd name="adj" fmla="val 8571"/>
            </a:avLst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2898648"/>
            <a:ext cx="320040" cy="256032"/>
          </a:xfrm>
          <a:prstGeom prst="roundRect">
            <a:avLst>
              <a:gd name="adj" fmla="val 10714"/>
            </a:avLst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95160" y="3017520"/>
            <a:ext cx="320040" cy="13716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89520" y="2560320"/>
            <a:ext cx="4114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8001000" y="182880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59E0B"/>
          </a:solidFill>
          <a:ln w="952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Sampler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0012680" y="2560320"/>
            <a:ext cx="4114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10424160" y="224028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6118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EDE9FE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Deterministic: the distribution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4114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+ same weights → the same probabilities, every time.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245352" y="36118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73952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Stochastic: the choice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473952" y="4114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a token from that distribution adds randomness, so outputs can differ between runs.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349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three runs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206240" y="534924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 → “time”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492240" y="534924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→ “midnight”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778240" y="534924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 → “time”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C2930E-0AAA-C8E6-F08F-AFDF883C22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846808"/>
              </p:ext>
            </p:extLst>
          </p:nvPr>
        </p:nvGraphicFramePr>
        <p:xfrm>
          <a:off x="837397" y="1530417"/>
          <a:ext cx="10616664" cy="4551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6456">
                  <a:extLst>
                    <a:ext uri="{9D8B030D-6E8A-4147-A177-3AD203B41FA5}">
                      <a16:colId xmlns:a16="http://schemas.microsoft.com/office/drawing/2014/main" val="2379915050"/>
                    </a:ext>
                  </a:extLst>
                </a:gridCol>
                <a:gridCol w="4161320">
                  <a:extLst>
                    <a:ext uri="{9D8B030D-6E8A-4147-A177-3AD203B41FA5}">
                      <a16:colId xmlns:a16="http://schemas.microsoft.com/office/drawing/2014/main" val="2808863710"/>
                    </a:ext>
                  </a:extLst>
                </a:gridCol>
                <a:gridCol w="3538888">
                  <a:extLst>
                    <a:ext uri="{9D8B030D-6E8A-4147-A177-3AD203B41FA5}">
                      <a16:colId xmlns:a16="http://schemas.microsoft.com/office/drawing/2014/main" val="4285463829"/>
                    </a:ext>
                  </a:extLst>
                </a:gridCol>
              </a:tblGrid>
              <a:tr h="60639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Feature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Deterministic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Stochastic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734118"/>
                  </a:ext>
                </a:extLst>
              </a:tr>
              <a:tr h="884239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Meaning</a:t>
                      </a:r>
                      <a:endParaRPr lang="en-IN" sz="22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Selects highest probability distribution token always</a:t>
                      </a:r>
                      <a:endParaRPr lang="en-IN" sz="22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Samples token from probability distribution</a:t>
                      </a:r>
                      <a:endParaRPr lang="en-IN" sz="22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561123"/>
                  </a:ext>
                </a:extLst>
              </a:tr>
              <a:tr h="722213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Common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Greedy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Random sampling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890196"/>
                  </a:ext>
                </a:extLst>
              </a:tr>
              <a:tr h="722213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Randomness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</a:t>
                      </a:r>
                      <a:endParaRPr lang="en-IN" sz="22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  <a:endParaRPr lang="en-IN" sz="22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473745"/>
                  </a:ext>
                </a:extLst>
              </a:tr>
              <a:tr h="722213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Output </a:t>
                      </a:r>
                      <a:endParaRPr lang="en-IN" sz="22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Same</a:t>
                      </a:r>
                      <a:endParaRPr lang="en-IN" sz="22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 differ</a:t>
                      </a:r>
                      <a:endParaRPr lang="en-IN" sz="22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274658"/>
                  </a:ext>
                </a:extLst>
              </a:tr>
              <a:tr h="894194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 case</a:t>
                      </a:r>
                      <a:endParaRPr lang="en-IN" sz="22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Factual and consistent output</a:t>
                      </a:r>
                      <a:endParaRPr lang="en-IN" sz="22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Diverse and creative output</a:t>
                      </a:r>
                      <a:endParaRPr lang="en-IN" sz="22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56123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3CAF4A9-5E41-B605-9C25-84B232CCC8B6}"/>
              </a:ext>
            </a:extLst>
          </p:cNvPr>
          <p:cNvSpPr txBox="1"/>
          <p:nvPr/>
        </p:nvSpPr>
        <p:spPr>
          <a:xfrm>
            <a:off x="837397" y="422177"/>
            <a:ext cx="6525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Difference</a:t>
            </a:r>
            <a:endParaRPr lang="en-IN" sz="4000" b="1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2BB85A-4320-709F-7A0C-E93E21DDE942}"/>
              </a:ext>
            </a:extLst>
          </p:cNvPr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</a:p>
          <a:p>
            <a:pPr marL="0" indent="0" algn="r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45195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9525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TRANSFORMER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Transformers?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/ LSTM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0175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B1437"/>
          </a:solidFill>
          <a:ln w="9525">
            <a:solidFill>
              <a:srgbClr val="0B143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508760" y="3337560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2148840" y="30175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B1437"/>
          </a:solidFill>
          <a:ln w="9525">
            <a:solidFill>
              <a:srgbClr val="0B143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88920" y="3337560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3429000" y="30175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B1437"/>
          </a:solidFill>
          <a:ln w="9525">
            <a:solidFill>
              <a:srgbClr val="0B143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069080" y="3337560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4709160" y="30175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B1437"/>
          </a:solidFill>
          <a:ln w="9525">
            <a:solidFill>
              <a:srgbClr val="0B143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023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after another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45352" y="178308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3952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909560" y="2743200"/>
            <a:ext cx="2468880" cy="0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909560" y="2743200"/>
            <a:ext cx="0" cy="1280160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09560" y="2743200"/>
            <a:ext cx="2468880" cy="1280160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H="1">
            <a:off x="7909560" y="2743200"/>
            <a:ext cx="2468880" cy="1280160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378440" y="2743200"/>
            <a:ext cx="0" cy="1280160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09560" y="4023360"/>
            <a:ext cx="2468880" cy="0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89520" y="24231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B1437"/>
          </a:solidFill>
          <a:ln w="9525">
            <a:solidFill>
              <a:srgbClr val="0B143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0" y="24231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B1437"/>
          </a:solidFill>
          <a:ln w="9525">
            <a:solidFill>
              <a:srgbClr val="0B143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589520" y="37033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B1437"/>
          </a:solidFill>
          <a:ln w="9525">
            <a:solidFill>
              <a:srgbClr val="0B143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0058400" y="37033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B1437"/>
          </a:solidFill>
          <a:ln w="9525">
            <a:solidFill>
              <a:srgbClr val="0B143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73952" y="4434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connects to every other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49834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so slow to train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context fades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245352" y="49834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all tokens processed at once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links any two tokens directly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“Attention Is All You Need”, Vaswani et al., 2017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49D457-D1FD-0D07-FED9-39F32311B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689" y="577516"/>
            <a:ext cx="6910939" cy="600174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FCABC98-392B-855B-6E0C-1F12CD404467}"/>
              </a:ext>
            </a:extLst>
          </p:cNvPr>
          <p:cNvSpPr txBox="1"/>
          <p:nvPr/>
        </p:nvSpPr>
        <p:spPr>
          <a:xfrm>
            <a:off x="2569945" y="56789"/>
            <a:ext cx="7680960" cy="520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Transformer architecture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D21886B-6A95-C90A-2A91-EDCB90E8A1CC}"/>
              </a:ext>
            </a:extLst>
          </p:cNvPr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3E0800A-89F0-75B9-0EB4-4A6BE731B9F9}"/>
              </a:ext>
            </a:extLst>
          </p:cNvPr>
          <p:cNvSpPr txBox="1"/>
          <p:nvPr/>
        </p:nvSpPr>
        <p:spPr>
          <a:xfrm>
            <a:off x="250257" y="141578"/>
            <a:ext cx="2069432" cy="27432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9525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TRANSFORMER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6871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9525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TRANSFORMER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2495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encoder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08076" y="2286000"/>
            <a:ext cx="5760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whole input at once, in both directions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attends to every other token (no mask)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rich, contextual vector for each token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understanding: classification, search, NER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3514" y="465862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models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3514" y="5024387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 w="9525">
            <a:solidFill>
              <a:srgbClr val="10B98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766560" y="1783080"/>
            <a:ext cx="4873752" cy="4297680"/>
          </a:xfrm>
          <a:prstGeom prst="roundRect">
            <a:avLst>
              <a:gd name="adj" fmla="val 2128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95160" y="1920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self-attention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89036" y="2450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511796" y="27432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929116" y="2450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511796" y="338328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569196" y="2450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511796" y="402336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209276" y="2450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511796" y="46634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289036" y="2743200"/>
            <a:ext cx="640080" cy="64008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929116" y="2743200"/>
            <a:ext cx="640080" cy="64008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569196" y="2743200"/>
            <a:ext cx="640080" cy="64008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209276" y="2743200"/>
            <a:ext cx="640080" cy="64008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289036" y="3383280"/>
            <a:ext cx="640080" cy="64008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929116" y="3383280"/>
            <a:ext cx="640080" cy="64008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9569196" y="3383280"/>
            <a:ext cx="640080" cy="64008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10209276" y="3383280"/>
            <a:ext cx="640080" cy="64008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289036" y="4023360"/>
            <a:ext cx="640080" cy="64008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929116" y="4023360"/>
            <a:ext cx="640080" cy="64008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69196" y="4023360"/>
            <a:ext cx="640080" cy="64008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0209276" y="4023360"/>
            <a:ext cx="640080" cy="64008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289036" y="4663440"/>
            <a:ext cx="640080" cy="64008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929116" y="4663440"/>
            <a:ext cx="640080" cy="64008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9569196" y="4663440"/>
            <a:ext cx="640080" cy="64008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0209276" y="4663440"/>
            <a:ext cx="640080" cy="64008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995160" y="5440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= allowed to attend. Every token sees every token.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9525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TRANSFORMER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decoder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output left to right, one token at a time</a:t>
            </a:r>
            <a:endParaRPr lang="en-US" sz="18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(causal) self-attention: a token cannot see future tokens</a:t>
            </a:r>
            <a:endParaRPr lang="en-US" sz="18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original Transformer, cross-attention reads the encoder’s output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309360" y="1783080"/>
            <a:ext cx="5330952" cy="4297680"/>
          </a:xfrm>
          <a:prstGeom prst="roundRect">
            <a:avLst>
              <a:gd name="adj" fmla="val 2128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201168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love AI”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52360" y="2560320"/>
            <a:ext cx="0" cy="4114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6492240" y="29718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BAE6FD"/>
          </a:solidFill>
          <a:ln w="9525">
            <a:solidFill>
              <a:srgbClr val="BAE6FD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source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412480" y="3429000"/>
            <a:ext cx="1097280" cy="0"/>
          </a:xfrm>
          <a:prstGeom prst="line">
            <a:avLst/>
          </a:prstGeom>
          <a:noFill/>
          <a:ln w="317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841248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509760" y="29718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47857"/>
          </a:solidFill>
          <a:ln w="9525">
            <a:solidFill>
              <a:srgbClr val="04785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target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0469880" y="3886200"/>
            <a:ext cx="0" cy="4572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9052560" y="4389120"/>
            <a:ext cx="542544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J'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668256" y="4389120"/>
            <a:ext cx="755904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aime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497312" y="4389120"/>
            <a:ext cx="755904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l'IA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052560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one token at a time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5440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English → French translation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9525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TRANSFORMER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Transformer families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Encoder-only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understands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306324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BAE6FD"/>
          </a:solidFill>
          <a:ln w="9525">
            <a:solidFill>
              <a:srgbClr val="BAE6FD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RoBERTa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92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search, embeddings, NER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311396" y="178308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85716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Encoder–decoder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4585716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Reads, then writes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85716" y="3063240"/>
            <a:ext cx="1280160" cy="685800"/>
          </a:xfrm>
          <a:prstGeom prst="roundRect">
            <a:avLst>
              <a:gd name="adj" fmla="val 13333"/>
            </a:avLst>
          </a:prstGeom>
          <a:solidFill>
            <a:srgbClr val="BAE6FD"/>
          </a:solidFill>
          <a:ln w="9525">
            <a:solidFill>
              <a:srgbClr val="BAE6FD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865876" y="340614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6323076" y="3063240"/>
            <a:ext cx="1280160" cy="685800"/>
          </a:xfrm>
          <a:prstGeom prst="roundRect">
            <a:avLst>
              <a:gd name="adj" fmla="val 13333"/>
            </a:avLst>
          </a:prstGeom>
          <a:solidFill>
            <a:srgbClr val="047857"/>
          </a:solidFill>
          <a:ln w="9525">
            <a:solidFill>
              <a:srgbClr val="04785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585716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585716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T5, original Transformer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585716" y="4892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85716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summarization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074152" y="178308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0B1437"/>
          </a:solidFill>
          <a:ln w="9525">
            <a:solidFill>
              <a:srgbClr val="0B143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48472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Decoder-only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8348472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next token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942832" y="306324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9525">
            <a:solidFill>
              <a:srgbClr val="10B98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348472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348472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GPT, LLaMA, Mistral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348472" y="4892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348472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text generation, code: most modern LLMs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9525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TRANSFORMER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 is decoder-only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2990088"/>
            <a:ext cx="4206240" cy="1289304"/>
          </a:xfrm>
          <a:prstGeom prst="roundRect">
            <a:avLst>
              <a:gd name="adj" fmla="val 10638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731520" y="1783080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0B1437"/>
          </a:solidFill>
          <a:ln w="9525">
            <a:solidFill>
              <a:srgbClr val="0B143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next-token probabilities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 flipV="1">
            <a:off x="2651760" y="2194560"/>
            <a:ext cx="0" cy="24688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731520" y="2441448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0B1437"/>
          </a:solidFill>
          <a:ln w="9525">
            <a:solidFill>
              <a:srgbClr val="0B143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(to vocabulary size)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 flipV="1">
            <a:off x="2651760" y="2852928"/>
            <a:ext cx="0" cy="24688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731520" y="3099816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9525">
            <a:solidFill>
              <a:srgbClr val="04785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 flipV="1">
            <a:off x="2651760" y="3511296"/>
            <a:ext cx="0" cy="24688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731520" y="3758184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952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Self-Attention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 flipV="1">
            <a:off x="2651760" y="4169664"/>
            <a:ext cx="0" cy="24688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731520" y="4416552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BAE6FD"/>
          </a:solidFill>
          <a:ln w="9525">
            <a:solidFill>
              <a:srgbClr val="BAE6FD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Positions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 flipV="1">
            <a:off x="2651760" y="4828032"/>
            <a:ext cx="0" cy="24688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731520" y="5074920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9525">
            <a:solidFill>
              <a:srgbClr val="E2E8F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3383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N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394960" y="1783080"/>
            <a:ext cx="6245352" cy="2697480"/>
          </a:xfrm>
          <a:prstGeom prst="roundRect">
            <a:avLst>
              <a:gd name="adj" fmla="val 339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2356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mask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577840" y="26060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12280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577840" y="30632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269480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577840" y="3520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726680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577840" y="39776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355080" y="2606040"/>
            <a:ext cx="457200" cy="45720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812280" y="2606040"/>
            <a:ext cx="457200" cy="457200"/>
          </a:xfrm>
          <a:prstGeom prst="rect">
            <a:avLst/>
          </a:prstGeom>
          <a:solidFill>
            <a:srgbClr val="E2E8F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−∞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269480" y="2606040"/>
            <a:ext cx="457200" cy="457200"/>
          </a:xfrm>
          <a:prstGeom prst="rect">
            <a:avLst/>
          </a:prstGeom>
          <a:solidFill>
            <a:srgbClr val="E2E8F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−∞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726680" y="2606040"/>
            <a:ext cx="457200" cy="457200"/>
          </a:xfrm>
          <a:prstGeom prst="rect">
            <a:avLst/>
          </a:prstGeom>
          <a:solidFill>
            <a:srgbClr val="E2E8F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−∞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355080" y="3063240"/>
            <a:ext cx="457200" cy="45720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812280" y="3063240"/>
            <a:ext cx="457200" cy="45720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7269480" y="3063240"/>
            <a:ext cx="457200" cy="457200"/>
          </a:xfrm>
          <a:prstGeom prst="rect">
            <a:avLst/>
          </a:prstGeom>
          <a:solidFill>
            <a:srgbClr val="E2E8F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−∞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26680" y="3063240"/>
            <a:ext cx="457200" cy="457200"/>
          </a:xfrm>
          <a:prstGeom prst="rect">
            <a:avLst/>
          </a:prstGeom>
          <a:solidFill>
            <a:srgbClr val="E2E8F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−∞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355080" y="3520440"/>
            <a:ext cx="457200" cy="45720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6812280" y="3520440"/>
            <a:ext cx="457200" cy="45720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269480" y="3520440"/>
            <a:ext cx="457200" cy="45720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7726680" y="3520440"/>
            <a:ext cx="457200" cy="457200"/>
          </a:xfrm>
          <a:prstGeom prst="rect">
            <a:avLst/>
          </a:prstGeom>
          <a:solidFill>
            <a:srgbClr val="E2E8F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−∞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6355080" y="3977640"/>
            <a:ext cx="457200" cy="45720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812280" y="3977640"/>
            <a:ext cx="457200" cy="45720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7269480" y="3977640"/>
            <a:ext cx="457200" cy="45720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7726680" y="3977640"/>
            <a:ext cx="457200" cy="457200"/>
          </a:xfrm>
          <a:prstGeom prst="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8503920" y="22860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can attend to itself and earlier tokens only. Future positions are set to −∞ before softmax, so their weight becomes 0.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5394960" y="4709160"/>
            <a:ext cx="6245352" cy="1280160"/>
          </a:xfrm>
          <a:prstGeom prst="roundRect">
            <a:avLst>
              <a:gd name="adj" fmla="val 7143"/>
            </a:avLst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23560" y="484632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encoder and no cross-attention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purely on next-token prediction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let one model both understand and generate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ATTENTION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Attention: which words matter?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 flipV="1">
            <a:off x="8842248" y="1920240"/>
            <a:ext cx="0" cy="365760"/>
          </a:xfrm>
          <a:prstGeom prst="line">
            <a:avLst/>
          </a:prstGeom>
          <a:noFill/>
          <a:ln w="31750">
            <a:solidFill>
              <a:srgbClr val="B4530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H="1">
            <a:off x="2258568" y="1920240"/>
            <a:ext cx="6583680" cy="0"/>
          </a:xfrm>
          <a:prstGeom prst="line">
            <a:avLst/>
          </a:prstGeom>
          <a:noFill/>
          <a:ln w="31750">
            <a:solidFill>
              <a:srgbClr val="B4530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58568" y="1920240"/>
            <a:ext cx="0" cy="365760"/>
          </a:xfrm>
          <a:prstGeom prst="line">
            <a:avLst/>
          </a:prstGeom>
          <a:noFill/>
          <a:ln w="317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2258568" y="157276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“it” looks back at “animal”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28600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41248" y="4524451"/>
            <a:ext cx="640080" cy="47549"/>
          </a:xfrm>
          <a:prstGeom prst="roundRect">
            <a:avLst>
              <a:gd name="adj" fmla="val 57692"/>
            </a:avLst>
          </a:prstGeom>
          <a:solidFill>
            <a:srgbClr val="FDE68A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4268419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755648" y="228600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938528" y="3264408"/>
            <a:ext cx="640080" cy="1307592"/>
          </a:xfrm>
          <a:prstGeom prst="roundRect">
            <a:avLst>
              <a:gd name="adj" fmla="val 4286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755648" y="30083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852928" y="228600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didn’t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035808" y="4500677"/>
            <a:ext cx="640080" cy="71323"/>
          </a:xfrm>
          <a:prstGeom prst="roundRect">
            <a:avLst>
              <a:gd name="adj" fmla="val 38462"/>
            </a:avLst>
          </a:prstGeom>
          <a:solidFill>
            <a:srgbClr val="FDE68A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852928" y="4244645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950208" y="228600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133088" y="4476902"/>
            <a:ext cx="640080" cy="95098"/>
          </a:xfrm>
          <a:prstGeom prst="roundRect">
            <a:avLst>
              <a:gd name="adj" fmla="val 28846"/>
            </a:avLst>
          </a:prstGeom>
          <a:solidFill>
            <a:srgbClr val="FDE68A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950208" y="422087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047488" y="228600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230368" y="4548226"/>
            <a:ext cx="640080" cy="23774"/>
          </a:xfrm>
          <a:prstGeom prst="roundRect">
            <a:avLst>
              <a:gd name="adj" fmla="val 115387"/>
            </a:avLst>
          </a:prstGeom>
          <a:solidFill>
            <a:srgbClr val="FDE68A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47488" y="429219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144768" y="228600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327648" y="4286707"/>
            <a:ext cx="640080" cy="285293"/>
          </a:xfrm>
          <a:prstGeom prst="roundRect">
            <a:avLst>
              <a:gd name="adj" fmla="val 9615"/>
            </a:avLst>
          </a:prstGeom>
          <a:solidFill>
            <a:srgbClr val="FDE68A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144768" y="4030675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242048" y="228600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424928" y="4500677"/>
            <a:ext cx="640080" cy="71323"/>
          </a:xfrm>
          <a:prstGeom prst="roundRect">
            <a:avLst>
              <a:gd name="adj" fmla="val 38462"/>
            </a:avLst>
          </a:prstGeom>
          <a:solidFill>
            <a:srgbClr val="FDE68A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242048" y="4244645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339328" y="228600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952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8522208" y="4381805"/>
            <a:ext cx="640080" cy="190195"/>
          </a:xfrm>
          <a:prstGeom prst="roundRect">
            <a:avLst>
              <a:gd name="adj" fmla="val 14423"/>
            </a:avLst>
          </a:prstGeom>
          <a:solidFill>
            <a:srgbClr val="FDE68A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339328" y="4125773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436608" y="228600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9619488" y="4453128"/>
            <a:ext cx="640080" cy="118872"/>
          </a:xfrm>
          <a:prstGeom prst="roundRect">
            <a:avLst>
              <a:gd name="adj" fmla="val 23077"/>
            </a:avLst>
          </a:prstGeom>
          <a:solidFill>
            <a:srgbClr val="FDE68A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436608" y="4197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533888" y="2286000"/>
            <a:ext cx="1005840" cy="5486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10716768" y="4405579"/>
            <a:ext cx="640080" cy="166421"/>
          </a:xfrm>
          <a:prstGeom prst="roundRect">
            <a:avLst>
              <a:gd name="adj" fmla="val 16483"/>
            </a:avLst>
          </a:prstGeom>
          <a:solidFill>
            <a:srgbClr val="FDE68A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533888" y="4149547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58368" y="4572000"/>
            <a:ext cx="1088136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58368" y="46451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 from “it” to each word (illustrative)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48640" y="516636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31520" y="523036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sat on the river bank”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731520" y="55778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“bank” attends to “river”, so it means the land beside water.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6199632" y="516636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382512" y="523036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deposited cash at the bank”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6382512" y="55778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“bank” attends to “deposited” and “cash”, so it means the financial institution.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ATTENTION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Self-attention: Query, Key, Value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66160" cy="2423160"/>
          </a:xfrm>
          <a:prstGeom prst="roundRect">
            <a:avLst>
              <a:gd name="adj" fmla="val 3774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5740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0574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What information I need?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82296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which tokens matter to me?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11396" y="1783080"/>
            <a:ext cx="3566160" cy="2423160"/>
          </a:xfrm>
          <a:prstGeom prst="roundRect">
            <a:avLst>
              <a:gd name="adj" fmla="val 3774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85716" y="205740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9525">
            <a:solidFill>
              <a:srgbClr val="0EA5E9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5637276" y="20574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494276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What kind of information it contains?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4585716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against every query.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74152" y="1783080"/>
            <a:ext cx="3566160" cy="2423160"/>
          </a:xfrm>
          <a:prstGeom prst="roundRect">
            <a:avLst>
              <a:gd name="adj" fmla="val 3774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48472" y="205740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9525">
            <a:solidFill>
              <a:srgbClr val="10B98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9400032" y="20574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8348472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Actual information</a:t>
            </a:r>
          </a:p>
        </p:txBody>
      </p:sp>
      <p:sp>
        <p:nvSpPr>
          <p:cNvPr id="20" name="Text 17"/>
          <p:cNvSpPr txBox="1"/>
          <p:nvPr/>
        </p:nvSpPr>
        <p:spPr>
          <a:xfrm>
            <a:off x="8348472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using the attention weights.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4805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B1437"/>
          </a:solidFill>
          <a:ln w="9525">
            <a:solidFill>
              <a:srgbClr val="0B143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X · W_Q        K = X · W_K        V = X · W_V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5440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analogy: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query is matched against every book’s key (its title); you then read the values (the contents) of the best matches.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ATTENTION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Self-attention, step by step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574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→ Q, K, V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783080"/>
            <a:ext cx="365760" cy="36576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2514600"/>
            <a:ext cx="2560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548640" y="3200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token’s embedding is multiplied by three learned matrices.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816352" y="20574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· Kᵀ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639312" y="1783080"/>
            <a:ext cx="365760" cy="36576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28032" y="2514600"/>
            <a:ext cx="2560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2816352" y="3200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of every query with every key: how well does each pair match?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84064" y="20574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÷ √d_k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907024" y="1783080"/>
            <a:ext cx="365760" cy="36576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095744" y="2514600"/>
            <a:ext cx="2560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5084064" y="3200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scores in a stable range so softmax is not too peaked.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351776" y="20574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row-wise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174736" y="1783080"/>
            <a:ext cx="365760" cy="36576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363456" y="2514600"/>
            <a:ext cx="2560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7351776" y="3200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scores into attention weights; each row sums to 1.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619488" y="20574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 × V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442448" y="1783080"/>
            <a:ext cx="365760" cy="36576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619488" y="3200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sum of value vectors gives a context-aware vector per token.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448056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0B1437"/>
          </a:solidFill>
          <a:ln w="9525">
            <a:solidFill>
              <a:srgbClr val="0B143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448056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Attention(Q, K, V) = </a:t>
            </a:r>
            <a:r>
              <a:rPr lang="en-US" sz="3200" b="1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</a:t>
            </a:r>
            <a:r>
              <a:rPr lang="en-US" sz="3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 Q K</a:t>
            </a:r>
            <a:r>
              <a:rPr lang="en-US" sz="3200" i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3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√d</a:t>
            </a:r>
            <a:r>
              <a:rPr lang="en-US" sz="3200" i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en-US" sz="3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 · V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ATTENTION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tiny worked example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60604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70332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794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2240280"/>
            <a:ext cx="1097280" cy="777240"/>
          </a:xfrm>
          <a:prstGeom prst="rect">
            <a:avLst/>
          </a:prstGeom>
          <a:solidFill>
            <a:srgbClr val="F59E0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606040" y="2240280"/>
            <a:ext cx="1097280" cy="777240"/>
          </a:xfrm>
          <a:prstGeom prst="rect">
            <a:avLst/>
          </a:prstGeom>
          <a:solidFill>
            <a:srgbClr val="F3CA8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703320" y="2240280"/>
            <a:ext cx="1097280" cy="777240"/>
          </a:xfrm>
          <a:prstGeom prst="rect">
            <a:avLst/>
          </a:prstGeom>
          <a:solidFill>
            <a:srgbClr val="F2E7D1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3017520"/>
            <a:ext cx="1097280" cy="777240"/>
          </a:xfrm>
          <a:prstGeom prst="rect">
            <a:avLst/>
          </a:prstGeom>
          <a:solidFill>
            <a:srgbClr val="F2D8A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2606040" y="3017520"/>
            <a:ext cx="1097280" cy="777240"/>
          </a:xfrm>
          <a:prstGeom prst="rect">
            <a:avLst/>
          </a:prstGeom>
          <a:solidFill>
            <a:srgbClr val="F4AD33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3703320" y="3017520"/>
            <a:ext cx="1097280" cy="777240"/>
          </a:xfrm>
          <a:prstGeom prst="rect">
            <a:avLst/>
          </a:prstGeom>
          <a:solidFill>
            <a:srgbClr val="F3CA8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508760" y="3794760"/>
            <a:ext cx="1097280" cy="777240"/>
          </a:xfrm>
          <a:prstGeom prst="rect">
            <a:avLst/>
          </a:prstGeom>
          <a:solidFill>
            <a:srgbClr val="F2E7D1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2606040" y="3794760"/>
            <a:ext cx="1097280" cy="777240"/>
          </a:xfrm>
          <a:prstGeom prst="rect">
            <a:avLst/>
          </a:prstGeom>
          <a:solidFill>
            <a:srgbClr val="F4BB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703320" y="3794760"/>
            <a:ext cx="1097280" cy="777240"/>
          </a:xfrm>
          <a:prstGeom prst="rect">
            <a:avLst/>
          </a:prstGeom>
          <a:solidFill>
            <a:srgbClr val="F4AD33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481328" y="2990088"/>
            <a:ext cx="3346704" cy="832104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0B143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754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weights: rows = the token looking, columns = the token looked at.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669280" y="1874520"/>
            <a:ext cx="5971032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897880" y="1984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weights for “love”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897880" y="23317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0.2   love 0.5   AI 0.3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669280" y="3200400"/>
            <a:ext cx="5971032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897880" y="3310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toy value vectors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897880" y="36576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V(I)=[1,0]  V(love)=[0,1]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V(AI)=[1,1]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669280" y="4526280"/>
            <a:ext cx="5971032" cy="1188720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89788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weighted sum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5897880" y="4983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0.2·[1,0] + 0.5·[0,1] + 0.3·[1,1]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[0.5, 0.8]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illustrative. Real models use vectors of 64–128+ dimensions per head.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ATTENTION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Multi-head attention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0B1437"/>
          </a:solidFill>
          <a:ln w="9525">
            <a:solidFill>
              <a:srgbClr val="0B143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 flipV="1">
            <a:off x="2011680" y="2217420"/>
            <a:ext cx="731520" cy="11658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2743200" y="182880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1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(subject ↔ verb)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52160" y="2217420"/>
            <a:ext cx="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 flipV="1">
            <a:off x="2011680" y="3131820"/>
            <a:ext cx="731520" cy="2514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2743200" y="274320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2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(it → animal)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52160" y="3131820"/>
            <a:ext cx="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011680" y="3383280"/>
            <a:ext cx="731520" cy="6629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743200" y="365760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3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words / position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52160" y="4046220"/>
            <a:ext cx="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011680" y="3383280"/>
            <a:ext cx="731520" cy="15773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2743200" y="457200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4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patterns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852160" y="4960620"/>
            <a:ext cx="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6583680" y="1828800"/>
            <a:ext cx="1371600" cy="3520440"/>
          </a:xfrm>
          <a:prstGeom prst="roundRect">
            <a:avLst>
              <a:gd name="adj" fmla="val 6667"/>
            </a:avLst>
          </a:prstGeom>
          <a:solidFill>
            <a:srgbClr val="0B1437"/>
          </a:solidFill>
          <a:ln w="9525">
            <a:solidFill>
              <a:srgbClr val="0B143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955280" y="338328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8321040" y="28803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W_O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9784080" y="338328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10149840" y="28803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F59E0B"/>
          </a:solidFill>
          <a:ln w="952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5577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head has its own Q, K, V projections, so it can learn a different kind of relationship in parallel.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ATTENTION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attention scales as O(n²)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34747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0" y="34747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37490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0" y="37490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03120" y="292608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77440" y="292608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51760" y="292608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6080" y="292608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03120" y="32004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77440" y="32004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51760" y="32004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26080" y="32004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103120" y="34747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377440" y="34747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651760" y="34747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26080" y="34747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03120" y="37490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377440" y="37490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651760" y="37490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926080" y="37490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023360" y="18288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97680" y="18288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0" y="18288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846320" y="18288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120640" y="18288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394960" y="18288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69280" y="18288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43600" y="18288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023360" y="21031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97680" y="21031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0" y="21031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846320" y="21031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120640" y="21031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394960" y="21031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669280" y="21031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943600" y="21031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023360" y="23774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297680" y="23774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572000" y="23774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846320" y="23774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120640" y="23774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394960" y="23774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669280" y="23774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943600" y="23774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023360" y="265176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297680" y="265176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572000" y="265176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846320" y="265176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120640" y="265176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394960" y="265176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669280" y="265176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943600" y="265176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023360" y="292608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297680" y="292608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572000" y="292608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846320" y="292608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120640" y="292608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394960" y="292608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669280" y="292608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943600" y="292608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023360" y="32004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297680" y="32004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572000" y="32004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4846320" y="32004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120640" y="32004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394960" y="32004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669280" y="32004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943600" y="320040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023360" y="34747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4297680" y="34747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572000" y="34747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846320" y="34747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120640" y="34747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5394960" y="34747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669280" y="34747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943600" y="347472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4023360" y="37490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4297680" y="37490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4572000" y="37490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4846320" y="37490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5120640" y="37490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5394960" y="37490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5669280" y="37490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5943600" y="3749040"/>
            <a:ext cx="274320" cy="274320"/>
          </a:xfrm>
          <a:prstGeom prst="rect">
            <a:avLst/>
          </a:prstGeom>
          <a:solidFill>
            <a:srgbClr val="FBBF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548640" y="4114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cells</a:t>
            </a:r>
            <a:endParaRPr lang="en-US" sz="1400" dirty="0"/>
          </a:p>
        </p:txBody>
      </p:sp>
      <p:sp>
        <p:nvSpPr>
          <p:cNvPr id="91" name="Text 88"/>
          <p:cNvSpPr txBox="1"/>
          <p:nvPr/>
        </p:nvSpPr>
        <p:spPr>
          <a:xfrm>
            <a:off x="1828800" y="4114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cells</a:t>
            </a:r>
            <a:endParaRPr lang="en-US" sz="1400" dirty="0"/>
          </a:p>
        </p:txBody>
      </p:sp>
      <p:sp>
        <p:nvSpPr>
          <p:cNvPr id="92" name="Text 89"/>
          <p:cNvSpPr txBox="1"/>
          <p:nvPr/>
        </p:nvSpPr>
        <p:spPr>
          <a:xfrm>
            <a:off x="3749040" y="4114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cells</a:t>
            </a:r>
            <a:endParaRPr lang="en-US" sz="1400" dirty="0"/>
          </a:p>
        </p:txBody>
      </p:sp>
      <p:sp>
        <p:nvSpPr>
          <p:cNvPr id="93" name="Shape 90"/>
          <p:cNvSpPr/>
          <p:nvPr/>
        </p:nvSpPr>
        <p:spPr>
          <a:xfrm>
            <a:off x="548640" y="4892040"/>
            <a:ext cx="6126480" cy="1280160"/>
          </a:xfrm>
          <a:prstGeom prst="roundRect">
            <a:avLst>
              <a:gd name="adj" fmla="val 7143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777240" y="48920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attends to every other token, so the score matrix is n × n. Doubling the length quadruples compute and memory.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783080"/>
          <a:ext cx="4416552" cy="2011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matrix entries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million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million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billion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6" name="Text 92"/>
          <p:cNvSpPr txBox="1"/>
          <p:nvPr/>
        </p:nvSpPr>
        <p:spPr>
          <a:xfrm>
            <a:off x="7223760" y="3840480"/>
            <a:ext cx="4416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attention head, per layer</a:t>
            </a:r>
            <a:endParaRPr lang="en-US" sz="1200" dirty="0"/>
          </a:p>
        </p:txBody>
      </p:sp>
      <p:sp>
        <p:nvSpPr>
          <p:cNvPr id="97" name="Shape 93"/>
          <p:cNvSpPr/>
          <p:nvPr/>
        </p:nvSpPr>
        <p:spPr>
          <a:xfrm>
            <a:off x="7223760" y="4251960"/>
            <a:ext cx="4416552" cy="1920240"/>
          </a:xfrm>
          <a:prstGeom prst="roundRect">
            <a:avLst>
              <a:gd name="adj" fmla="val 5714"/>
            </a:avLst>
          </a:prstGeom>
          <a:solidFill>
            <a:srgbClr val="0B1437"/>
          </a:solidFill>
          <a:ln w="9525">
            <a:solidFill>
              <a:srgbClr val="0B1437"/>
            </a:solidFill>
            <a:prstDash val="solid"/>
          </a:ln>
        </p:spPr>
      </p:sp>
      <p:sp>
        <p:nvSpPr>
          <p:cNvPr id="98" name="Text 94"/>
          <p:cNvSpPr txBox="1"/>
          <p:nvPr/>
        </p:nvSpPr>
        <p:spPr>
          <a:xfrm>
            <a:off x="745236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10×</a:t>
            </a:r>
            <a:endParaRPr lang="en-US" sz="4800" dirty="0"/>
          </a:p>
        </p:txBody>
      </p:sp>
      <p:sp>
        <p:nvSpPr>
          <p:cNvPr id="99" name="Text 95"/>
          <p:cNvSpPr txBox="1"/>
          <p:nvPr/>
        </p:nvSpPr>
        <p:spPr>
          <a:xfrm>
            <a:off x="7452360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input</a:t>
            </a:r>
            <a:endParaRPr lang="en-US" sz="1500" dirty="0"/>
          </a:p>
        </p:txBody>
      </p:sp>
      <p:sp>
        <p:nvSpPr>
          <p:cNvPr id="100" name="Shape 96"/>
          <p:cNvSpPr/>
          <p:nvPr/>
        </p:nvSpPr>
        <p:spPr>
          <a:xfrm>
            <a:off x="9098280" y="4800600"/>
            <a:ext cx="45720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01" name="Text 97"/>
          <p:cNvSpPr txBox="1"/>
          <p:nvPr/>
        </p:nvSpPr>
        <p:spPr>
          <a:xfrm>
            <a:off x="9646920" y="4389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100×</a:t>
            </a:r>
            <a:endParaRPr lang="en-US" sz="4800" dirty="0"/>
          </a:p>
        </p:txBody>
      </p:sp>
      <p:sp>
        <p:nvSpPr>
          <p:cNvPr id="102" name="Text 98"/>
          <p:cNvSpPr txBox="1"/>
          <p:nvPr/>
        </p:nvSpPr>
        <p:spPr>
          <a:xfrm>
            <a:off x="9646920" y="5212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attention cost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ATTENTION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Taming the O(n²)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FlashAttention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math, memory-efficient GPU kernels that avoid storing the full n × n matrix.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38328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memory + time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11396" y="17830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39996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 / sliding-window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39996" y="2423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only to nearby or selected tokens instead of all of them.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39996" y="338328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compute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74152" y="17830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02752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 cache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302752" y="2423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past keys and values while generating, instead of recomputing them.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302752" y="338328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repeated work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1148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GQA / MQA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754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keys and values across heads to shrink memory use.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571500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memory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11396" y="41148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39996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attention / state-space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4539996" y="4754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or replace attention so cost grows roughly linearly.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539996" y="571500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to ~O(n)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074152" y="41148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0B1437"/>
          </a:solidFill>
          <a:ln w="9525">
            <a:solidFill>
              <a:srgbClr val="0B143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02752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vs approximate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8302752" y="4754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and KV cache keep results exact. The others trade some modelling power for speed or memory.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58368" y="18288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41248" y="201168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344168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sky is”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93008" y="18288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75888" y="201168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178808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675888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/ SentencePiece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27648" y="18288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10528" y="201168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IDs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510528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[464, 6766, 318]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162288" y="18288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345168" y="201168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848088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345168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+ positions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162288" y="42062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047857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45168" y="438912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848088" y="4343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blocks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345168" y="4983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+ FFN × 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327648" y="42062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10528" y="438912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013448" y="4343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Logits → Softmax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510528" y="4983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→ probabilities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493008" y="42062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675888" y="438912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178808" y="4343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3675888" y="4983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/ temp / top-p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58368" y="42062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1248" y="4389120"/>
            <a:ext cx="384048" cy="384048"/>
          </a:xfrm>
          <a:prstGeom prst="ellipse">
            <a:avLst/>
          </a:prstGeom>
          <a:solidFill>
            <a:srgbClr val="0B1437"/>
          </a:solidFill>
          <a:ln>
            <a:solidFill>
              <a:srgbClr val="0B143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344168" y="4343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token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41248" y="4983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and repeat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3035808" y="2514600"/>
            <a:ext cx="45720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5870448" y="2514600"/>
            <a:ext cx="45720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8705088" y="2514600"/>
            <a:ext cx="45720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10351008" y="3200400"/>
            <a:ext cx="0" cy="100584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 flipH="1">
            <a:off x="8705088" y="4892040"/>
            <a:ext cx="45720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 flipH="1">
            <a:off x="5870448" y="4892040"/>
            <a:ext cx="45720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 flipH="1">
            <a:off x="3035808" y="4892040"/>
            <a:ext cx="45720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3" name="Text 40"/>
          <p:cNvSpPr txBox="1"/>
          <p:nvPr/>
        </p:nvSpPr>
        <p:spPr>
          <a:xfrm>
            <a:off x="658368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text → numbers    green = Transformer    violet = generation    amber = output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17373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predict the next token from a probability distribution.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6517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(BPE, SentencePiece) turns text into IDs; embeddings turn IDs into meaning.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03320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35661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deterministic; sampling makes generation stochastic.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617720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44805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is a decoder-only Transformer built on masked self-attention.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532120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53949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(Q, K, V) is powerful but O(n²), which is why long context is costly.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200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BAE6F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Thank you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2910</Words>
  <Application>Microsoft Office PowerPoint</Application>
  <PresentationFormat>Widescreen</PresentationFormat>
  <Paragraphs>580</Paragraphs>
  <Slides>28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LLMs: From Text to Tokens to Transformers</dc:title>
  <dc:subject>PptxGenJS Presentation</dc:subject>
  <dc:creator>Sujan HG</dc:creator>
  <cp:lastModifiedBy>Sujan H G</cp:lastModifiedBy>
  <cp:revision>16</cp:revision>
  <dcterms:created xsi:type="dcterms:W3CDTF">2026-09-21T10:19:59Z</dcterms:created>
  <dcterms:modified xsi:type="dcterms:W3CDTF">2026-09-24T04:53:48Z</dcterms:modified>
</cp:coreProperties>
</file>