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43b0aa4-0962-3d36-d092-0cfbe8e79fb0}">
          <p14:sldIdLst>
            <p14:sldId id="256"/>
            <p14:sldId id="257"/>
          </p14:sldIdLst>
        </p14:section>
        <p14:section name="Part 1 - Basics" id="{20d04c08-544d-e47d-2c83-6c7d924b9444}">
          <p14:sldIdLst>
            <p14:sldId id="258"/>
            <p14:sldId id="259"/>
            <p14:sldId id="260"/>
          </p14:sldIdLst>
        </p14:section>
        <p14:section name="Part 2 - Architecture" id="{7f7f3b46-8f02-624a-12ea-cf74efc4dd2f}">
          <p14:sldIdLst>
            <p14:sldId id="261"/>
          </p14:sldIdLst>
        </p14:section>
        <p14:section name="Part 3 - The Tools" id="{c272ddde-a6a4-4876-4b30-302ff8a0a4b0}">
          <p14:sldIdLst>
            <p14:sldId id="262"/>
            <p14:sldId id="263"/>
            <p14:sldId id="264"/>
            <p14:sldId id="265"/>
            <p14:sldId id="266"/>
            <p14:sldId id="267"/>
          </p14:sldIdLst>
        </p14:section>
        <p14:section name="Part 4 - Full Pipeline" id="{d920797d-832d-3353-4881-cba0ad429e0b}">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talk we will learn what big data is, what an ETL pipeline is, and six tools used to build one: Apache NiFi, Ozone, Spark, Iceberg, Doris and ArcadeDB. We will follow one simple example from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blocks: the basics, the architecture, one slide for each tool, and then the whole pipeline with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data simply means data that is too big, too fast or too messy for one normal computer or database. The three Vs help us remember this: Volume, Velocity and Variety.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means Extract, Transform, Load. Think of cooking: you buy the groceries, you wash and cook them, and then you serve the food. A data pipeline does the same with data. ELT is the same idea but the order of the last two steps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ShopEasy is a made-up online store used only for this demo. Its data lives in three places and three formats. The manager wants a daily sales dashboard and product recommendations. We will build a pipeline to give them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from left to right. Data starts in the sources. NiFi collects it. Ozone stores the raw files. Spark cleans them. Iceberg organises the clean data into tables. Finally Doris serves dashboards and ArcadeDB finds relationships. The box at the bottom left shows how this maps to Extract, Transform and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NiFi is the first tool in the pipeline. It is a visual tool: you drag boxes called processors onto a canvas and connect them. It can read from databases, files, APIs and more, and it keeps a record of where every piece of data went.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Ozone is an object store. Files are kept in buckets, just like in Amazon S3, and it can be accessed with S3-style tools. It is part of the Apache Hadoop ecosystem and is built to scale to a very large number of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is where the Transform step happens. You can write the logic in SQL or Python (PySpark). Spark splits the data into pieces and processes them at the same time on many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Iceberg is not a database and not a storage system. It is a table format that sits between the files in storage and the tools that read them. That is why we can have safe updates, history and schema changes on top of plain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Doris is an OLAP database, which means it is built for analytics questions such as totals, averages and group-bys. It speaks the MySQL protocol, so tools that talk to MySQL can connect to it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ArcadeDB is a graph-first, multi-model database. In a graph, things such as customers and products are called vertices and the links such as bought are called edges. Following links is fast, which is perfect for recommendations. The names Asha and Ravi are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Asha’s order of a phone case for 499 rupees. It is saved in the orders database, NiFi copies it to Ozone, Spark cleans it, Iceberg stores it in a clean table, and finally it shows up on the Doris dashboard and in the ArcadeDB relationship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quick revision slide. If someone asks which tool does what, point to this table. Every tool has one clear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big data needs special tools, ETL means extract, transform, load, each tool has one job, and the best way to learn is to start with one small use case. Thank you.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91672" cy="685800"/>
          </a:xfrm>
          <a:prstGeom prst="rect">
            <a:avLst/>
          </a:prstGeom>
          <a:noFill/>
          <a:ln/>
        </p:spPr>
        <p:txBody>
          <a:bodyPr wrap="square" rtlCol="0"/>
          <a:lstStyle>
            <a:lvl1pPr algn="l" indent="0" marL="0">
              <a:buNone/>
              <a:defRPr lang="en-US" sz="3200" b="1" dirty="0">
                <a:solidFill>
                  <a:srgbClr val="0B1437"/>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43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5760720" cy="219456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ITLE_TOP">
    <p:bg>
      <p:bgPr>
        <a:solidFill>
          <a:srgbClr val="0B143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548640"/>
            <a:ext cx="10515600" cy="82296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nvSpPr>
        <p:spPr>
          <a:xfrm>
            <a:off x="822960" y="1417320"/>
            <a:ext cx="4572000" cy="274320"/>
          </a:xfrm>
          <a:prstGeom prst="rect">
            <a:avLst/>
          </a:prstGeom>
          <a:noFill/>
          <a:ln/>
        </p:spPr>
        <p:txBody>
          <a:bodyPr wrap="square" lIns="0" tIns="0" rIns="0" bIns="0" rtlCol="0" anchor="t"/>
          <a:lstStyle/>
          <a:p>
            <a:pPr indent="0" marL="0">
              <a:buNone/>
            </a:pPr>
            <a:r>
              <a:rPr lang="en-US" sz="1200" b="1" spc="300" kern="0" dirty="0">
                <a:solidFill>
                  <a:srgbClr val="F59E0B"/>
                </a:solidFill>
              </a:rPr>
              <a:t>BIG DATA  ·  ETL</a:t>
            </a:r>
            <a:endParaRPr lang="en-US" sz="1200" dirty="0"/>
          </a:p>
        </p:txBody>
      </p:sp>
      <p:sp>
        <p:nvSpPr>
          <p:cNvPr id="3" name="Text 0"/>
          <p:cNvSpPr/>
          <p:nvPr>
            <p:ph idx="100" type="title" hasCustomPrompt="1"/>
          </p:nvPr>
        </p:nvSpPr>
        <p:spPr>
          <a:xfrm>
            <a:off x="822960" y="1828800"/>
            <a:ext cx="5760720" cy="2194560"/>
          </a:xfrm>
          <a:prstGeom prst="rect">
            <a:avLst/>
          </a:prstGeom>
          <a:noFill/>
          <a:ln/>
        </p:spPr>
        <p:txBody>
          <a:bodyPr wrap="square" lIns="0" tIns="0" rIns="0" bIns="0" rtlCol="0" anchor="ctr"/>
          <a:lstStyle/>
          <a:p>
            <a:pPr algn="l" indent="0" marL="0">
              <a:buNone/>
            </a:pPr>
            <a:r>
              <a:rPr lang="en-US" sz="4400" b="1" dirty="0">
                <a:solidFill>
                  <a:srgbClr val="FFFFFF"/>
                </a:solidFill>
              </a:rPr>
              <a:t>Big Data Tools</a:t>
            </a:r>
            <a:endParaRPr lang="en-US" sz="4400" dirty="0"/>
          </a:p>
          <a:p>
            <a:pPr algn="l" indent="0" marL="0">
              <a:buNone/>
            </a:pPr>
            <a:r>
              <a:rPr lang="en-US" sz="4400" b="1" dirty="0">
                <a:solidFill>
                  <a:srgbClr val="FFFFFF"/>
                </a:solidFill>
              </a:rPr>
              <a:t>&amp; ETL Pipeline</a:t>
            </a:r>
            <a:endParaRPr lang="en-US" sz="4400" dirty="0"/>
          </a:p>
        </p:txBody>
      </p:sp>
      <p:sp>
        <p:nvSpPr>
          <p:cNvPr id="4" name="Text 2"/>
          <p:cNvSpPr txBox="1"/>
          <p:nvPr/>
        </p:nvSpPr>
        <p:spPr>
          <a:xfrm>
            <a:off x="822960" y="4206240"/>
            <a:ext cx="5669280" cy="640080"/>
          </a:xfrm>
          <a:prstGeom prst="rect">
            <a:avLst/>
          </a:prstGeom>
          <a:noFill/>
          <a:ln/>
        </p:spPr>
        <p:txBody>
          <a:bodyPr wrap="square" lIns="0" tIns="0" rIns="0" bIns="0" rtlCol="0" anchor="t"/>
          <a:lstStyle/>
          <a:p>
            <a:pPr indent="0" marL="0">
              <a:buNone/>
            </a:pPr>
            <a:r>
              <a:rPr lang="en-US" sz="1600" dirty="0">
                <a:solidFill>
                  <a:srgbClr val="94A3B8"/>
                </a:solidFill>
              </a:rPr>
              <a:t>A beginner’s guide, with one example followed from start to finish</a:t>
            </a:r>
            <a:endParaRPr lang="en-US" sz="1600" dirty="0"/>
          </a:p>
        </p:txBody>
      </p:sp>
      <p:sp>
        <p:nvSpPr>
          <p:cNvPr id="5" name="Text 3"/>
          <p:cNvSpPr txBox="1"/>
          <p:nvPr/>
        </p:nvSpPr>
        <p:spPr>
          <a:xfrm>
            <a:off x="6903720" y="2743200"/>
            <a:ext cx="1325880" cy="228600"/>
          </a:xfrm>
          <a:prstGeom prst="rect">
            <a:avLst/>
          </a:prstGeom>
          <a:noFill/>
          <a:ln/>
        </p:spPr>
        <p:txBody>
          <a:bodyPr wrap="square" lIns="0" tIns="0" rIns="0" bIns="0" rtlCol="0" anchor="t"/>
          <a:lstStyle/>
          <a:p>
            <a:pPr algn="ctr" indent="0" marL="0">
              <a:buNone/>
            </a:pPr>
            <a:r>
              <a:rPr lang="en-US" sz="1100" dirty="0">
                <a:solidFill>
                  <a:srgbClr val="94A3B8"/>
                </a:solidFill>
              </a:rPr>
              <a:t>raw data</a:t>
            </a:r>
            <a:endParaRPr lang="en-US" sz="1100" dirty="0"/>
          </a:p>
        </p:txBody>
      </p:sp>
      <p:sp>
        <p:nvSpPr>
          <p:cNvPr id="6" name="Text 4"/>
          <p:cNvSpPr txBox="1"/>
          <p:nvPr/>
        </p:nvSpPr>
        <p:spPr>
          <a:xfrm>
            <a:off x="10195560" y="2743200"/>
            <a:ext cx="1325880" cy="228600"/>
          </a:xfrm>
          <a:prstGeom prst="rect">
            <a:avLst/>
          </a:prstGeom>
          <a:noFill/>
          <a:ln/>
        </p:spPr>
        <p:txBody>
          <a:bodyPr wrap="square" lIns="0" tIns="0" rIns="0" bIns="0" rtlCol="0" anchor="t"/>
          <a:lstStyle/>
          <a:p>
            <a:pPr algn="ctr" indent="0" marL="0">
              <a:buNone/>
            </a:pPr>
            <a:r>
              <a:rPr lang="en-US" sz="1100" dirty="0">
                <a:solidFill>
                  <a:srgbClr val="94A3B8"/>
                </a:solidFill>
              </a:rPr>
              <a:t>ready to use</a:t>
            </a:r>
            <a:endParaRPr lang="en-US" sz="1100" dirty="0"/>
          </a:p>
        </p:txBody>
      </p:sp>
      <p:sp>
        <p:nvSpPr>
          <p:cNvPr id="7" name="Card 5"/>
          <p:cNvSpPr txBox="1"/>
          <p:nvPr/>
        </p:nvSpPr>
        <p:spPr>
          <a:xfrm>
            <a:off x="6903720" y="3017520"/>
            <a:ext cx="1325880" cy="640080"/>
          </a:xfrm>
          <a:prstGeom prst="roundRect">
            <a:avLst>
              <a:gd name="adj" fmla="val 14286"/>
            </a:avLst>
          </a:prstGeom>
          <a:solidFill>
            <a:srgbClr val="16224F"/>
          </a:solidFill>
          <a:ln w="9525">
            <a:solidFill>
              <a:srgbClr val="334155"/>
            </a:solidFill>
          </a:ln>
        </p:spPr>
        <p:txBody>
          <a:bodyPr wrap="square" lIns="101600" tIns="101600" rIns="101600" bIns="101600" rtlCol="0" anchor="ctr"/>
          <a:lstStyle/>
          <a:p>
            <a:pPr algn="ctr" indent="0" marL="0">
              <a:buNone/>
            </a:pPr>
            <a:r>
              <a:rPr lang="en-US" sz="1600" b="1" dirty="0">
                <a:solidFill>
                  <a:srgbClr val="FFFFFF"/>
                </a:solidFill>
              </a:rPr>
              <a:t>Extract</a:t>
            </a:r>
            <a:endParaRPr lang="en-US" sz="1600" dirty="0"/>
          </a:p>
        </p:txBody>
      </p:sp>
      <p:sp>
        <p:nvSpPr>
          <p:cNvPr id="8" name="Arrow 6"/>
          <p:cNvSpPr/>
          <p:nvPr/>
        </p:nvSpPr>
        <p:spPr>
          <a:xfrm>
            <a:off x="8229600" y="3337560"/>
            <a:ext cx="320040" cy="0"/>
          </a:xfrm>
          <a:prstGeom prst="line">
            <a:avLst/>
          </a:prstGeom>
          <a:noFill/>
          <a:ln w="25400">
            <a:solidFill>
              <a:srgbClr val="94A3B8"/>
            </a:solidFill>
            <a:prstDash val="solid"/>
            <a:tailEnd type="triangle"/>
          </a:ln>
        </p:spPr>
      </p:sp>
      <p:sp>
        <p:nvSpPr>
          <p:cNvPr id="9" name="Card 7"/>
          <p:cNvSpPr txBox="1"/>
          <p:nvPr/>
        </p:nvSpPr>
        <p:spPr>
          <a:xfrm>
            <a:off x="8549640" y="3017520"/>
            <a:ext cx="1325880" cy="640080"/>
          </a:xfrm>
          <a:prstGeom prst="roundRect">
            <a:avLst>
              <a:gd name="adj" fmla="val 14286"/>
            </a:avLst>
          </a:prstGeom>
          <a:solidFill>
            <a:srgbClr val="16224F"/>
          </a:solidFill>
          <a:ln w="9525">
            <a:solidFill>
              <a:srgbClr val="334155"/>
            </a:solidFill>
          </a:ln>
        </p:spPr>
        <p:txBody>
          <a:bodyPr wrap="square" lIns="101600" tIns="101600" rIns="101600" bIns="101600" rtlCol="0" anchor="ctr"/>
          <a:lstStyle/>
          <a:p>
            <a:pPr algn="ctr" indent="0" marL="0">
              <a:buNone/>
            </a:pPr>
            <a:r>
              <a:rPr lang="en-US" sz="1600" b="1" dirty="0">
                <a:solidFill>
                  <a:srgbClr val="FFFFFF"/>
                </a:solidFill>
              </a:rPr>
              <a:t>Transform</a:t>
            </a:r>
            <a:endParaRPr lang="en-US" sz="1600" dirty="0"/>
          </a:p>
        </p:txBody>
      </p:sp>
      <p:sp>
        <p:nvSpPr>
          <p:cNvPr id="10" name="Arrow 8"/>
          <p:cNvSpPr/>
          <p:nvPr/>
        </p:nvSpPr>
        <p:spPr>
          <a:xfrm>
            <a:off x="9875520" y="3337560"/>
            <a:ext cx="320040" cy="0"/>
          </a:xfrm>
          <a:prstGeom prst="line">
            <a:avLst/>
          </a:prstGeom>
          <a:noFill/>
          <a:ln w="25400">
            <a:solidFill>
              <a:srgbClr val="94A3B8"/>
            </a:solidFill>
            <a:prstDash val="solid"/>
            <a:tailEnd type="triangle"/>
          </a:ln>
        </p:spPr>
      </p:sp>
      <p:sp>
        <p:nvSpPr>
          <p:cNvPr id="11" name="Card 9"/>
          <p:cNvSpPr txBox="1"/>
          <p:nvPr/>
        </p:nvSpPr>
        <p:spPr>
          <a:xfrm>
            <a:off x="10195560" y="3017520"/>
            <a:ext cx="1325880" cy="640080"/>
          </a:xfrm>
          <a:prstGeom prst="roundRect">
            <a:avLst>
              <a:gd name="adj" fmla="val 14286"/>
            </a:avLst>
          </a:prstGeom>
          <a:solidFill>
            <a:srgbClr val="F59E0B"/>
          </a:solidFill>
          <a:ln w="9525">
            <a:solidFill>
              <a:srgbClr val="F59E0B"/>
            </a:solidFill>
          </a:ln>
        </p:spPr>
        <p:txBody>
          <a:bodyPr wrap="square" lIns="101600" tIns="101600" rIns="101600" bIns="101600" rtlCol="0" anchor="ctr"/>
          <a:lstStyle/>
          <a:p>
            <a:pPr algn="ctr" indent="0" marL="0">
              <a:buNone/>
            </a:pPr>
            <a:r>
              <a:rPr lang="en-US" sz="1600" b="1" dirty="0">
                <a:solidFill>
                  <a:srgbClr val="0B1437"/>
                </a:solidFill>
              </a:rPr>
              <a:t>Load</a:t>
            </a:r>
            <a:endParaRPr lang="en-US" sz="1600" dirty="0"/>
          </a:p>
        </p:txBody>
      </p:sp>
      <p:sp>
        <p:nvSpPr>
          <p:cNvPr id="12" name="Text 10"/>
          <p:cNvSpPr txBox="1"/>
          <p:nvPr/>
        </p:nvSpPr>
        <p:spPr>
          <a:xfrm>
            <a:off x="6903720" y="3840480"/>
            <a:ext cx="4617720" cy="274320"/>
          </a:xfrm>
          <a:prstGeom prst="rect">
            <a:avLst/>
          </a:prstGeom>
          <a:noFill/>
          <a:ln/>
        </p:spPr>
        <p:txBody>
          <a:bodyPr wrap="square" lIns="0" tIns="0" rIns="0" bIns="0" rtlCol="0" anchor="t"/>
          <a:lstStyle/>
          <a:p>
            <a:pPr indent="0" marL="0">
              <a:buNone/>
            </a:pPr>
            <a:r>
              <a:rPr lang="en-US" sz="1200" dirty="0">
                <a:solidFill>
                  <a:srgbClr val="94A3B8"/>
                </a:solidFill>
              </a:rPr>
              <a:t>the three steps behind every data pipeline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What we will cover</a:t>
            </a:r>
            <a:endParaRPr lang="en-US" sz="3200" dirty="0"/>
          </a:p>
        </p:txBody>
      </p:sp>
      <p:sp>
        <p:nvSpPr>
          <p:cNvPr id="4" name="Box 11"/>
          <p:cNvSpPr/>
          <p:nvPr/>
        </p:nvSpPr>
        <p:spPr>
          <a:xfrm>
            <a:off x="548640" y="1783080"/>
            <a:ext cx="2606040" cy="3657600"/>
          </a:xfrm>
          <a:prstGeom prst="roundRect">
            <a:avLst>
              <a:gd name="adj" fmla="val 4211"/>
            </a:avLst>
          </a:prstGeom>
          <a:solidFill>
            <a:srgbClr val="0369A1"/>
          </a:solidFill>
          <a:ln w="9525">
            <a:solidFill>
              <a:srgbClr val="0369A1"/>
            </a:solidFill>
            <a:prstDash val="solid"/>
          </a:ln>
        </p:spPr>
      </p:sp>
      <p:sp>
        <p:nvSpPr>
          <p:cNvPr id="5" name="Text 12"/>
          <p:cNvSpPr txBox="1"/>
          <p:nvPr/>
        </p:nvSpPr>
        <p:spPr>
          <a:xfrm>
            <a:off x="777240" y="1920240"/>
            <a:ext cx="914400" cy="640080"/>
          </a:xfrm>
          <a:prstGeom prst="rect">
            <a:avLst/>
          </a:prstGeom>
          <a:noFill/>
          <a:ln/>
        </p:spPr>
        <p:txBody>
          <a:bodyPr wrap="square" lIns="0" tIns="0" rIns="0" bIns="0" rtlCol="0" anchor="t"/>
          <a:lstStyle/>
          <a:p>
            <a:pPr indent="0" marL="0">
              <a:buNone/>
            </a:pPr>
            <a:r>
              <a:rPr lang="en-US" sz="4000" b="1" dirty="0">
                <a:solidFill>
                  <a:srgbClr val="FFFFFF"/>
                </a:solidFill>
              </a:rPr>
              <a:t>1</a:t>
            </a:r>
            <a:endParaRPr lang="en-US" sz="4000" dirty="0"/>
          </a:p>
        </p:txBody>
      </p:sp>
      <p:sp>
        <p:nvSpPr>
          <p:cNvPr id="6" name="Text 13"/>
          <p:cNvSpPr txBox="1"/>
          <p:nvPr/>
        </p:nvSpPr>
        <p:spPr>
          <a:xfrm>
            <a:off x="777240" y="2651760"/>
            <a:ext cx="2194560" cy="365760"/>
          </a:xfrm>
          <a:prstGeom prst="rect">
            <a:avLst/>
          </a:prstGeom>
          <a:noFill/>
          <a:ln/>
        </p:spPr>
        <p:txBody>
          <a:bodyPr wrap="square" lIns="0" tIns="0" rIns="0" bIns="0" rtlCol="0" anchor="t"/>
          <a:lstStyle/>
          <a:p>
            <a:pPr indent="0" marL="0">
              <a:buNone/>
            </a:pPr>
            <a:r>
              <a:rPr lang="en-US" sz="2000" b="1" dirty="0">
                <a:solidFill>
                  <a:srgbClr val="FFFFFF"/>
                </a:solidFill>
              </a:rPr>
              <a:t>Basics</a:t>
            </a:r>
            <a:endParaRPr lang="en-US" sz="2000" dirty="0"/>
          </a:p>
        </p:txBody>
      </p:sp>
      <p:sp>
        <p:nvSpPr>
          <p:cNvPr id="7" name="Text 14"/>
          <p:cNvSpPr txBox="1"/>
          <p:nvPr/>
        </p:nvSpPr>
        <p:spPr>
          <a:xfrm>
            <a:off x="777240" y="320040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rPr>
              <a:t>What is Big Data?</a:t>
            </a:r>
            <a:endParaRPr lang="en-US" sz="1400" dirty="0"/>
          </a:p>
          <a:p>
            <a:pPr marL="342900" indent="-342900">
              <a:spcAft>
                <a:spcPts val="600"/>
              </a:spcAft>
              <a:buSzPct val="100000"/>
              <a:buChar char="•"/>
            </a:pPr>
            <a:r>
              <a:rPr lang="en-US" sz="1400" dirty="0">
                <a:solidFill>
                  <a:srgbClr val="FFFFFF"/>
                </a:solidFill>
              </a:rPr>
              <a:t>What is ETL?</a:t>
            </a:r>
            <a:endParaRPr lang="en-US" sz="1400" dirty="0"/>
          </a:p>
          <a:p>
            <a:pPr marL="342900" indent="-342900">
              <a:spcAft>
                <a:spcPts val="600"/>
              </a:spcAft>
              <a:buSzPct val="100000"/>
              <a:buChar char="•"/>
            </a:pPr>
            <a:r>
              <a:rPr lang="en-US" sz="1400" dirty="0">
                <a:solidFill>
                  <a:srgbClr val="FFFFFF"/>
                </a:solidFill>
              </a:rPr>
              <a:t>Our example: ShopEasy</a:t>
            </a:r>
            <a:endParaRPr lang="en-US" sz="1400" dirty="0"/>
          </a:p>
        </p:txBody>
      </p:sp>
      <p:sp>
        <p:nvSpPr>
          <p:cNvPr id="8" name="Box 15"/>
          <p:cNvSpPr/>
          <p:nvPr/>
        </p:nvSpPr>
        <p:spPr>
          <a:xfrm>
            <a:off x="3376879" y="1783080"/>
            <a:ext cx="2606040" cy="3657600"/>
          </a:xfrm>
          <a:prstGeom prst="roundRect">
            <a:avLst>
              <a:gd name="adj" fmla="val 4211"/>
            </a:avLst>
          </a:prstGeom>
          <a:solidFill>
            <a:srgbClr val="6D28D9"/>
          </a:solidFill>
          <a:ln w="9525">
            <a:solidFill>
              <a:srgbClr val="6D28D9"/>
            </a:solidFill>
            <a:prstDash val="solid"/>
          </a:ln>
        </p:spPr>
      </p:sp>
      <p:sp>
        <p:nvSpPr>
          <p:cNvPr id="9" name="Text 16"/>
          <p:cNvSpPr txBox="1"/>
          <p:nvPr/>
        </p:nvSpPr>
        <p:spPr>
          <a:xfrm>
            <a:off x="3605479" y="1920240"/>
            <a:ext cx="914400" cy="640080"/>
          </a:xfrm>
          <a:prstGeom prst="rect">
            <a:avLst/>
          </a:prstGeom>
          <a:noFill/>
          <a:ln/>
        </p:spPr>
        <p:txBody>
          <a:bodyPr wrap="square" lIns="0" tIns="0" rIns="0" bIns="0" rtlCol="0" anchor="t"/>
          <a:lstStyle/>
          <a:p>
            <a:pPr indent="0" marL="0">
              <a:buNone/>
            </a:pPr>
            <a:r>
              <a:rPr lang="en-US" sz="4000" b="1" dirty="0">
                <a:solidFill>
                  <a:srgbClr val="FFFFFF"/>
                </a:solidFill>
              </a:rPr>
              <a:t>2</a:t>
            </a:r>
            <a:endParaRPr lang="en-US" sz="4000" dirty="0"/>
          </a:p>
        </p:txBody>
      </p:sp>
      <p:sp>
        <p:nvSpPr>
          <p:cNvPr id="10" name="Text 17"/>
          <p:cNvSpPr txBox="1"/>
          <p:nvPr/>
        </p:nvSpPr>
        <p:spPr>
          <a:xfrm>
            <a:off x="3605479" y="2651760"/>
            <a:ext cx="2194560" cy="365760"/>
          </a:xfrm>
          <a:prstGeom prst="rect">
            <a:avLst/>
          </a:prstGeom>
          <a:noFill/>
          <a:ln/>
        </p:spPr>
        <p:txBody>
          <a:bodyPr wrap="square" lIns="0" tIns="0" rIns="0" bIns="0" rtlCol="0" anchor="t"/>
          <a:lstStyle/>
          <a:p>
            <a:pPr indent="0" marL="0">
              <a:buNone/>
            </a:pPr>
            <a:r>
              <a:rPr lang="en-US" sz="2000" b="1" dirty="0">
                <a:solidFill>
                  <a:srgbClr val="FFFFFF"/>
                </a:solidFill>
              </a:rPr>
              <a:t>Architecture</a:t>
            </a:r>
            <a:endParaRPr lang="en-US" sz="2000" dirty="0"/>
          </a:p>
        </p:txBody>
      </p:sp>
      <p:sp>
        <p:nvSpPr>
          <p:cNvPr id="11" name="Text 18"/>
          <p:cNvSpPr txBox="1"/>
          <p:nvPr/>
        </p:nvSpPr>
        <p:spPr>
          <a:xfrm>
            <a:off x="3605479" y="320040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rPr>
              <a:t>Layers of a pipeline</a:t>
            </a:r>
            <a:endParaRPr lang="en-US" sz="1400" dirty="0"/>
          </a:p>
          <a:p>
            <a:pPr marL="342900" indent="-342900">
              <a:spcAft>
                <a:spcPts val="600"/>
              </a:spcAft>
              <a:buSzPct val="100000"/>
              <a:buChar char="•"/>
            </a:pPr>
            <a:r>
              <a:rPr lang="en-US" sz="1400" dirty="0">
                <a:solidFill>
                  <a:srgbClr val="FFFFFF"/>
                </a:solidFill>
              </a:rPr>
              <a:t>How data flows</a:t>
            </a:r>
            <a:endParaRPr lang="en-US" sz="1400" dirty="0"/>
          </a:p>
          <a:p>
            <a:pPr marL="342900" indent="-342900">
              <a:spcAft>
                <a:spcPts val="600"/>
              </a:spcAft>
              <a:buSzPct val="100000"/>
              <a:buChar char="•"/>
            </a:pPr>
            <a:r>
              <a:rPr lang="en-US" sz="1400" dirty="0">
                <a:solidFill>
                  <a:srgbClr val="FFFFFF"/>
                </a:solidFill>
              </a:rPr>
              <a:t>Who does what</a:t>
            </a:r>
            <a:endParaRPr lang="en-US" sz="1400" dirty="0"/>
          </a:p>
        </p:txBody>
      </p:sp>
      <p:sp>
        <p:nvSpPr>
          <p:cNvPr id="12" name="Box 19"/>
          <p:cNvSpPr/>
          <p:nvPr/>
        </p:nvSpPr>
        <p:spPr>
          <a:xfrm>
            <a:off x="6205118" y="1783080"/>
            <a:ext cx="2606040" cy="3657600"/>
          </a:xfrm>
          <a:prstGeom prst="roundRect">
            <a:avLst>
              <a:gd name="adj" fmla="val 4211"/>
            </a:avLst>
          </a:prstGeom>
          <a:solidFill>
            <a:srgbClr val="047857"/>
          </a:solidFill>
          <a:ln w="9525">
            <a:solidFill>
              <a:srgbClr val="047857"/>
            </a:solidFill>
            <a:prstDash val="solid"/>
          </a:ln>
        </p:spPr>
      </p:sp>
      <p:sp>
        <p:nvSpPr>
          <p:cNvPr id="13" name="Text 20"/>
          <p:cNvSpPr txBox="1"/>
          <p:nvPr/>
        </p:nvSpPr>
        <p:spPr>
          <a:xfrm>
            <a:off x="6433718" y="1920240"/>
            <a:ext cx="914400" cy="640080"/>
          </a:xfrm>
          <a:prstGeom prst="rect">
            <a:avLst/>
          </a:prstGeom>
          <a:noFill/>
          <a:ln/>
        </p:spPr>
        <p:txBody>
          <a:bodyPr wrap="square" lIns="0" tIns="0" rIns="0" bIns="0" rtlCol="0" anchor="t"/>
          <a:lstStyle/>
          <a:p>
            <a:pPr indent="0" marL="0">
              <a:buNone/>
            </a:pPr>
            <a:r>
              <a:rPr lang="en-US" sz="4000" b="1" dirty="0">
                <a:solidFill>
                  <a:srgbClr val="FFFFFF"/>
                </a:solidFill>
              </a:rPr>
              <a:t>3</a:t>
            </a:r>
            <a:endParaRPr lang="en-US" sz="4000" dirty="0"/>
          </a:p>
        </p:txBody>
      </p:sp>
      <p:sp>
        <p:nvSpPr>
          <p:cNvPr id="14" name="Text 21"/>
          <p:cNvSpPr txBox="1"/>
          <p:nvPr/>
        </p:nvSpPr>
        <p:spPr>
          <a:xfrm>
            <a:off x="6433718" y="2651760"/>
            <a:ext cx="2194560" cy="365760"/>
          </a:xfrm>
          <a:prstGeom prst="rect">
            <a:avLst/>
          </a:prstGeom>
          <a:noFill/>
          <a:ln/>
        </p:spPr>
        <p:txBody>
          <a:bodyPr wrap="square" lIns="0" tIns="0" rIns="0" bIns="0" rtlCol="0" anchor="t"/>
          <a:lstStyle/>
          <a:p>
            <a:pPr indent="0" marL="0">
              <a:buNone/>
            </a:pPr>
            <a:r>
              <a:rPr lang="en-US" sz="2000" b="1" dirty="0">
                <a:solidFill>
                  <a:srgbClr val="FFFFFF"/>
                </a:solidFill>
              </a:rPr>
              <a:t>The Tools</a:t>
            </a:r>
            <a:endParaRPr lang="en-US" sz="2000" dirty="0"/>
          </a:p>
        </p:txBody>
      </p:sp>
      <p:sp>
        <p:nvSpPr>
          <p:cNvPr id="15" name="Text 22"/>
          <p:cNvSpPr txBox="1"/>
          <p:nvPr/>
        </p:nvSpPr>
        <p:spPr>
          <a:xfrm>
            <a:off x="6433718" y="320040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rPr>
              <a:t>Apache NiFi</a:t>
            </a:r>
            <a:endParaRPr lang="en-US" sz="1400" dirty="0"/>
          </a:p>
          <a:p>
            <a:pPr marL="342900" indent="-342900">
              <a:spcAft>
                <a:spcPts val="600"/>
              </a:spcAft>
              <a:buSzPct val="100000"/>
              <a:buChar char="•"/>
            </a:pPr>
            <a:r>
              <a:rPr lang="en-US" sz="1400" dirty="0">
                <a:solidFill>
                  <a:srgbClr val="FFFFFF"/>
                </a:solidFill>
              </a:rPr>
              <a:t>Apache Ozone</a:t>
            </a:r>
            <a:endParaRPr lang="en-US" sz="1400" dirty="0"/>
          </a:p>
          <a:p>
            <a:pPr marL="342900" indent="-342900">
              <a:spcAft>
                <a:spcPts val="600"/>
              </a:spcAft>
              <a:buSzPct val="100000"/>
              <a:buChar char="•"/>
            </a:pPr>
            <a:r>
              <a:rPr lang="en-US" sz="1400" dirty="0">
                <a:solidFill>
                  <a:srgbClr val="FFFFFF"/>
                </a:solidFill>
              </a:rPr>
              <a:t>Apache Spark</a:t>
            </a:r>
            <a:endParaRPr lang="en-US" sz="1400" dirty="0"/>
          </a:p>
          <a:p>
            <a:pPr marL="342900" indent="-342900">
              <a:spcAft>
                <a:spcPts val="600"/>
              </a:spcAft>
              <a:buSzPct val="100000"/>
              <a:buChar char="•"/>
            </a:pPr>
            <a:r>
              <a:rPr lang="en-US" sz="1400" dirty="0">
                <a:solidFill>
                  <a:srgbClr val="FFFFFF"/>
                </a:solidFill>
              </a:rPr>
              <a:t>Apache Iceberg</a:t>
            </a:r>
            <a:endParaRPr lang="en-US" sz="1400" dirty="0"/>
          </a:p>
          <a:p>
            <a:pPr marL="342900" indent="-342900">
              <a:spcAft>
                <a:spcPts val="600"/>
              </a:spcAft>
              <a:buSzPct val="100000"/>
              <a:buChar char="•"/>
            </a:pPr>
            <a:r>
              <a:rPr lang="en-US" sz="1400" dirty="0">
                <a:solidFill>
                  <a:srgbClr val="FFFFFF"/>
                </a:solidFill>
              </a:rPr>
              <a:t>Apache Doris</a:t>
            </a:r>
            <a:endParaRPr lang="en-US" sz="1400" dirty="0"/>
          </a:p>
          <a:p>
            <a:pPr marL="342900" indent="-342900">
              <a:spcAft>
                <a:spcPts val="600"/>
              </a:spcAft>
              <a:buSzPct val="100000"/>
              <a:buChar char="•"/>
            </a:pPr>
            <a:r>
              <a:rPr lang="en-US" sz="1400" dirty="0">
                <a:solidFill>
                  <a:srgbClr val="FFFFFF"/>
                </a:solidFill>
              </a:rPr>
              <a:t>ArcadeDB</a:t>
            </a:r>
            <a:endParaRPr lang="en-US" sz="1400" dirty="0"/>
          </a:p>
        </p:txBody>
      </p:sp>
      <p:sp>
        <p:nvSpPr>
          <p:cNvPr id="16" name="Box 23"/>
          <p:cNvSpPr/>
          <p:nvPr/>
        </p:nvSpPr>
        <p:spPr>
          <a:xfrm>
            <a:off x="9033358" y="1783080"/>
            <a:ext cx="2606040" cy="3657600"/>
          </a:xfrm>
          <a:prstGeom prst="roundRect">
            <a:avLst>
              <a:gd name="adj" fmla="val 4211"/>
            </a:avLst>
          </a:prstGeom>
          <a:solidFill>
            <a:srgbClr val="B45309"/>
          </a:solidFill>
          <a:ln w="9525">
            <a:solidFill>
              <a:srgbClr val="B45309"/>
            </a:solidFill>
            <a:prstDash val="solid"/>
          </a:ln>
        </p:spPr>
      </p:sp>
      <p:sp>
        <p:nvSpPr>
          <p:cNvPr id="17" name="Text 24"/>
          <p:cNvSpPr txBox="1"/>
          <p:nvPr/>
        </p:nvSpPr>
        <p:spPr>
          <a:xfrm>
            <a:off x="9261958" y="1920240"/>
            <a:ext cx="914400" cy="640080"/>
          </a:xfrm>
          <a:prstGeom prst="rect">
            <a:avLst/>
          </a:prstGeom>
          <a:noFill/>
          <a:ln/>
        </p:spPr>
        <p:txBody>
          <a:bodyPr wrap="square" lIns="0" tIns="0" rIns="0" bIns="0" rtlCol="0" anchor="t"/>
          <a:lstStyle/>
          <a:p>
            <a:pPr indent="0" marL="0">
              <a:buNone/>
            </a:pPr>
            <a:r>
              <a:rPr lang="en-US" sz="4000" b="1" dirty="0">
                <a:solidFill>
                  <a:srgbClr val="FFFFFF"/>
                </a:solidFill>
              </a:rPr>
              <a:t>4</a:t>
            </a:r>
            <a:endParaRPr lang="en-US" sz="4000" dirty="0"/>
          </a:p>
        </p:txBody>
      </p:sp>
      <p:sp>
        <p:nvSpPr>
          <p:cNvPr id="18" name="Text 25"/>
          <p:cNvSpPr txBox="1"/>
          <p:nvPr/>
        </p:nvSpPr>
        <p:spPr>
          <a:xfrm>
            <a:off x="9261958" y="2651760"/>
            <a:ext cx="2194560" cy="365760"/>
          </a:xfrm>
          <a:prstGeom prst="rect">
            <a:avLst/>
          </a:prstGeom>
          <a:noFill/>
          <a:ln/>
        </p:spPr>
        <p:txBody>
          <a:bodyPr wrap="square" lIns="0" tIns="0" rIns="0" bIns="0" rtlCol="0" anchor="t"/>
          <a:lstStyle/>
          <a:p>
            <a:pPr indent="0" marL="0">
              <a:buNone/>
            </a:pPr>
            <a:r>
              <a:rPr lang="en-US" sz="2000" b="1" dirty="0">
                <a:solidFill>
                  <a:srgbClr val="FFFFFF"/>
                </a:solidFill>
              </a:rPr>
              <a:t>Full pipeline</a:t>
            </a:r>
            <a:endParaRPr lang="en-US" sz="2000" dirty="0"/>
          </a:p>
        </p:txBody>
      </p:sp>
      <p:sp>
        <p:nvSpPr>
          <p:cNvPr id="19" name="Text 26"/>
          <p:cNvSpPr txBox="1"/>
          <p:nvPr/>
        </p:nvSpPr>
        <p:spPr>
          <a:xfrm>
            <a:off x="9261958" y="3200400"/>
            <a:ext cx="21945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rPr>
              <a:t>One order’s journey</a:t>
            </a:r>
            <a:endParaRPr lang="en-US" sz="1400" dirty="0"/>
          </a:p>
          <a:p>
            <a:pPr marL="342900" indent="-342900">
              <a:spcAft>
                <a:spcPts val="600"/>
              </a:spcAft>
              <a:buSzPct val="100000"/>
              <a:buChar char="•"/>
            </a:pPr>
            <a:r>
              <a:rPr lang="en-US" sz="1400" dirty="0">
                <a:solidFill>
                  <a:srgbClr val="FFFFFF"/>
                </a:solidFill>
              </a:rPr>
              <a:t>Which tool for what</a:t>
            </a:r>
            <a:endParaRPr lang="en-US" sz="1400" dirty="0"/>
          </a:p>
          <a:p>
            <a:pPr marL="342900" indent="-342900">
              <a:spcAft>
                <a:spcPts val="600"/>
              </a:spcAft>
              <a:buSzPct val="100000"/>
              <a:buChar char="•"/>
            </a:pPr>
            <a:r>
              <a:rPr lang="en-US" sz="1400" dirty="0">
                <a:solidFill>
                  <a:srgbClr val="FFFFFF"/>
                </a:solidFill>
              </a:rPr>
              <a:t>Key takeaways</a:t>
            </a:r>
            <a:endParaRPr lang="en-US" sz="1400" dirty="0"/>
          </a:p>
        </p:txBody>
      </p:sp>
      <p:sp>
        <p:nvSpPr>
          <p:cNvPr id="20" name="Text 27"/>
          <p:cNvSpPr txBox="1"/>
          <p:nvPr/>
        </p:nvSpPr>
        <p:spPr>
          <a:xfrm>
            <a:off x="548640" y="5669280"/>
            <a:ext cx="9144000" cy="274320"/>
          </a:xfrm>
          <a:prstGeom prst="rect">
            <a:avLst/>
          </a:prstGeom>
          <a:noFill/>
          <a:ln/>
        </p:spPr>
        <p:txBody>
          <a:bodyPr wrap="square" lIns="0" tIns="0" rIns="0" bIns="0" rtlCol="0" anchor="t"/>
          <a:lstStyle/>
          <a:p>
            <a:pPr indent="0" marL="0">
              <a:buNone/>
            </a:pPr>
            <a:r>
              <a:rPr lang="en-US" sz="1200" dirty="0">
                <a:solidFill>
                  <a:srgbClr val="64748B"/>
                </a:solidFill>
              </a:rPr>
              <a:t>One example, followed all the way through: from a customer’s order to a dashboard.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rt tag"/>
          <p:cNvSpPr txBox="1"/>
          <p:nvPr/>
        </p:nvSpPr>
        <p:spPr>
          <a:xfrm>
            <a:off x="548640" y="384048"/>
            <a:ext cx="1978762" cy="274320"/>
          </a:xfrm>
          <a:prstGeom prst="roundRect">
            <a:avLst>
              <a:gd name="adj" fmla="val 50000"/>
            </a:avLst>
          </a:prstGeom>
          <a:solidFill>
            <a:srgbClr val="0369A1"/>
          </a:solidFill>
          <a:ln w="9525">
            <a:solidFill>
              <a:srgbClr val="0369A1"/>
            </a:solidFill>
          </a:ln>
        </p:spPr>
        <p:txBody>
          <a:bodyPr wrap="square" lIns="0" tIns="0" rIns="0" bIns="0" rtlCol="0" anchor="ctr"/>
          <a:lstStyle/>
          <a:p>
            <a:pPr algn="ctr" indent="0" marL="0">
              <a:buNone/>
            </a:pPr>
            <a:r>
              <a:rPr lang="en-US" sz="1100" b="1" dirty="0">
                <a:solidFill>
                  <a:srgbClr val="FFFFFF"/>
                </a:solidFill>
              </a:rPr>
              <a:t>PART 1  ·  BASICS</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What is Big Data?</a:t>
            </a:r>
            <a:endParaRPr lang="en-US" sz="3200" dirty="0"/>
          </a:p>
        </p:txBody>
      </p:sp>
      <p:sp>
        <p:nvSpPr>
          <p:cNvPr id="5" name="Text 28"/>
          <p:cNvSpPr txBox="1"/>
          <p:nvPr/>
        </p:nvSpPr>
        <p:spPr>
          <a:xfrm>
            <a:off x="548640" y="1874520"/>
            <a:ext cx="5120640" cy="3200400"/>
          </a:xfrm>
          <a:prstGeom prst="rect">
            <a:avLst/>
          </a:prstGeom>
          <a:noFill/>
          <a:ln/>
        </p:spPr>
        <p:txBody>
          <a:bodyPr wrap="square" lIns="0" tIns="0" rIns="0" bIns="0" rtlCol="0" anchor="t"/>
          <a:lstStyle/>
          <a:p>
            <a:pPr marL="342900" indent="-342900">
              <a:spcAft>
                <a:spcPts val="2200"/>
              </a:spcAft>
              <a:buSzPct val="100000"/>
              <a:buChar char="•"/>
            </a:pPr>
            <a:r>
              <a:rPr lang="en-US" sz="2000" b="1" dirty="0">
                <a:solidFill>
                  <a:srgbClr val="0B1437"/>
                </a:solidFill>
              </a:rPr>
              <a:t>Big data </a:t>
            </a:r>
            <a:pPr indent="0" marL="0">
              <a:buNone/>
            </a:pPr>
            <a:r>
              <a:rPr lang="en-US" sz="2000" dirty="0">
                <a:solidFill>
                  <a:srgbClr val="1E293B"/>
                </a:solidFill>
              </a:rPr>
              <a:t>is data that is too large, too fast or too messy for one normal computer or database.</a:t>
            </a:r>
            <a:endParaRPr lang="en-US" sz="2000" dirty="0"/>
          </a:p>
          <a:p>
            <a:pPr marL="342900" indent="-342900">
              <a:spcAft>
                <a:spcPts val="2200"/>
              </a:spcAft>
              <a:buSzPct val="100000"/>
              <a:buChar char="•"/>
            </a:pPr>
            <a:r>
              <a:rPr lang="en-US" sz="2000" b="1" dirty="0">
                <a:solidFill>
                  <a:srgbClr val="0B1437"/>
                </a:solidFill>
              </a:rPr>
              <a:t>It comes from everywhere: </a:t>
            </a:r>
            <a:pPr indent="0" marL="0">
              <a:buNone/>
            </a:pPr>
            <a:r>
              <a:rPr lang="en-US" sz="2000" dirty="0">
                <a:solidFill>
                  <a:srgbClr val="1E293B"/>
                </a:solidFill>
              </a:rPr>
              <a:t>apps, websites, payments, sensors and logs.</a:t>
            </a:r>
            <a:endParaRPr lang="en-US" sz="2000" dirty="0"/>
          </a:p>
          <a:p>
            <a:pPr marL="342900" indent="-342900">
              <a:spcAft>
                <a:spcPts val="2200"/>
              </a:spcAft>
              <a:buSzPct val="100000"/>
              <a:buChar char="•"/>
            </a:pPr>
            <a:r>
              <a:rPr lang="en-US" sz="2000" b="1" dirty="0">
                <a:solidFill>
                  <a:srgbClr val="0B1437"/>
                </a:solidFill>
              </a:rPr>
              <a:t>Special tools </a:t>
            </a:r>
            <a:pPr indent="0" marL="0">
              <a:buNone/>
            </a:pPr>
            <a:r>
              <a:rPr lang="en-US" sz="2000" dirty="0">
                <a:solidFill>
                  <a:srgbClr val="1E293B"/>
                </a:solidFill>
              </a:rPr>
              <a:t>are needed to collect, store, process and analyse it.</a:t>
            </a:r>
            <a:endParaRPr lang="en-US" sz="2000" dirty="0"/>
          </a:p>
        </p:txBody>
      </p:sp>
      <p:sp>
        <p:nvSpPr>
          <p:cNvPr id="6" name="Text 29"/>
          <p:cNvSpPr txBox="1"/>
          <p:nvPr/>
        </p:nvSpPr>
        <p:spPr>
          <a:xfrm>
            <a:off x="5943600" y="1783080"/>
            <a:ext cx="5486400" cy="274320"/>
          </a:xfrm>
          <a:prstGeom prst="rect">
            <a:avLst/>
          </a:prstGeom>
          <a:noFill/>
          <a:ln/>
        </p:spPr>
        <p:txBody>
          <a:bodyPr wrap="square" lIns="0" tIns="0" rIns="0" bIns="0" rtlCol="0" anchor="t"/>
          <a:lstStyle/>
          <a:p>
            <a:pPr indent="0" marL="0">
              <a:buNone/>
            </a:pPr>
            <a:r>
              <a:rPr lang="en-US" sz="1400" b="1" dirty="0">
                <a:solidFill>
                  <a:srgbClr val="64748B"/>
                </a:solidFill>
              </a:rPr>
              <a:t>The 3 Vs of big data</a:t>
            </a:r>
            <a:endParaRPr lang="en-US" sz="1400" dirty="0"/>
          </a:p>
        </p:txBody>
      </p:sp>
      <p:sp>
        <p:nvSpPr>
          <p:cNvPr id="7" name="Box 30"/>
          <p:cNvSpPr/>
          <p:nvPr/>
        </p:nvSpPr>
        <p:spPr>
          <a:xfrm>
            <a:off x="5943600" y="2194560"/>
            <a:ext cx="1773936" cy="2194560"/>
          </a:xfrm>
          <a:prstGeom prst="roundRect">
            <a:avLst>
              <a:gd name="adj" fmla="val 5155"/>
            </a:avLst>
          </a:prstGeom>
          <a:solidFill>
            <a:srgbClr val="E0F2FE"/>
          </a:solidFill>
          <a:ln w="9525">
            <a:solidFill>
              <a:srgbClr val="0EA5E9"/>
            </a:solidFill>
            <a:prstDash val="solid"/>
          </a:ln>
        </p:spPr>
      </p:sp>
      <p:sp>
        <p:nvSpPr>
          <p:cNvPr id="8" name="Text 31"/>
          <p:cNvSpPr txBox="1"/>
          <p:nvPr/>
        </p:nvSpPr>
        <p:spPr>
          <a:xfrm>
            <a:off x="6080760" y="2377440"/>
            <a:ext cx="1499616" cy="365760"/>
          </a:xfrm>
          <a:prstGeom prst="rect">
            <a:avLst/>
          </a:prstGeom>
          <a:noFill/>
          <a:ln/>
        </p:spPr>
        <p:txBody>
          <a:bodyPr wrap="square" lIns="0" tIns="0" rIns="0" bIns="0" rtlCol="0" anchor="t"/>
          <a:lstStyle/>
          <a:p>
            <a:pPr indent="0" marL="0">
              <a:buNone/>
            </a:pPr>
            <a:r>
              <a:rPr lang="en-US" sz="2000" b="1" dirty="0">
                <a:solidFill>
                  <a:srgbClr val="0B1437"/>
                </a:solidFill>
              </a:rPr>
              <a:t>Volume</a:t>
            </a:r>
            <a:endParaRPr lang="en-US" sz="2000" dirty="0"/>
          </a:p>
        </p:txBody>
      </p:sp>
      <p:sp>
        <p:nvSpPr>
          <p:cNvPr id="9" name="Text 32"/>
          <p:cNvSpPr txBox="1"/>
          <p:nvPr/>
        </p:nvSpPr>
        <p:spPr>
          <a:xfrm>
            <a:off x="6080760" y="2880360"/>
            <a:ext cx="1499616" cy="548640"/>
          </a:xfrm>
          <a:prstGeom prst="rect">
            <a:avLst/>
          </a:prstGeom>
          <a:noFill/>
          <a:ln/>
        </p:spPr>
        <p:txBody>
          <a:bodyPr wrap="square" lIns="0" tIns="0" rIns="0" bIns="0" rtlCol="0" anchor="t"/>
          <a:lstStyle/>
          <a:p>
            <a:pPr indent="0" marL="0">
              <a:buNone/>
            </a:pPr>
            <a:r>
              <a:rPr lang="en-US" sz="1600" dirty="0">
                <a:solidFill>
                  <a:srgbClr val="1E293B"/>
                </a:solidFill>
              </a:rPr>
              <a:t>A lot of data</a:t>
            </a:r>
            <a:endParaRPr lang="en-US" sz="1600" dirty="0"/>
          </a:p>
        </p:txBody>
      </p:sp>
      <p:sp>
        <p:nvSpPr>
          <p:cNvPr id="10" name="Text 33"/>
          <p:cNvSpPr txBox="1"/>
          <p:nvPr/>
        </p:nvSpPr>
        <p:spPr>
          <a:xfrm>
            <a:off x="6080760" y="3611880"/>
            <a:ext cx="1499616" cy="548640"/>
          </a:xfrm>
          <a:prstGeom prst="rect">
            <a:avLst/>
          </a:prstGeom>
          <a:noFill/>
          <a:ln/>
        </p:spPr>
        <p:txBody>
          <a:bodyPr wrap="square" lIns="0" tIns="0" rIns="0" bIns="0" rtlCol="0" anchor="t"/>
          <a:lstStyle/>
          <a:p>
            <a:pPr indent="0" marL="0">
              <a:buNone/>
            </a:pPr>
            <a:r>
              <a:rPr lang="en-US" sz="1200" dirty="0">
                <a:solidFill>
                  <a:srgbClr val="64748B"/>
                </a:solidFill>
              </a:rPr>
              <a:t>Millions of orders</a:t>
            </a:r>
            <a:endParaRPr lang="en-US" sz="1200" dirty="0"/>
          </a:p>
        </p:txBody>
      </p:sp>
      <p:sp>
        <p:nvSpPr>
          <p:cNvPr id="11" name="Box 34"/>
          <p:cNvSpPr/>
          <p:nvPr/>
        </p:nvSpPr>
        <p:spPr>
          <a:xfrm>
            <a:off x="7904988" y="2194560"/>
            <a:ext cx="1773936" cy="2194560"/>
          </a:xfrm>
          <a:prstGeom prst="roundRect">
            <a:avLst>
              <a:gd name="adj" fmla="val 5155"/>
            </a:avLst>
          </a:prstGeom>
          <a:solidFill>
            <a:srgbClr val="EDE9FE"/>
          </a:solidFill>
          <a:ln w="9525">
            <a:solidFill>
              <a:srgbClr val="8B5CF6"/>
            </a:solidFill>
            <a:prstDash val="solid"/>
          </a:ln>
        </p:spPr>
      </p:sp>
      <p:sp>
        <p:nvSpPr>
          <p:cNvPr id="12" name="Text 35"/>
          <p:cNvSpPr txBox="1"/>
          <p:nvPr/>
        </p:nvSpPr>
        <p:spPr>
          <a:xfrm>
            <a:off x="8042148" y="2377440"/>
            <a:ext cx="1499616" cy="365760"/>
          </a:xfrm>
          <a:prstGeom prst="rect">
            <a:avLst/>
          </a:prstGeom>
          <a:noFill/>
          <a:ln/>
        </p:spPr>
        <p:txBody>
          <a:bodyPr wrap="square" lIns="0" tIns="0" rIns="0" bIns="0" rtlCol="0" anchor="t"/>
          <a:lstStyle/>
          <a:p>
            <a:pPr indent="0" marL="0">
              <a:buNone/>
            </a:pPr>
            <a:r>
              <a:rPr lang="en-US" sz="2000" b="1" dirty="0">
                <a:solidFill>
                  <a:srgbClr val="0B1437"/>
                </a:solidFill>
              </a:rPr>
              <a:t>Velocity</a:t>
            </a:r>
            <a:endParaRPr lang="en-US" sz="2000" dirty="0"/>
          </a:p>
        </p:txBody>
      </p:sp>
      <p:sp>
        <p:nvSpPr>
          <p:cNvPr id="13" name="Text 36"/>
          <p:cNvSpPr txBox="1"/>
          <p:nvPr/>
        </p:nvSpPr>
        <p:spPr>
          <a:xfrm>
            <a:off x="8042148" y="2880360"/>
            <a:ext cx="1499616" cy="548640"/>
          </a:xfrm>
          <a:prstGeom prst="rect">
            <a:avLst/>
          </a:prstGeom>
          <a:noFill/>
          <a:ln/>
        </p:spPr>
        <p:txBody>
          <a:bodyPr wrap="square" lIns="0" tIns="0" rIns="0" bIns="0" rtlCol="0" anchor="t"/>
          <a:lstStyle/>
          <a:p>
            <a:pPr indent="0" marL="0">
              <a:buNone/>
            </a:pPr>
            <a:r>
              <a:rPr lang="en-US" sz="1600" dirty="0">
                <a:solidFill>
                  <a:srgbClr val="1E293B"/>
                </a:solidFill>
              </a:rPr>
              <a:t>Arrives fast</a:t>
            </a:r>
            <a:endParaRPr lang="en-US" sz="1600" dirty="0"/>
          </a:p>
        </p:txBody>
      </p:sp>
      <p:sp>
        <p:nvSpPr>
          <p:cNvPr id="14" name="Text 37"/>
          <p:cNvSpPr txBox="1"/>
          <p:nvPr/>
        </p:nvSpPr>
        <p:spPr>
          <a:xfrm>
            <a:off x="8042148" y="3611880"/>
            <a:ext cx="1499616" cy="548640"/>
          </a:xfrm>
          <a:prstGeom prst="rect">
            <a:avLst/>
          </a:prstGeom>
          <a:noFill/>
          <a:ln/>
        </p:spPr>
        <p:txBody>
          <a:bodyPr wrap="square" lIns="0" tIns="0" rIns="0" bIns="0" rtlCol="0" anchor="t"/>
          <a:lstStyle/>
          <a:p>
            <a:pPr indent="0" marL="0">
              <a:buNone/>
            </a:pPr>
            <a:r>
              <a:rPr lang="en-US" sz="1200" dirty="0">
                <a:solidFill>
                  <a:srgbClr val="64748B"/>
                </a:solidFill>
              </a:rPr>
              <a:t>Clicks every second</a:t>
            </a:r>
            <a:endParaRPr lang="en-US" sz="1200" dirty="0"/>
          </a:p>
        </p:txBody>
      </p:sp>
      <p:sp>
        <p:nvSpPr>
          <p:cNvPr id="15" name="Box 38"/>
          <p:cNvSpPr/>
          <p:nvPr/>
        </p:nvSpPr>
        <p:spPr>
          <a:xfrm>
            <a:off x="9866376" y="2194560"/>
            <a:ext cx="1773936" cy="2194560"/>
          </a:xfrm>
          <a:prstGeom prst="roundRect">
            <a:avLst>
              <a:gd name="adj" fmla="val 5155"/>
            </a:avLst>
          </a:prstGeom>
          <a:solidFill>
            <a:srgbClr val="D1FAE5"/>
          </a:solidFill>
          <a:ln w="9525">
            <a:solidFill>
              <a:srgbClr val="10B981"/>
            </a:solidFill>
            <a:prstDash val="solid"/>
          </a:ln>
        </p:spPr>
      </p:sp>
      <p:sp>
        <p:nvSpPr>
          <p:cNvPr id="16" name="Text 39"/>
          <p:cNvSpPr txBox="1"/>
          <p:nvPr/>
        </p:nvSpPr>
        <p:spPr>
          <a:xfrm>
            <a:off x="10003536" y="2377440"/>
            <a:ext cx="1499616" cy="365760"/>
          </a:xfrm>
          <a:prstGeom prst="rect">
            <a:avLst/>
          </a:prstGeom>
          <a:noFill/>
          <a:ln/>
        </p:spPr>
        <p:txBody>
          <a:bodyPr wrap="square" lIns="0" tIns="0" rIns="0" bIns="0" rtlCol="0" anchor="t"/>
          <a:lstStyle/>
          <a:p>
            <a:pPr indent="0" marL="0">
              <a:buNone/>
            </a:pPr>
            <a:r>
              <a:rPr lang="en-US" sz="2000" b="1" dirty="0">
                <a:solidFill>
                  <a:srgbClr val="0B1437"/>
                </a:solidFill>
              </a:rPr>
              <a:t>Variety</a:t>
            </a:r>
            <a:endParaRPr lang="en-US" sz="2000" dirty="0"/>
          </a:p>
        </p:txBody>
      </p:sp>
      <p:sp>
        <p:nvSpPr>
          <p:cNvPr id="17" name="Text 40"/>
          <p:cNvSpPr txBox="1"/>
          <p:nvPr/>
        </p:nvSpPr>
        <p:spPr>
          <a:xfrm>
            <a:off x="10003536" y="2880360"/>
            <a:ext cx="1499616" cy="548640"/>
          </a:xfrm>
          <a:prstGeom prst="rect">
            <a:avLst/>
          </a:prstGeom>
          <a:noFill/>
          <a:ln/>
        </p:spPr>
        <p:txBody>
          <a:bodyPr wrap="square" lIns="0" tIns="0" rIns="0" bIns="0" rtlCol="0" anchor="t"/>
          <a:lstStyle/>
          <a:p>
            <a:pPr indent="0" marL="0">
              <a:buNone/>
            </a:pPr>
            <a:r>
              <a:rPr lang="en-US" sz="1600" dirty="0">
                <a:solidFill>
                  <a:srgbClr val="1E293B"/>
                </a:solidFill>
              </a:rPr>
              <a:t>Many formats</a:t>
            </a:r>
            <a:endParaRPr lang="en-US" sz="1600" dirty="0"/>
          </a:p>
        </p:txBody>
      </p:sp>
      <p:sp>
        <p:nvSpPr>
          <p:cNvPr id="18" name="Text 41"/>
          <p:cNvSpPr txBox="1"/>
          <p:nvPr/>
        </p:nvSpPr>
        <p:spPr>
          <a:xfrm>
            <a:off x="10003536" y="3611880"/>
            <a:ext cx="1499616" cy="548640"/>
          </a:xfrm>
          <a:prstGeom prst="rect">
            <a:avLst/>
          </a:prstGeom>
          <a:noFill/>
          <a:ln/>
        </p:spPr>
        <p:txBody>
          <a:bodyPr wrap="square" lIns="0" tIns="0" rIns="0" bIns="0" rtlCol="0" anchor="t"/>
          <a:lstStyle/>
          <a:p>
            <a:pPr indent="0" marL="0">
              <a:buNone/>
            </a:pPr>
            <a:r>
              <a:rPr lang="en-US" sz="1200" dirty="0">
                <a:solidFill>
                  <a:srgbClr val="64748B"/>
                </a:solidFill>
              </a:rPr>
              <a:t>Tables, JSON, CSV, logs</a:t>
            </a:r>
            <a:endParaRPr lang="en-US" sz="1200" dirty="0"/>
          </a:p>
        </p:txBody>
      </p:sp>
      <p:sp>
        <p:nvSpPr>
          <p:cNvPr id="19" name="Box 42"/>
          <p:cNvSpPr/>
          <p:nvPr/>
        </p:nvSpPr>
        <p:spPr>
          <a:xfrm>
            <a:off x="548640" y="5212080"/>
            <a:ext cx="11091672" cy="731520"/>
          </a:xfrm>
          <a:prstGeom prst="roundRect">
            <a:avLst>
              <a:gd name="adj" fmla="val 12500"/>
            </a:avLst>
          </a:prstGeom>
          <a:solidFill>
            <a:srgbClr val="E0F2FE"/>
          </a:solidFill>
          <a:ln w="9525">
            <a:solidFill>
              <a:srgbClr val="0EA5E9"/>
            </a:solidFill>
            <a:prstDash val="solid"/>
          </a:ln>
        </p:spPr>
      </p:sp>
      <p:sp>
        <p:nvSpPr>
          <p:cNvPr id="20" name="Text 43"/>
          <p:cNvSpPr txBox="1"/>
          <p:nvPr/>
        </p:nvSpPr>
        <p:spPr>
          <a:xfrm>
            <a:off x="777240" y="5212080"/>
            <a:ext cx="10607040" cy="731520"/>
          </a:xfrm>
          <a:prstGeom prst="rect">
            <a:avLst/>
          </a:prstGeom>
          <a:noFill/>
          <a:ln/>
        </p:spPr>
        <p:txBody>
          <a:bodyPr wrap="square" lIns="0" tIns="0" rIns="0" bIns="0" rtlCol="0" anchor="ctr"/>
          <a:lstStyle/>
          <a:p>
            <a:pPr indent="0" marL="0">
              <a:buNone/>
            </a:pPr>
            <a:r>
              <a:rPr lang="en-US" sz="1600" b="1" dirty="0">
                <a:solidFill>
                  <a:srgbClr val="0B1437"/>
                </a:solidFill>
              </a:rPr>
              <a:t>Example:  </a:t>
            </a:r>
            <a:pPr indent="0" marL="0">
              <a:buNone/>
            </a:pPr>
            <a:r>
              <a:rPr lang="en-US" sz="1600" dirty="0">
                <a:solidFill>
                  <a:srgbClr val="1E293B"/>
                </a:solidFill>
              </a:rPr>
              <a:t>an online store records millions of clicks, orders and payments every day.</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tag"/>
          <p:cNvSpPr txBox="1"/>
          <p:nvPr/>
        </p:nvSpPr>
        <p:spPr>
          <a:xfrm>
            <a:off x="548640" y="384048"/>
            <a:ext cx="1978762" cy="274320"/>
          </a:xfrm>
          <a:prstGeom prst="roundRect">
            <a:avLst>
              <a:gd name="adj" fmla="val 50000"/>
            </a:avLst>
          </a:prstGeom>
          <a:solidFill>
            <a:srgbClr val="0369A1"/>
          </a:solidFill>
          <a:ln w="9525">
            <a:solidFill>
              <a:srgbClr val="0369A1"/>
            </a:solidFill>
          </a:ln>
        </p:spPr>
        <p:txBody>
          <a:bodyPr wrap="square" lIns="0" tIns="0" rIns="0" bIns="0" rtlCol="0" anchor="ctr"/>
          <a:lstStyle/>
          <a:p>
            <a:pPr algn="ctr" indent="0" marL="0">
              <a:buNone/>
            </a:pPr>
            <a:r>
              <a:rPr lang="en-US" sz="1100" b="1" dirty="0">
                <a:solidFill>
                  <a:srgbClr val="FFFFFF"/>
                </a:solidFill>
              </a:rPr>
              <a:t>PART 1  ·  BASICS</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What is ETL?</a:t>
            </a:r>
            <a:endParaRPr lang="en-US" sz="3200" dirty="0"/>
          </a:p>
        </p:txBody>
      </p:sp>
      <p:sp>
        <p:nvSpPr>
          <p:cNvPr id="5" name="Box 44"/>
          <p:cNvSpPr/>
          <p:nvPr/>
        </p:nvSpPr>
        <p:spPr>
          <a:xfrm>
            <a:off x="548640" y="1783080"/>
            <a:ext cx="3108960" cy="2286000"/>
          </a:xfrm>
          <a:prstGeom prst="roundRect">
            <a:avLst>
              <a:gd name="adj" fmla="val 4000"/>
            </a:avLst>
          </a:prstGeom>
          <a:solidFill>
            <a:srgbClr val="E0F2FE"/>
          </a:solidFill>
          <a:ln w="9525">
            <a:solidFill>
              <a:srgbClr val="0EA5E9"/>
            </a:solidFill>
            <a:prstDash val="solid"/>
          </a:ln>
        </p:spPr>
      </p:sp>
      <p:sp>
        <p:nvSpPr>
          <p:cNvPr id="6" name="Text 45"/>
          <p:cNvSpPr txBox="1"/>
          <p:nvPr/>
        </p:nvSpPr>
        <p:spPr>
          <a:xfrm>
            <a:off x="777240" y="1965960"/>
            <a:ext cx="2651760" cy="457200"/>
          </a:xfrm>
          <a:prstGeom prst="rect">
            <a:avLst/>
          </a:prstGeom>
          <a:noFill/>
          <a:ln/>
        </p:spPr>
        <p:txBody>
          <a:bodyPr wrap="square" lIns="0" tIns="0" rIns="0" bIns="0" rtlCol="0" anchor="t"/>
          <a:lstStyle/>
          <a:p>
            <a:pPr indent="0" marL="0">
              <a:buNone/>
            </a:pPr>
            <a:r>
              <a:rPr lang="en-US" sz="2600" b="1" dirty="0">
                <a:solidFill>
                  <a:srgbClr val="0369A1"/>
                </a:solidFill>
              </a:rPr>
              <a:t>Extract</a:t>
            </a:r>
            <a:endParaRPr lang="en-US" sz="2600" dirty="0"/>
          </a:p>
        </p:txBody>
      </p:sp>
      <p:sp>
        <p:nvSpPr>
          <p:cNvPr id="7" name="Text 46"/>
          <p:cNvSpPr txBox="1"/>
          <p:nvPr/>
        </p:nvSpPr>
        <p:spPr>
          <a:xfrm>
            <a:off x="777240" y="2560320"/>
            <a:ext cx="2651760" cy="731520"/>
          </a:xfrm>
          <a:prstGeom prst="rect">
            <a:avLst/>
          </a:prstGeom>
          <a:noFill/>
          <a:ln/>
        </p:spPr>
        <p:txBody>
          <a:bodyPr wrap="square" lIns="0" tIns="0" rIns="0" bIns="0" rtlCol="0" anchor="t"/>
          <a:lstStyle/>
          <a:p>
            <a:pPr indent="0" marL="0">
              <a:buNone/>
            </a:pPr>
            <a:r>
              <a:rPr lang="en-US" sz="1800" dirty="0">
                <a:solidFill>
                  <a:srgbClr val="1E293B"/>
                </a:solidFill>
              </a:rPr>
              <a:t>Collect data from its sources</a:t>
            </a:r>
            <a:endParaRPr lang="en-US" sz="1800" dirty="0"/>
          </a:p>
        </p:txBody>
      </p:sp>
      <p:sp>
        <p:nvSpPr>
          <p:cNvPr id="8" name="Text 47"/>
          <p:cNvSpPr txBox="1"/>
          <p:nvPr/>
        </p:nvSpPr>
        <p:spPr>
          <a:xfrm>
            <a:off x="777240" y="3474720"/>
            <a:ext cx="2651760" cy="365760"/>
          </a:xfrm>
          <a:prstGeom prst="rect">
            <a:avLst/>
          </a:prstGeom>
          <a:noFill/>
          <a:ln/>
        </p:spPr>
        <p:txBody>
          <a:bodyPr wrap="square" lIns="0" tIns="0" rIns="0" bIns="0" rtlCol="0" anchor="t"/>
          <a:lstStyle/>
          <a:p>
            <a:pPr indent="0" marL="0">
              <a:buNone/>
            </a:pPr>
            <a:r>
              <a:rPr lang="en-US" sz="1400" i="1" dirty="0">
                <a:solidFill>
                  <a:srgbClr val="64748B"/>
                </a:solidFill>
              </a:rPr>
              <a:t>Like buying groceries</a:t>
            </a:r>
            <a:endParaRPr lang="en-US" sz="1400" dirty="0"/>
          </a:p>
        </p:txBody>
      </p:sp>
      <p:sp>
        <p:nvSpPr>
          <p:cNvPr id="9" name="Arrow 48"/>
          <p:cNvSpPr/>
          <p:nvPr/>
        </p:nvSpPr>
        <p:spPr>
          <a:xfrm>
            <a:off x="3657600" y="2926080"/>
            <a:ext cx="882396" cy="0"/>
          </a:xfrm>
          <a:prstGeom prst="line">
            <a:avLst/>
          </a:prstGeom>
          <a:noFill/>
          <a:ln w="25400">
            <a:solidFill>
              <a:srgbClr val="64748B"/>
            </a:solidFill>
            <a:prstDash val="solid"/>
            <a:tailEnd type="triangle"/>
          </a:ln>
        </p:spPr>
      </p:sp>
      <p:sp>
        <p:nvSpPr>
          <p:cNvPr id="10" name="Box 49"/>
          <p:cNvSpPr/>
          <p:nvPr/>
        </p:nvSpPr>
        <p:spPr>
          <a:xfrm>
            <a:off x="4539996" y="1783080"/>
            <a:ext cx="3108960" cy="2286000"/>
          </a:xfrm>
          <a:prstGeom prst="roundRect">
            <a:avLst>
              <a:gd name="adj" fmla="val 4000"/>
            </a:avLst>
          </a:prstGeom>
          <a:solidFill>
            <a:srgbClr val="FEF3C7"/>
          </a:solidFill>
          <a:ln w="9525">
            <a:solidFill>
              <a:srgbClr val="F59E0B"/>
            </a:solidFill>
            <a:prstDash val="solid"/>
          </a:ln>
        </p:spPr>
      </p:sp>
      <p:sp>
        <p:nvSpPr>
          <p:cNvPr id="11" name="Text 50"/>
          <p:cNvSpPr txBox="1"/>
          <p:nvPr/>
        </p:nvSpPr>
        <p:spPr>
          <a:xfrm>
            <a:off x="4768596" y="1965960"/>
            <a:ext cx="2651760" cy="457200"/>
          </a:xfrm>
          <a:prstGeom prst="rect">
            <a:avLst/>
          </a:prstGeom>
          <a:noFill/>
          <a:ln/>
        </p:spPr>
        <p:txBody>
          <a:bodyPr wrap="square" lIns="0" tIns="0" rIns="0" bIns="0" rtlCol="0" anchor="t"/>
          <a:lstStyle/>
          <a:p>
            <a:pPr indent="0" marL="0">
              <a:buNone/>
            </a:pPr>
            <a:r>
              <a:rPr lang="en-US" sz="2600" b="1" dirty="0">
                <a:solidFill>
                  <a:srgbClr val="B45309"/>
                </a:solidFill>
              </a:rPr>
              <a:t>Transform</a:t>
            </a:r>
            <a:endParaRPr lang="en-US" sz="2600" dirty="0"/>
          </a:p>
        </p:txBody>
      </p:sp>
      <p:sp>
        <p:nvSpPr>
          <p:cNvPr id="12" name="Text 51"/>
          <p:cNvSpPr txBox="1"/>
          <p:nvPr/>
        </p:nvSpPr>
        <p:spPr>
          <a:xfrm>
            <a:off x="4768596" y="2560320"/>
            <a:ext cx="2651760" cy="731520"/>
          </a:xfrm>
          <a:prstGeom prst="rect">
            <a:avLst/>
          </a:prstGeom>
          <a:noFill/>
          <a:ln/>
        </p:spPr>
        <p:txBody>
          <a:bodyPr wrap="square" lIns="0" tIns="0" rIns="0" bIns="0" rtlCol="0" anchor="t"/>
          <a:lstStyle/>
          <a:p>
            <a:pPr indent="0" marL="0">
              <a:buNone/>
            </a:pPr>
            <a:r>
              <a:rPr lang="en-US" sz="1800" dirty="0">
                <a:solidFill>
                  <a:srgbClr val="1E293B"/>
                </a:solidFill>
              </a:rPr>
              <a:t>Clean, fix and combine the data</a:t>
            </a:r>
            <a:endParaRPr lang="en-US" sz="1800" dirty="0"/>
          </a:p>
        </p:txBody>
      </p:sp>
      <p:sp>
        <p:nvSpPr>
          <p:cNvPr id="13" name="Text 52"/>
          <p:cNvSpPr txBox="1"/>
          <p:nvPr/>
        </p:nvSpPr>
        <p:spPr>
          <a:xfrm>
            <a:off x="4768596" y="3474720"/>
            <a:ext cx="2651760" cy="365760"/>
          </a:xfrm>
          <a:prstGeom prst="rect">
            <a:avLst/>
          </a:prstGeom>
          <a:noFill/>
          <a:ln/>
        </p:spPr>
        <p:txBody>
          <a:bodyPr wrap="square" lIns="0" tIns="0" rIns="0" bIns="0" rtlCol="0" anchor="t"/>
          <a:lstStyle/>
          <a:p>
            <a:pPr indent="0" marL="0">
              <a:buNone/>
            </a:pPr>
            <a:r>
              <a:rPr lang="en-US" sz="1400" i="1" dirty="0">
                <a:solidFill>
                  <a:srgbClr val="64748B"/>
                </a:solidFill>
              </a:rPr>
              <a:t>Like washing and cooking</a:t>
            </a:r>
            <a:endParaRPr lang="en-US" sz="1400" dirty="0"/>
          </a:p>
        </p:txBody>
      </p:sp>
      <p:sp>
        <p:nvSpPr>
          <p:cNvPr id="14" name="Arrow 53"/>
          <p:cNvSpPr/>
          <p:nvPr/>
        </p:nvSpPr>
        <p:spPr>
          <a:xfrm>
            <a:off x="7648956" y="2926080"/>
            <a:ext cx="882396" cy="0"/>
          </a:xfrm>
          <a:prstGeom prst="line">
            <a:avLst/>
          </a:prstGeom>
          <a:noFill/>
          <a:ln w="25400">
            <a:solidFill>
              <a:srgbClr val="64748B"/>
            </a:solidFill>
            <a:prstDash val="solid"/>
            <a:tailEnd type="triangle"/>
          </a:ln>
        </p:spPr>
      </p:sp>
      <p:sp>
        <p:nvSpPr>
          <p:cNvPr id="15" name="Box 54"/>
          <p:cNvSpPr/>
          <p:nvPr/>
        </p:nvSpPr>
        <p:spPr>
          <a:xfrm>
            <a:off x="8531352" y="1783080"/>
            <a:ext cx="3108960" cy="2286000"/>
          </a:xfrm>
          <a:prstGeom prst="roundRect">
            <a:avLst>
              <a:gd name="adj" fmla="val 4000"/>
            </a:avLst>
          </a:prstGeom>
          <a:solidFill>
            <a:srgbClr val="D1FAE5"/>
          </a:solidFill>
          <a:ln w="9525">
            <a:solidFill>
              <a:srgbClr val="10B981"/>
            </a:solidFill>
            <a:prstDash val="solid"/>
          </a:ln>
        </p:spPr>
      </p:sp>
      <p:sp>
        <p:nvSpPr>
          <p:cNvPr id="16" name="Text 55"/>
          <p:cNvSpPr txBox="1"/>
          <p:nvPr/>
        </p:nvSpPr>
        <p:spPr>
          <a:xfrm>
            <a:off x="8759952" y="1965960"/>
            <a:ext cx="2651760" cy="457200"/>
          </a:xfrm>
          <a:prstGeom prst="rect">
            <a:avLst/>
          </a:prstGeom>
          <a:noFill/>
          <a:ln/>
        </p:spPr>
        <p:txBody>
          <a:bodyPr wrap="square" lIns="0" tIns="0" rIns="0" bIns="0" rtlCol="0" anchor="t"/>
          <a:lstStyle/>
          <a:p>
            <a:pPr indent="0" marL="0">
              <a:buNone/>
            </a:pPr>
            <a:r>
              <a:rPr lang="en-US" sz="2600" b="1" dirty="0">
                <a:solidFill>
                  <a:srgbClr val="047857"/>
                </a:solidFill>
              </a:rPr>
              <a:t>Load</a:t>
            </a:r>
            <a:endParaRPr lang="en-US" sz="2600" dirty="0"/>
          </a:p>
        </p:txBody>
      </p:sp>
      <p:sp>
        <p:nvSpPr>
          <p:cNvPr id="17" name="Text 56"/>
          <p:cNvSpPr txBox="1"/>
          <p:nvPr/>
        </p:nvSpPr>
        <p:spPr>
          <a:xfrm>
            <a:off x="8759952" y="2560320"/>
            <a:ext cx="2651760" cy="731520"/>
          </a:xfrm>
          <a:prstGeom prst="rect">
            <a:avLst/>
          </a:prstGeom>
          <a:noFill/>
          <a:ln/>
        </p:spPr>
        <p:txBody>
          <a:bodyPr wrap="square" lIns="0" tIns="0" rIns="0" bIns="0" rtlCol="0" anchor="t"/>
          <a:lstStyle/>
          <a:p>
            <a:pPr indent="0" marL="0">
              <a:buNone/>
            </a:pPr>
            <a:r>
              <a:rPr lang="en-US" sz="1800" dirty="0">
                <a:solidFill>
                  <a:srgbClr val="1E293B"/>
                </a:solidFill>
              </a:rPr>
              <a:t>Put the result where people can use it</a:t>
            </a:r>
            <a:endParaRPr lang="en-US" sz="1800" dirty="0"/>
          </a:p>
        </p:txBody>
      </p:sp>
      <p:sp>
        <p:nvSpPr>
          <p:cNvPr id="18" name="Text 57"/>
          <p:cNvSpPr txBox="1"/>
          <p:nvPr/>
        </p:nvSpPr>
        <p:spPr>
          <a:xfrm>
            <a:off x="8759952" y="3474720"/>
            <a:ext cx="2651760" cy="365760"/>
          </a:xfrm>
          <a:prstGeom prst="rect">
            <a:avLst/>
          </a:prstGeom>
          <a:noFill/>
          <a:ln/>
        </p:spPr>
        <p:txBody>
          <a:bodyPr wrap="square" lIns="0" tIns="0" rIns="0" bIns="0" rtlCol="0" anchor="t"/>
          <a:lstStyle/>
          <a:p>
            <a:pPr indent="0" marL="0">
              <a:buNone/>
            </a:pPr>
            <a:r>
              <a:rPr lang="en-US" sz="1400" i="1" dirty="0">
                <a:solidFill>
                  <a:srgbClr val="64748B"/>
                </a:solidFill>
              </a:rPr>
              <a:t>Like serving the meal</a:t>
            </a:r>
            <a:endParaRPr lang="en-US" sz="1400" dirty="0"/>
          </a:p>
        </p:txBody>
      </p:sp>
      <p:sp>
        <p:nvSpPr>
          <p:cNvPr id="19" name="Card 58"/>
          <p:cNvSpPr txBox="1"/>
          <p:nvPr/>
        </p:nvSpPr>
        <p:spPr>
          <a:xfrm>
            <a:off x="548640" y="4389120"/>
            <a:ext cx="5440680" cy="1051560"/>
          </a:xfrm>
          <a:prstGeom prst="roundRect">
            <a:avLst>
              <a:gd name="adj" fmla="val 8696"/>
            </a:avLst>
          </a:prstGeom>
          <a:solidFill>
            <a:srgbClr val="F1F5F9"/>
          </a:solidFill>
          <a:ln w="9525">
            <a:solidFill>
              <a:srgbClr val="CBD5E1"/>
            </a:solidFill>
          </a:ln>
        </p:spPr>
        <p:txBody>
          <a:bodyPr wrap="square" lIns="177800" tIns="177800" rIns="177800" bIns="177800" rtlCol="0" anchor="ctr"/>
          <a:lstStyle/>
          <a:p>
            <a:pPr algn="l" indent="0" marL="0">
              <a:buNone/>
            </a:pPr>
            <a:r>
              <a:rPr lang="en-US" sz="1800" b="1" dirty="0">
                <a:solidFill>
                  <a:srgbClr val="0B1437"/>
                </a:solidFill>
              </a:rPr>
              <a:t>ETL</a:t>
            </a:r>
            <a:endParaRPr lang="en-US" sz="1400" dirty="0"/>
          </a:p>
          <a:p>
            <a:pPr algn="l" indent="0" marL="0">
              <a:buNone/>
            </a:pPr>
            <a:r>
              <a:rPr lang="en-US" sz="1400" dirty="0">
                <a:solidFill>
                  <a:srgbClr val="1E293B"/>
                </a:solidFill>
              </a:rPr>
              <a:t>Transform first, then load clean data into the target.</a:t>
            </a:r>
            <a:endParaRPr lang="en-US" sz="1400" dirty="0"/>
          </a:p>
        </p:txBody>
      </p:sp>
      <p:sp>
        <p:nvSpPr>
          <p:cNvPr id="20" name="Card 59"/>
          <p:cNvSpPr txBox="1"/>
          <p:nvPr/>
        </p:nvSpPr>
        <p:spPr>
          <a:xfrm>
            <a:off x="6199632" y="4389120"/>
            <a:ext cx="5440680" cy="1051560"/>
          </a:xfrm>
          <a:prstGeom prst="roundRect">
            <a:avLst>
              <a:gd name="adj" fmla="val 8696"/>
            </a:avLst>
          </a:prstGeom>
          <a:solidFill>
            <a:srgbClr val="F1F5F9"/>
          </a:solidFill>
          <a:ln w="9525">
            <a:solidFill>
              <a:srgbClr val="CBD5E1"/>
            </a:solidFill>
          </a:ln>
        </p:spPr>
        <p:txBody>
          <a:bodyPr wrap="square" lIns="177800" tIns="177800" rIns="177800" bIns="177800" rtlCol="0" anchor="ctr"/>
          <a:lstStyle/>
          <a:p>
            <a:pPr algn="l" indent="0" marL="0">
              <a:buNone/>
            </a:pPr>
            <a:r>
              <a:rPr lang="en-US" sz="1800" b="1" dirty="0">
                <a:solidFill>
                  <a:srgbClr val="0B1437"/>
                </a:solidFill>
              </a:rPr>
              <a:t>ELT</a:t>
            </a:r>
            <a:endParaRPr lang="en-US" sz="1400" dirty="0"/>
          </a:p>
          <a:p>
            <a:pPr algn="l" indent="0" marL="0">
              <a:buNone/>
            </a:pPr>
            <a:r>
              <a:rPr lang="en-US" sz="1400" dirty="0">
                <a:solidFill>
                  <a:srgbClr val="1E293B"/>
                </a:solidFill>
              </a:rPr>
              <a:t>Load raw data first, then transform it inside the storage or engine.</a:t>
            </a:r>
            <a:endParaRPr lang="en-US" sz="1400" dirty="0"/>
          </a:p>
        </p:txBody>
      </p:sp>
      <p:sp>
        <p:nvSpPr>
          <p:cNvPr id="21" name="Text 60"/>
          <p:cNvSpPr txBox="1"/>
          <p:nvPr/>
        </p:nvSpPr>
        <p:spPr>
          <a:xfrm>
            <a:off x="548640" y="5715000"/>
            <a:ext cx="10058400" cy="274320"/>
          </a:xfrm>
          <a:prstGeom prst="rect">
            <a:avLst/>
          </a:prstGeom>
          <a:noFill/>
          <a:ln/>
        </p:spPr>
        <p:txBody>
          <a:bodyPr wrap="square" lIns="0" tIns="0" rIns="0" bIns="0" rtlCol="0" anchor="t"/>
          <a:lstStyle/>
          <a:p>
            <a:pPr indent="0" marL="0">
              <a:buNone/>
            </a:pPr>
            <a:r>
              <a:rPr lang="en-US" sz="1400" dirty="0">
                <a:solidFill>
                  <a:srgbClr val="64748B"/>
                </a:solidFill>
              </a:rPr>
              <a:t>Our example pipeline mixes both: raw data lands first, then Spark transforms it.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rt tag"/>
          <p:cNvSpPr txBox="1"/>
          <p:nvPr/>
        </p:nvSpPr>
        <p:spPr>
          <a:xfrm>
            <a:off x="548640" y="384048"/>
            <a:ext cx="1978762" cy="274320"/>
          </a:xfrm>
          <a:prstGeom prst="roundRect">
            <a:avLst>
              <a:gd name="adj" fmla="val 50000"/>
            </a:avLst>
          </a:prstGeom>
          <a:solidFill>
            <a:srgbClr val="0369A1"/>
          </a:solidFill>
          <a:ln w="9525">
            <a:solidFill>
              <a:srgbClr val="0369A1"/>
            </a:solidFill>
          </a:ln>
        </p:spPr>
        <p:txBody>
          <a:bodyPr wrap="square" lIns="0" tIns="0" rIns="0" bIns="0" rtlCol="0" anchor="ctr"/>
          <a:lstStyle/>
          <a:p>
            <a:pPr algn="ctr" indent="0" marL="0">
              <a:buNone/>
            </a:pPr>
            <a:r>
              <a:rPr lang="en-US" sz="1100" b="1" dirty="0">
                <a:solidFill>
                  <a:srgbClr val="FFFFFF"/>
                </a:solidFill>
              </a:rPr>
              <a:t>PART 1  ·  BASICS</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Our example: ShopEasy online store</a:t>
            </a:r>
            <a:endParaRPr lang="en-US" sz="3200" dirty="0"/>
          </a:p>
        </p:txBody>
      </p:sp>
      <p:sp>
        <p:nvSpPr>
          <p:cNvPr id="5" name="Text 61"/>
          <p:cNvSpPr txBox="1"/>
          <p:nvPr/>
        </p:nvSpPr>
        <p:spPr>
          <a:xfrm>
            <a:off x="548640" y="1783080"/>
            <a:ext cx="5394960" cy="274320"/>
          </a:xfrm>
          <a:prstGeom prst="rect">
            <a:avLst/>
          </a:prstGeom>
          <a:noFill/>
          <a:ln/>
        </p:spPr>
        <p:txBody>
          <a:bodyPr wrap="square" lIns="0" tIns="0" rIns="0" bIns="0" rtlCol="0" anchor="t"/>
          <a:lstStyle/>
          <a:p>
            <a:pPr indent="0" marL="0">
              <a:buNone/>
            </a:pPr>
            <a:r>
              <a:rPr lang="en-US" sz="1400" b="1" dirty="0">
                <a:solidFill>
                  <a:srgbClr val="64748B"/>
                </a:solidFill>
              </a:rPr>
              <a:t>Where the data comes from</a:t>
            </a:r>
            <a:endParaRPr lang="en-US" sz="1400" dirty="0"/>
          </a:p>
        </p:txBody>
      </p:sp>
      <p:sp>
        <p:nvSpPr>
          <p:cNvPr id="6" name="Card 62"/>
          <p:cNvSpPr txBox="1"/>
          <p:nvPr/>
        </p:nvSpPr>
        <p:spPr>
          <a:xfrm>
            <a:off x="548640" y="2103120"/>
            <a:ext cx="5394960" cy="914400"/>
          </a:xfrm>
          <a:prstGeom prst="roundRect">
            <a:avLst>
              <a:gd name="adj" fmla="val 10000"/>
            </a:avLst>
          </a:prstGeom>
          <a:solidFill>
            <a:srgbClr val="F1F5F9"/>
          </a:solidFill>
          <a:ln w="9525">
            <a:solidFill>
              <a:srgbClr val="CBD5E1"/>
            </a:solidFill>
          </a:ln>
        </p:spPr>
        <p:txBody>
          <a:bodyPr wrap="square" lIns="177800" tIns="177800" rIns="177800" bIns="177800" rtlCol="0" anchor="ctr"/>
          <a:lstStyle/>
          <a:p>
            <a:pPr algn="l" indent="0" marL="0">
              <a:buNone/>
            </a:pPr>
            <a:r>
              <a:rPr lang="en-US" sz="1600" b="1" dirty="0">
                <a:solidFill>
                  <a:srgbClr val="0B1437"/>
                </a:solidFill>
              </a:rPr>
              <a:t>Orders database (MySQL)</a:t>
            </a:r>
            <a:endParaRPr lang="en-US" sz="1400" dirty="0"/>
          </a:p>
          <a:p>
            <a:pPr algn="l" indent="0" marL="0">
              <a:buNone/>
            </a:pPr>
            <a:r>
              <a:rPr lang="en-US" sz="1400" dirty="0">
                <a:solidFill>
                  <a:srgbClr val="1E293B"/>
                </a:solidFill>
              </a:rPr>
              <a:t>Who bought what, when and for how much</a:t>
            </a:r>
            <a:endParaRPr lang="en-US" sz="1400" dirty="0"/>
          </a:p>
        </p:txBody>
      </p:sp>
      <p:sp>
        <p:nvSpPr>
          <p:cNvPr id="7" name="Card 63"/>
          <p:cNvSpPr txBox="1"/>
          <p:nvPr/>
        </p:nvSpPr>
        <p:spPr>
          <a:xfrm>
            <a:off x="548640" y="3200400"/>
            <a:ext cx="5394960" cy="914400"/>
          </a:xfrm>
          <a:prstGeom prst="roundRect">
            <a:avLst>
              <a:gd name="adj" fmla="val 10000"/>
            </a:avLst>
          </a:prstGeom>
          <a:solidFill>
            <a:srgbClr val="F1F5F9"/>
          </a:solidFill>
          <a:ln w="9525">
            <a:solidFill>
              <a:srgbClr val="CBD5E1"/>
            </a:solidFill>
          </a:ln>
        </p:spPr>
        <p:txBody>
          <a:bodyPr wrap="square" lIns="177800" tIns="177800" rIns="177800" bIns="177800" rtlCol="0" anchor="ctr"/>
          <a:lstStyle/>
          <a:p>
            <a:pPr algn="l" indent="0" marL="0">
              <a:buNone/>
            </a:pPr>
            <a:r>
              <a:rPr lang="en-US" sz="1600" b="1" dirty="0">
                <a:solidFill>
                  <a:srgbClr val="0B1437"/>
                </a:solidFill>
              </a:rPr>
              <a:t>Website click logs (JSON)</a:t>
            </a:r>
            <a:endParaRPr lang="en-US" sz="1400" dirty="0"/>
          </a:p>
          <a:p>
            <a:pPr algn="l" indent="0" marL="0">
              <a:buNone/>
            </a:pPr>
            <a:r>
              <a:rPr lang="en-US" sz="1400" dirty="0">
                <a:solidFill>
                  <a:srgbClr val="1E293B"/>
                </a:solidFill>
              </a:rPr>
              <a:t>Which pages and products people view</a:t>
            </a:r>
            <a:endParaRPr lang="en-US" sz="1400" dirty="0"/>
          </a:p>
        </p:txBody>
      </p:sp>
      <p:sp>
        <p:nvSpPr>
          <p:cNvPr id="8" name="Card 64"/>
          <p:cNvSpPr txBox="1"/>
          <p:nvPr/>
        </p:nvSpPr>
        <p:spPr>
          <a:xfrm>
            <a:off x="548640" y="4297680"/>
            <a:ext cx="5394960" cy="914400"/>
          </a:xfrm>
          <a:prstGeom prst="roundRect">
            <a:avLst>
              <a:gd name="adj" fmla="val 10000"/>
            </a:avLst>
          </a:prstGeom>
          <a:solidFill>
            <a:srgbClr val="F1F5F9"/>
          </a:solidFill>
          <a:ln w="9525">
            <a:solidFill>
              <a:srgbClr val="CBD5E1"/>
            </a:solidFill>
          </a:ln>
        </p:spPr>
        <p:txBody>
          <a:bodyPr wrap="square" lIns="177800" tIns="177800" rIns="177800" bIns="177800" rtlCol="0" anchor="ctr"/>
          <a:lstStyle/>
          <a:p>
            <a:pPr algn="l" indent="0" marL="0">
              <a:buNone/>
            </a:pPr>
            <a:r>
              <a:rPr lang="en-US" sz="1600" b="1" dirty="0">
                <a:solidFill>
                  <a:srgbClr val="0B1437"/>
                </a:solidFill>
              </a:rPr>
              <a:t>Payment files (CSV)</a:t>
            </a:r>
            <a:endParaRPr lang="en-US" sz="1400" dirty="0"/>
          </a:p>
          <a:p>
            <a:pPr algn="l" indent="0" marL="0">
              <a:buNone/>
            </a:pPr>
            <a:r>
              <a:rPr lang="en-US" sz="1400" dirty="0">
                <a:solidFill>
                  <a:srgbClr val="1E293B"/>
                </a:solidFill>
              </a:rPr>
              <a:t>Daily files from the payment partner</a:t>
            </a:r>
            <a:endParaRPr lang="en-US" sz="1400" dirty="0"/>
          </a:p>
        </p:txBody>
      </p:sp>
      <p:sp>
        <p:nvSpPr>
          <p:cNvPr id="9" name="Arrow 65"/>
          <p:cNvSpPr/>
          <p:nvPr/>
        </p:nvSpPr>
        <p:spPr>
          <a:xfrm>
            <a:off x="6080760" y="3657600"/>
            <a:ext cx="640080" cy="0"/>
          </a:xfrm>
          <a:prstGeom prst="line">
            <a:avLst/>
          </a:prstGeom>
          <a:noFill/>
          <a:ln w="25400">
            <a:solidFill>
              <a:srgbClr val="64748B"/>
            </a:solidFill>
            <a:prstDash val="solid"/>
            <a:tailEnd type="triangle"/>
          </a:ln>
        </p:spPr>
      </p:sp>
      <p:sp>
        <p:nvSpPr>
          <p:cNvPr id="10" name="Text 66"/>
          <p:cNvSpPr txBox="1"/>
          <p:nvPr/>
        </p:nvSpPr>
        <p:spPr>
          <a:xfrm>
            <a:off x="6858000" y="1783080"/>
            <a:ext cx="4754880" cy="274320"/>
          </a:xfrm>
          <a:prstGeom prst="rect">
            <a:avLst/>
          </a:prstGeom>
          <a:noFill/>
          <a:ln/>
        </p:spPr>
        <p:txBody>
          <a:bodyPr wrap="square" lIns="0" tIns="0" rIns="0" bIns="0" rtlCol="0" anchor="t"/>
          <a:lstStyle/>
          <a:p>
            <a:pPr indent="0" marL="0">
              <a:buNone/>
            </a:pPr>
            <a:r>
              <a:rPr lang="en-US" sz="1400" b="1" dirty="0">
                <a:solidFill>
                  <a:srgbClr val="64748B"/>
                </a:solidFill>
              </a:rPr>
              <a:t>What the business wants</a:t>
            </a:r>
            <a:endParaRPr lang="en-US" sz="1400" dirty="0"/>
          </a:p>
        </p:txBody>
      </p:sp>
      <p:sp>
        <p:nvSpPr>
          <p:cNvPr id="11" name="Card 67"/>
          <p:cNvSpPr txBox="1"/>
          <p:nvPr/>
        </p:nvSpPr>
        <p:spPr>
          <a:xfrm>
            <a:off x="6858000" y="2103120"/>
            <a:ext cx="4782312" cy="1463040"/>
          </a:xfrm>
          <a:prstGeom prst="roundRect">
            <a:avLst>
              <a:gd name="adj" fmla="val 6250"/>
            </a:avLst>
          </a:prstGeom>
          <a:solidFill>
            <a:srgbClr val="FEF3C7"/>
          </a:solidFill>
          <a:ln w="9525">
            <a:solidFill>
              <a:srgbClr val="FDE68A"/>
            </a:solidFill>
          </a:ln>
        </p:spPr>
        <p:txBody>
          <a:bodyPr wrap="square" lIns="228600" tIns="228600" rIns="228600" bIns="228600" rtlCol="0" anchor="ctr"/>
          <a:lstStyle/>
          <a:p>
            <a:pPr algn="l" indent="0" marL="0">
              <a:buNone/>
            </a:pPr>
            <a:r>
              <a:rPr lang="en-US" sz="1800" b="1" dirty="0">
                <a:solidFill>
                  <a:srgbClr val="0B1437"/>
                </a:solidFill>
              </a:rPr>
              <a:t>1   Daily sales dashboard</a:t>
            </a:r>
            <a:endParaRPr lang="en-US" sz="1400" dirty="0"/>
          </a:p>
          <a:p>
            <a:pPr algn="l" indent="0" marL="0">
              <a:buNone/>
            </a:pPr>
            <a:r>
              <a:rPr lang="en-US" sz="1400" dirty="0">
                <a:solidFill>
                  <a:srgbClr val="1E293B"/>
                </a:solidFill>
              </a:rPr>
              <a:t>See sales by product and city in seconds</a:t>
            </a:r>
            <a:endParaRPr lang="en-US" sz="1400" dirty="0"/>
          </a:p>
        </p:txBody>
      </p:sp>
      <p:sp>
        <p:nvSpPr>
          <p:cNvPr id="12" name="Card 68"/>
          <p:cNvSpPr txBox="1"/>
          <p:nvPr/>
        </p:nvSpPr>
        <p:spPr>
          <a:xfrm>
            <a:off x="6858000" y="3749040"/>
            <a:ext cx="4782312" cy="1463040"/>
          </a:xfrm>
          <a:prstGeom prst="roundRect">
            <a:avLst>
              <a:gd name="adj" fmla="val 6250"/>
            </a:avLst>
          </a:prstGeom>
          <a:solidFill>
            <a:srgbClr val="FEF3C7"/>
          </a:solidFill>
          <a:ln w="9525">
            <a:solidFill>
              <a:srgbClr val="FDE68A"/>
            </a:solidFill>
          </a:ln>
        </p:spPr>
        <p:txBody>
          <a:bodyPr wrap="square" lIns="228600" tIns="228600" rIns="228600" bIns="228600" rtlCol="0" anchor="ctr"/>
          <a:lstStyle/>
          <a:p>
            <a:pPr algn="l" indent="0" marL="0">
              <a:buNone/>
            </a:pPr>
            <a:r>
              <a:rPr lang="en-US" sz="1800" b="1" dirty="0">
                <a:solidFill>
                  <a:srgbClr val="0B1437"/>
                </a:solidFill>
              </a:rPr>
              <a:t>2   Product recommendations</a:t>
            </a:r>
            <a:endParaRPr lang="en-US" sz="1400" dirty="0"/>
          </a:p>
          <a:p>
            <a:pPr algn="l" indent="0" marL="0">
              <a:buNone/>
            </a:pPr>
            <a:r>
              <a:rPr lang="en-US" sz="1400" dirty="0">
                <a:solidFill>
                  <a:srgbClr val="1E293B"/>
                </a:solidFill>
              </a:rPr>
              <a:t>“Customers who bought this also bought…”</a:t>
            </a:r>
            <a:endParaRPr lang="en-US" sz="1400" dirty="0"/>
          </a:p>
        </p:txBody>
      </p:sp>
      <p:sp>
        <p:nvSpPr>
          <p:cNvPr id="13" name="Box 69"/>
          <p:cNvSpPr/>
          <p:nvPr/>
        </p:nvSpPr>
        <p:spPr>
          <a:xfrm>
            <a:off x="548640" y="5486400"/>
            <a:ext cx="11091672" cy="640080"/>
          </a:xfrm>
          <a:prstGeom prst="roundRect">
            <a:avLst>
              <a:gd name="adj" fmla="val 14286"/>
            </a:avLst>
          </a:prstGeom>
          <a:solidFill>
            <a:srgbClr val="E0F2FE"/>
          </a:solidFill>
          <a:ln w="9525">
            <a:solidFill>
              <a:srgbClr val="0EA5E9"/>
            </a:solidFill>
            <a:prstDash val="solid"/>
          </a:ln>
        </p:spPr>
      </p:sp>
      <p:sp>
        <p:nvSpPr>
          <p:cNvPr id="14" name="Text 70"/>
          <p:cNvSpPr txBox="1"/>
          <p:nvPr/>
        </p:nvSpPr>
        <p:spPr>
          <a:xfrm>
            <a:off x="777240" y="5486400"/>
            <a:ext cx="10607040" cy="640080"/>
          </a:xfrm>
          <a:prstGeom prst="rect">
            <a:avLst/>
          </a:prstGeom>
          <a:noFill/>
          <a:ln/>
        </p:spPr>
        <p:txBody>
          <a:bodyPr wrap="square" lIns="0" tIns="0" rIns="0" bIns="0" rtlCol="0" anchor="ctr"/>
          <a:lstStyle/>
          <a:p>
            <a:pPr indent="0" marL="0">
              <a:buNone/>
            </a:pPr>
            <a:r>
              <a:rPr lang="en-US" sz="1600" b="1" dirty="0">
                <a:solidFill>
                  <a:srgbClr val="0B1437"/>
                </a:solidFill>
              </a:rPr>
              <a:t>The problem:  </a:t>
            </a:r>
            <a:pPr indent="0" marL="0">
              <a:buNone/>
            </a:pPr>
            <a:r>
              <a:rPr lang="en-US" sz="1600" dirty="0">
                <a:solidFill>
                  <a:srgbClr val="1E293B"/>
                </a:solidFill>
              </a:rPr>
              <a:t>data is scattered in 3 places and 3 formats. We need a pipeline to bring it together.</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rt tag"/>
          <p:cNvSpPr txBox="1"/>
          <p:nvPr/>
        </p:nvSpPr>
        <p:spPr>
          <a:xfrm>
            <a:off x="548640" y="384048"/>
            <a:ext cx="2483510" cy="274320"/>
          </a:xfrm>
          <a:prstGeom prst="roundRect">
            <a:avLst>
              <a:gd name="adj" fmla="val 50000"/>
            </a:avLst>
          </a:prstGeom>
          <a:solidFill>
            <a:srgbClr val="6D28D9"/>
          </a:solidFill>
          <a:ln w="9525">
            <a:solidFill>
              <a:srgbClr val="6D28D9"/>
            </a:solidFill>
          </a:ln>
        </p:spPr>
        <p:txBody>
          <a:bodyPr wrap="square" lIns="0" tIns="0" rIns="0" bIns="0" rtlCol="0" anchor="ctr"/>
          <a:lstStyle/>
          <a:p>
            <a:pPr algn="ctr" indent="0" marL="0">
              <a:buNone/>
            </a:pPr>
            <a:r>
              <a:rPr lang="en-US" sz="1100" b="1" dirty="0">
                <a:solidFill>
                  <a:srgbClr val="FFFFFF"/>
                </a:solidFill>
              </a:rPr>
              <a:t>PART 2  ·  ARCHITECTURE</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ETL pipeline architecture</a:t>
            </a:r>
            <a:endParaRPr lang="en-US" sz="3200" dirty="0"/>
          </a:p>
        </p:txBody>
      </p:sp>
      <p:sp>
        <p:nvSpPr>
          <p:cNvPr id="5" name="Text 71"/>
          <p:cNvSpPr txBox="1"/>
          <p:nvPr/>
        </p:nvSpPr>
        <p:spPr>
          <a:xfrm>
            <a:off x="548640" y="1554480"/>
            <a:ext cx="1874520" cy="228600"/>
          </a:xfrm>
          <a:prstGeom prst="rect">
            <a:avLst/>
          </a:prstGeom>
          <a:noFill/>
          <a:ln/>
        </p:spPr>
        <p:txBody>
          <a:bodyPr wrap="square" lIns="0" tIns="0" rIns="0" bIns="0" rtlCol="0" anchor="t"/>
          <a:lstStyle/>
          <a:p>
            <a:pPr algn="ctr" indent="0" marL="0">
              <a:buNone/>
            </a:pPr>
            <a:r>
              <a:rPr lang="en-US" sz="1200" b="1" spc="100" kern="0" dirty="0">
                <a:solidFill>
                  <a:srgbClr val="64748B"/>
                </a:solidFill>
              </a:rPr>
              <a:t>SOURCES</a:t>
            </a:r>
            <a:endParaRPr lang="en-US" sz="1200" dirty="0"/>
          </a:p>
        </p:txBody>
      </p:sp>
      <p:sp>
        <p:nvSpPr>
          <p:cNvPr id="6" name="Card 72"/>
          <p:cNvSpPr txBox="1"/>
          <p:nvPr/>
        </p:nvSpPr>
        <p:spPr>
          <a:xfrm>
            <a:off x="548640" y="1828800"/>
            <a:ext cx="1874520" cy="1234440"/>
          </a:xfrm>
          <a:prstGeom prst="roundRect">
            <a:avLst>
              <a:gd name="adj" fmla="val 7407"/>
            </a:avLst>
          </a:prstGeom>
          <a:solidFill>
            <a:srgbClr val="F1F5F9"/>
          </a:solidFill>
          <a:ln w="12700">
            <a:solidFill>
              <a:srgbClr val="CBD5E1"/>
            </a:solidFill>
          </a:ln>
        </p:spPr>
        <p:txBody>
          <a:bodyPr wrap="square" lIns="101600" tIns="101600" rIns="101600" bIns="101600" rtlCol="0" anchor="ctr"/>
          <a:lstStyle/>
          <a:p>
            <a:pPr algn="ctr" indent="0" marL="0">
              <a:buNone/>
            </a:pPr>
            <a:r>
              <a:rPr lang="en-US" sz="1800" b="1" dirty="0">
                <a:solidFill>
                  <a:srgbClr val="0B1437"/>
                </a:solidFill>
              </a:rPr>
              <a:t>Data sources</a:t>
            </a:r>
            <a:endParaRPr lang="en-US" sz="1400" dirty="0"/>
          </a:p>
          <a:p>
            <a:pPr algn="ctr" indent="0" marL="0">
              <a:buNone/>
            </a:pPr>
            <a:r>
              <a:rPr lang="en-US" sz="1400" dirty="0">
                <a:solidFill>
                  <a:srgbClr val="1E293B"/>
                </a:solidFill>
              </a:rPr>
              <a:t>Orders · clicks · payments</a:t>
            </a:r>
            <a:endParaRPr lang="en-US" sz="1400" dirty="0"/>
          </a:p>
        </p:txBody>
      </p:sp>
      <p:sp>
        <p:nvSpPr>
          <p:cNvPr id="7" name="Arrow 73"/>
          <p:cNvSpPr/>
          <p:nvPr/>
        </p:nvSpPr>
        <p:spPr>
          <a:xfrm>
            <a:off x="2423160" y="2446020"/>
            <a:ext cx="429768" cy="0"/>
          </a:xfrm>
          <a:prstGeom prst="line">
            <a:avLst/>
          </a:prstGeom>
          <a:noFill/>
          <a:ln w="25400">
            <a:solidFill>
              <a:srgbClr val="64748B"/>
            </a:solidFill>
            <a:prstDash val="solid"/>
            <a:tailEnd type="triangle"/>
          </a:ln>
        </p:spPr>
      </p:sp>
      <p:sp>
        <p:nvSpPr>
          <p:cNvPr id="8" name="Text 74"/>
          <p:cNvSpPr txBox="1"/>
          <p:nvPr/>
        </p:nvSpPr>
        <p:spPr>
          <a:xfrm>
            <a:off x="2852928" y="1554480"/>
            <a:ext cx="1874520" cy="228600"/>
          </a:xfrm>
          <a:prstGeom prst="rect">
            <a:avLst/>
          </a:prstGeom>
          <a:noFill/>
          <a:ln/>
        </p:spPr>
        <p:txBody>
          <a:bodyPr wrap="square" lIns="0" tIns="0" rIns="0" bIns="0" rtlCol="0" anchor="t"/>
          <a:lstStyle/>
          <a:p>
            <a:pPr algn="ctr" indent="0" marL="0">
              <a:buNone/>
            </a:pPr>
            <a:r>
              <a:rPr lang="en-US" sz="1200" b="1" spc="100" kern="0" dirty="0">
                <a:solidFill>
                  <a:srgbClr val="64748B"/>
                </a:solidFill>
              </a:rPr>
              <a:t>1 · INGEST</a:t>
            </a:r>
            <a:endParaRPr lang="en-US" sz="1200" dirty="0"/>
          </a:p>
        </p:txBody>
      </p:sp>
      <p:sp>
        <p:nvSpPr>
          <p:cNvPr id="9" name="Card 75"/>
          <p:cNvSpPr txBox="1"/>
          <p:nvPr/>
        </p:nvSpPr>
        <p:spPr>
          <a:xfrm>
            <a:off x="2852928" y="1828800"/>
            <a:ext cx="1874520" cy="1234440"/>
          </a:xfrm>
          <a:prstGeom prst="roundRect">
            <a:avLst>
              <a:gd name="adj" fmla="val 7407"/>
            </a:avLst>
          </a:prstGeom>
          <a:solidFill>
            <a:srgbClr val="E0F2FE"/>
          </a:solidFill>
          <a:ln w="12700">
            <a:solidFill>
              <a:srgbClr val="0EA5E9"/>
            </a:solidFill>
          </a:ln>
        </p:spPr>
        <p:txBody>
          <a:bodyPr wrap="square" lIns="101600" tIns="101600" rIns="101600" bIns="101600" rtlCol="0" anchor="ctr"/>
          <a:lstStyle/>
          <a:p>
            <a:pPr algn="ctr" indent="0" marL="0">
              <a:buNone/>
            </a:pPr>
            <a:r>
              <a:rPr lang="en-US" sz="1800" b="1" dirty="0">
                <a:solidFill>
                  <a:srgbClr val="0B1437"/>
                </a:solidFill>
              </a:rPr>
              <a:t>Apache NiFi</a:t>
            </a:r>
            <a:endParaRPr lang="en-US" sz="1400" dirty="0"/>
          </a:p>
          <a:p>
            <a:pPr algn="ctr" indent="0" marL="0">
              <a:buNone/>
            </a:pPr>
            <a:r>
              <a:rPr lang="en-US" sz="1400" dirty="0">
                <a:solidFill>
                  <a:srgbClr val="1E293B"/>
                </a:solidFill>
              </a:rPr>
              <a:t>Moves the data</a:t>
            </a:r>
            <a:endParaRPr lang="en-US" sz="1400" dirty="0"/>
          </a:p>
        </p:txBody>
      </p:sp>
      <p:sp>
        <p:nvSpPr>
          <p:cNvPr id="10" name="Arrow 76"/>
          <p:cNvSpPr/>
          <p:nvPr/>
        </p:nvSpPr>
        <p:spPr>
          <a:xfrm>
            <a:off x="4727448" y="2446020"/>
            <a:ext cx="429768" cy="0"/>
          </a:xfrm>
          <a:prstGeom prst="line">
            <a:avLst/>
          </a:prstGeom>
          <a:noFill/>
          <a:ln w="25400">
            <a:solidFill>
              <a:srgbClr val="64748B"/>
            </a:solidFill>
            <a:prstDash val="solid"/>
            <a:tailEnd type="triangle"/>
          </a:ln>
        </p:spPr>
      </p:sp>
      <p:sp>
        <p:nvSpPr>
          <p:cNvPr id="11" name="Text 77"/>
          <p:cNvSpPr txBox="1"/>
          <p:nvPr/>
        </p:nvSpPr>
        <p:spPr>
          <a:xfrm>
            <a:off x="5157216" y="1554480"/>
            <a:ext cx="1874520" cy="228600"/>
          </a:xfrm>
          <a:prstGeom prst="rect">
            <a:avLst/>
          </a:prstGeom>
          <a:noFill/>
          <a:ln/>
        </p:spPr>
        <p:txBody>
          <a:bodyPr wrap="square" lIns="0" tIns="0" rIns="0" bIns="0" rtlCol="0" anchor="t"/>
          <a:lstStyle/>
          <a:p>
            <a:pPr algn="ctr" indent="0" marL="0">
              <a:buNone/>
            </a:pPr>
            <a:r>
              <a:rPr lang="en-US" sz="1200" b="1" spc="100" kern="0" dirty="0">
                <a:solidFill>
                  <a:srgbClr val="64748B"/>
                </a:solidFill>
              </a:rPr>
              <a:t>2 · STORE</a:t>
            </a:r>
            <a:endParaRPr lang="en-US" sz="1200" dirty="0"/>
          </a:p>
        </p:txBody>
      </p:sp>
      <p:sp>
        <p:nvSpPr>
          <p:cNvPr id="12" name="Card 78"/>
          <p:cNvSpPr txBox="1"/>
          <p:nvPr/>
        </p:nvSpPr>
        <p:spPr>
          <a:xfrm>
            <a:off x="5157216" y="1828800"/>
            <a:ext cx="1874520" cy="1234440"/>
          </a:xfrm>
          <a:prstGeom prst="roundRect">
            <a:avLst>
              <a:gd name="adj" fmla="val 7407"/>
            </a:avLst>
          </a:prstGeom>
          <a:solidFill>
            <a:srgbClr val="EDE9FE"/>
          </a:solidFill>
          <a:ln w="12700">
            <a:solidFill>
              <a:srgbClr val="8B5CF6"/>
            </a:solidFill>
          </a:ln>
        </p:spPr>
        <p:txBody>
          <a:bodyPr wrap="square" lIns="101600" tIns="101600" rIns="101600" bIns="101600" rtlCol="0" anchor="ctr"/>
          <a:lstStyle/>
          <a:p>
            <a:pPr algn="ctr" indent="0" marL="0">
              <a:buNone/>
            </a:pPr>
            <a:r>
              <a:rPr lang="en-US" sz="1800" b="1" dirty="0">
                <a:solidFill>
                  <a:srgbClr val="0B1437"/>
                </a:solidFill>
              </a:rPr>
              <a:t>Apache Ozone</a:t>
            </a:r>
            <a:endParaRPr lang="en-US" sz="1400" dirty="0"/>
          </a:p>
          <a:p>
            <a:pPr algn="ctr" indent="0" marL="0">
              <a:buNone/>
            </a:pPr>
            <a:r>
              <a:rPr lang="en-US" sz="1400" dirty="0">
                <a:solidFill>
                  <a:srgbClr val="1E293B"/>
                </a:solidFill>
              </a:rPr>
              <a:t>Stores the files</a:t>
            </a:r>
            <a:endParaRPr lang="en-US" sz="1400" dirty="0"/>
          </a:p>
        </p:txBody>
      </p:sp>
      <p:sp>
        <p:nvSpPr>
          <p:cNvPr id="13" name="Arrow 79"/>
          <p:cNvSpPr/>
          <p:nvPr/>
        </p:nvSpPr>
        <p:spPr>
          <a:xfrm>
            <a:off x="7031736" y="2446020"/>
            <a:ext cx="429768" cy="0"/>
          </a:xfrm>
          <a:prstGeom prst="line">
            <a:avLst/>
          </a:prstGeom>
          <a:noFill/>
          <a:ln w="25400">
            <a:solidFill>
              <a:srgbClr val="64748B"/>
            </a:solidFill>
            <a:prstDash val="solid"/>
            <a:tailEnd type="triangle"/>
          </a:ln>
        </p:spPr>
      </p:sp>
      <p:sp>
        <p:nvSpPr>
          <p:cNvPr id="14" name="Text 80"/>
          <p:cNvSpPr txBox="1"/>
          <p:nvPr/>
        </p:nvSpPr>
        <p:spPr>
          <a:xfrm>
            <a:off x="7461504" y="1554480"/>
            <a:ext cx="1874520" cy="228600"/>
          </a:xfrm>
          <a:prstGeom prst="rect">
            <a:avLst/>
          </a:prstGeom>
          <a:noFill/>
          <a:ln/>
        </p:spPr>
        <p:txBody>
          <a:bodyPr wrap="square" lIns="0" tIns="0" rIns="0" bIns="0" rtlCol="0" anchor="t"/>
          <a:lstStyle/>
          <a:p>
            <a:pPr algn="ctr" indent="0" marL="0">
              <a:buNone/>
            </a:pPr>
            <a:r>
              <a:rPr lang="en-US" sz="1200" b="1" spc="100" kern="0" dirty="0">
                <a:solidFill>
                  <a:srgbClr val="64748B"/>
                </a:solidFill>
              </a:rPr>
              <a:t>3 · PROCESS</a:t>
            </a:r>
            <a:endParaRPr lang="en-US" sz="1200" dirty="0"/>
          </a:p>
        </p:txBody>
      </p:sp>
      <p:sp>
        <p:nvSpPr>
          <p:cNvPr id="15" name="Card 81"/>
          <p:cNvSpPr txBox="1"/>
          <p:nvPr/>
        </p:nvSpPr>
        <p:spPr>
          <a:xfrm>
            <a:off x="7461504" y="1828800"/>
            <a:ext cx="1874520" cy="1234440"/>
          </a:xfrm>
          <a:prstGeom prst="roundRect">
            <a:avLst>
              <a:gd name="adj" fmla="val 7407"/>
            </a:avLst>
          </a:prstGeom>
          <a:solidFill>
            <a:srgbClr val="FEF3C7"/>
          </a:solidFill>
          <a:ln w="12700">
            <a:solidFill>
              <a:srgbClr val="F59E0B"/>
            </a:solidFill>
          </a:ln>
        </p:spPr>
        <p:txBody>
          <a:bodyPr wrap="square" lIns="101600" tIns="101600" rIns="101600" bIns="101600" rtlCol="0" anchor="ctr"/>
          <a:lstStyle/>
          <a:p>
            <a:pPr algn="ctr" indent="0" marL="0">
              <a:buNone/>
            </a:pPr>
            <a:r>
              <a:rPr lang="en-US" sz="1800" b="1" dirty="0">
                <a:solidFill>
                  <a:srgbClr val="0B1437"/>
                </a:solidFill>
              </a:rPr>
              <a:t>Apache Spark</a:t>
            </a:r>
            <a:endParaRPr lang="en-US" sz="1400" dirty="0"/>
          </a:p>
          <a:p>
            <a:pPr algn="ctr" indent="0" marL="0">
              <a:buNone/>
            </a:pPr>
            <a:r>
              <a:rPr lang="en-US" sz="1400" dirty="0">
                <a:solidFill>
                  <a:srgbClr val="1E293B"/>
                </a:solidFill>
              </a:rPr>
              <a:t>Cleans the data</a:t>
            </a:r>
            <a:endParaRPr lang="en-US" sz="1400" dirty="0"/>
          </a:p>
        </p:txBody>
      </p:sp>
      <p:sp>
        <p:nvSpPr>
          <p:cNvPr id="16" name="Arrow 82"/>
          <p:cNvSpPr/>
          <p:nvPr/>
        </p:nvSpPr>
        <p:spPr>
          <a:xfrm>
            <a:off x="9336024" y="2446020"/>
            <a:ext cx="429768" cy="0"/>
          </a:xfrm>
          <a:prstGeom prst="line">
            <a:avLst/>
          </a:prstGeom>
          <a:noFill/>
          <a:ln w="25400">
            <a:solidFill>
              <a:srgbClr val="64748B"/>
            </a:solidFill>
            <a:prstDash val="solid"/>
            <a:tailEnd type="triangle"/>
          </a:ln>
        </p:spPr>
      </p:sp>
      <p:sp>
        <p:nvSpPr>
          <p:cNvPr id="17" name="Text 83"/>
          <p:cNvSpPr txBox="1"/>
          <p:nvPr/>
        </p:nvSpPr>
        <p:spPr>
          <a:xfrm>
            <a:off x="9765792" y="1554480"/>
            <a:ext cx="1874520" cy="228600"/>
          </a:xfrm>
          <a:prstGeom prst="rect">
            <a:avLst/>
          </a:prstGeom>
          <a:noFill/>
          <a:ln/>
        </p:spPr>
        <p:txBody>
          <a:bodyPr wrap="square" lIns="0" tIns="0" rIns="0" bIns="0" rtlCol="0" anchor="t"/>
          <a:lstStyle/>
          <a:p>
            <a:pPr algn="ctr" indent="0" marL="0">
              <a:buNone/>
            </a:pPr>
            <a:r>
              <a:rPr lang="en-US" sz="1200" b="1" spc="100" kern="0" dirty="0">
                <a:solidFill>
                  <a:srgbClr val="64748B"/>
                </a:solidFill>
              </a:rPr>
              <a:t>4 · ORGANISE</a:t>
            </a:r>
            <a:endParaRPr lang="en-US" sz="1200" dirty="0"/>
          </a:p>
        </p:txBody>
      </p:sp>
      <p:sp>
        <p:nvSpPr>
          <p:cNvPr id="18" name="Card 84"/>
          <p:cNvSpPr txBox="1"/>
          <p:nvPr/>
        </p:nvSpPr>
        <p:spPr>
          <a:xfrm>
            <a:off x="9765792" y="1828800"/>
            <a:ext cx="1874520" cy="1234440"/>
          </a:xfrm>
          <a:prstGeom prst="roundRect">
            <a:avLst>
              <a:gd name="adj" fmla="val 7407"/>
            </a:avLst>
          </a:prstGeom>
          <a:solidFill>
            <a:srgbClr val="D1FAE5"/>
          </a:solidFill>
          <a:ln w="12700">
            <a:solidFill>
              <a:srgbClr val="10B981"/>
            </a:solidFill>
          </a:ln>
        </p:spPr>
        <p:txBody>
          <a:bodyPr wrap="square" lIns="101600" tIns="101600" rIns="101600" bIns="101600" rtlCol="0" anchor="ctr"/>
          <a:lstStyle/>
          <a:p>
            <a:pPr algn="ctr" indent="0" marL="0">
              <a:buNone/>
            </a:pPr>
            <a:r>
              <a:rPr lang="en-US" sz="1800" b="1" dirty="0">
                <a:solidFill>
                  <a:srgbClr val="0B1437"/>
                </a:solidFill>
              </a:rPr>
              <a:t>Apache Iceberg</a:t>
            </a:r>
            <a:endParaRPr lang="en-US" sz="1400" dirty="0"/>
          </a:p>
          <a:p>
            <a:pPr algn="ctr" indent="0" marL="0">
              <a:buNone/>
            </a:pPr>
            <a:r>
              <a:rPr lang="en-US" sz="1400" dirty="0">
                <a:solidFill>
                  <a:srgbClr val="1E293B"/>
                </a:solidFill>
              </a:rPr>
              <a:t>Makes safe tables</a:t>
            </a:r>
            <a:endParaRPr lang="en-US" sz="1400" dirty="0"/>
          </a:p>
        </p:txBody>
      </p:sp>
      <p:sp>
        <p:nvSpPr>
          <p:cNvPr id="19" name="Box 85"/>
          <p:cNvSpPr/>
          <p:nvPr/>
        </p:nvSpPr>
        <p:spPr>
          <a:xfrm>
            <a:off x="548640" y="4114800"/>
            <a:ext cx="6309360" cy="1371600"/>
          </a:xfrm>
          <a:prstGeom prst="roundRect">
            <a:avLst>
              <a:gd name="adj" fmla="val 6667"/>
            </a:avLst>
          </a:prstGeom>
          <a:solidFill>
            <a:srgbClr val="F1F5F9"/>
          </a:solidFill>
          <a:ln w="9525">
            <a:solidFill>
              <a:srgbClr val="CBD5E1"/>
            </a:solidFill>
            <a:prstDash val="solid"/>
          </a:ln>
        </p:spPr>
      </p:sp>
      <p:sp>
        <p:nvSpPr>
          <p:cNvPr id="20" name="Text 86"/>
          <p:cNvSpPr txBox="1"/>
          <p:nvPr/>
        </p:nvSpPr>
        <p:spPr>
          <a:xfrm>
            <a:off x="777240" y="4224528"/>
            <a:ext cx="5852160" cy="256032"/>
          </a:xfrm>
          <a:prstGeom prst="rect">
            <a:avLst/>
          </a:prstGeom>
          <a:noFill/>
          <a:ln/>
        </p:spPr>
        <p:txBody>
          <a:bodyPr wrap="square" lIns="0" tIns="0" rIns="0" bIns="0" rtlCol="0" anchor="t"/>
          <a:lstStyle/>
          <a:p>
            <a:pPr indent="0" marL="0">
              <a:buNone/>
            </a:pPr>
            <a:r>
              <a:rPr lang="en-US" sz="1400" b="1" dirty="0">
                <a:solidFill>
                  <a:srgbClr val="64748B"/>
                </a:solidFill>
              </a:rPr>
              <a:t>How this maps to ETL</a:t>
            </a:r>
            <a:endParaRPr lang="en-US" sz="1400" dirty="0"/>
          </a:p>
        </p:txBody>
      </p:sp>
      <p:sp>
        <p:nvSpPr>
          <p:cNvPr id="21" name="Text 87"/>
          <p:cNvSpPr txBox="1"/>
          <p:nvPr/>
        </p:nvSpPr>
        <p:spPr>
          <a:xfrm>
            <a:off x="777240" y="4526280"/>
            <a:ext cx="5943600" cy="914400"/>
          </a:xfrm>
          <a:prstGeom prst="rect">
            <a:avLst/>
          </a:prstGeom>
          <a:noFill/>
          <a:ln/>
        </p:spPr>
        <p:txBody>
          <a:bodyPr wrap="square" lIns="0" tIns="0" rIns="0" bIns="0" rtlCol="0" anchor="t"/>
          <a:lstStyle/>
          <a:p>
            <a:pPr indent="0" marL="0">
              <a:buNone/>
            </a:pPr>
            <a:r>
              <a:rPr lang="en-US" sz="1400" b="1" dirty="0">
                <a:solidFill>
                  <a:srgbClr val="0369A1"/>
                </a:solidFill>
              </a:rPr>
              <a:t>Extract  </a:t>
            </a:r>
            <a:pPr indent="0" marL="0">
              <a:spcAft>
                <a:spcPts val="400"/>
              </a:spcAft>
              <a:buNone/>
            </a:pPr>
            <a:r>
              <a:rPr lang="en-US" sz="1400" dirty="0">
                <a:solidFill>
                  <a:srgbClr val="1E293B"/>
                </a:solidFill>
              </a:rPr>
              <a:t>NiFi collects the data (Ozone is the landing zone)</a:t>
            </a:r>
            <a:endParaRPr lang="en-US" sz="1400" dirty="0"/>
          </a:p>
          <a:p>
            <a:pPr indent="0" marL="0">
              <a:buNone/>
            </a:pPr>
            <a:r>
              <a:rPr lang="en-US" sz="1400" b="1" dirty="0">
                <a:solidFill>
                  <a:srgbClr val="B45309"/>
                </a:solidFill>
              </a:rPr>
              <a:t>Transform  </a:t>
            </a:r>
            <a:pPr indent="0" marL="0">
              <a:spcAft>
                <a:spcPts val="400"/>
              </a:spcAft>
              <a:buNone/>
            </a:pPr>
            <a:r>
              <a:rPr lang="en-US" sz="1400" dirty="0">
                <a:solidFill>
                  <a:srgbClr val="1E293B"/>
                </a:solidFill>
              </a:rPr>
              <a:t>Spark cleans and combines it</a:t>
            </a:r>
            <a:endParaRPr lang="en-US" sz="1400" dirty="0"/>
          </a:p>
          <a:p>
            <a:pPr indent="0" marL="0">
              <a:buNone/>
            </a:pPr>
            <a:r>
              <a:rPr lang="en-US" sz="1400" b="1" dirty="0">
                <a:solidFill>
                  <a:srgbClr val="047857"/>
                </a:solidFill>
              </a:rPr>
              <a:t>Load  </a:t>
            </a:r>
            <a:pPr indent="0" marL="0">
              <a:buNone/>
            </a:pPr>
            <a:r>
              <a:rPr lang="en-US" sz="1400" dirty="0">
                <a:solidFill>
                  <a:srgbClr val="1E293B"/>
                </a:solidFill>
              </a:rPr>
              <a:t>Iceberg tables, then Doris and ArcadeDB</a:t>
            </a:r>
            <a:endParaRPr lang="en-US" sz="1400" dirty="0"/>
          </a:p>
        </p:txBody>
      </p:sp>
      <p:sp>
        <p:nvSpPr>
          <p:cNvPr id="22" name="Box 88"/>
          <p:cNvSpPr/>
          <p:nvPr/>
        </p:nvSpPr>
        <p:spPr>
          <a:xfrm>
            <a:off x="7269480" y="4114800"/>
            <a:ext cx="4370832" cy="1371600"/>
          </a:xfrm>
          <a:prstGeom prst="roundRect">
            <a:avLst>
              <a:gd name="adj" fmla="val 6667"/>
            </a:avLst>
          </a:prstGeom>
          <a:solidFill>
            <a:srgbClr val="F1F5F9"/>
          </a:solidFill>
          <a:ln w="9525">
            <a:solidFill>
              <a:srgbClr val="CBD5E1"/>
            </a:solidFill>
            <a:prstDash val="solid"/>
          </a:ln>
        </p:spPr>
      </p:sp>
      <p:sp>
        <p:nvSpPr>
          <p:cNvPr id="23" name="Text 89"/>
          <p:cNvSpPr txBox="1"/>
          <p:nvPr/>
        </p:nvSpPr>
        <p:spPr>
          <a:xfrm>
            <a:off x="7452360" y="4187952"/>
            <a:ext cx="1828800" cy="228600"/>
          </a:xfrm>
          <a:prstGeom prst="rect">
            <a:avLst/>
          </a:prstGeom>
          <a:noFill/>
          <a:ln/>
        </p:spPr>
        <p:txBody>
          <a:bodyPr wrap="square" lIns="0" tIns="0" rIns="0" bIns="0" rtlCol="0" anchor="t"/>
          <a:lstStyle/>
          <a:p>
            <a:pPr indent="0" marL="0">
              <a:buNone/>
            </a:pPr>
            <a:r>
              <a:rPr lang="en-US" sz="1200" b="1" spc="100" kern="0" dirty="0">
                <a:solidFill>
                  <a:srgbClr val="64748B"/>
                </a:solidFill>
              </a:rPr>
              <a:t>5 · SERVE</a:t>
            </a:r>
            <a:endParaRPr lang="en-US" sz="1200" dirty="0"/>
          </a:p>
        </p:txBody>
      </p:sp>
      <p:sp>
        <p:nvSpPr>
          <p:cNvPr id="24" name="Arrow 90"/>
          <p:cNvSpPr/>
          <p:nvPr/>
        </p:nvSpPr>
        <p:spPr>
          <a:xfrm>
            <a:off x="10703052" y="3063240"/>
            <a:ext cx="0" cy="1051560"/>
          </a:xfrm>
          <a:prstGeom prst="line">
            <a:avLst/>
          </a:prstGeom>
          <a:noFill/>
          <a:ln w="25400">
            <a:solidFill>
              <a:srgbClr val="64748B"/>
            </a:solidFill>
            <a:prstDash val="solid"/>
            <a:tailEnd type="triangle"/>
          </a:ln>
        </p:spPr>
      </p:sp>
      <p:sp>
        <p:nvSpPr>
          <p:cNvPr id="25" name="Card 91"/>
          <p:cNvSpPr txBox="1"/>
          <p:nvPr/>
        </p:nvSpPr>
        <p:spPr>
          <a:xfrm>
            <a:off x="7406640" y="4480560"/>
            <a:ext cx="1965960" cy="868680"/>
          </a:xfrm>
          <a:prstGeom prst="roundRect">
            <a:avLst>
              <a:gd name="adj" fmla="val 10526"/>
            </a:avLst>
          </a:prstGeom>
          <a:solidFill>
            <a:srgbClr val="FFFFFF"/>
          </a:solidFill>
          <a:ln w="12700">
            <a:solidFill>
              <a:srgbClr val="CBD5E1"/>
            </a:solidFill>
          </a:ln>
        </p:spPr>
        <p:txBody>
          <a:bodyPr wrap="square" lIns="101600" tIns="101600" rIns="101600" bIns="101600" rtlCol="0" anchor="ctr"/>
          <a:lstStyle/>
          <a:p>
            <a:pPr algn="ctr" indent="0" marL="0">
              <a:buNone/>
            </a:pPr>
            <a:r>
              <a:rPr lang="en-US" sz="1600" b="1" dirty="0">
                <a:solidFill>
                  <a:srgbClr val="0B1437"/>
                </a:solidFill>
              </a:rPr>
              <a:t>Apache Doris</a:t>
            </a:r>
            <a:endParaRPr lang="en-US" sz="1400" dirty="0"/>
          </a:p>
          <a:p>
            <a:pPr algn="ctr" indent="0" marL="0">
              <a:buNone/>
            </a:pPr>
            <a:r>
              <a:rPr lang="en-US" sz="1400" dirty="0">
                <a:solidFill>
                  <a:srgbClr val="1E293B"/>
                </a:solidFill>
              </a:rPr>
              <a:t>Fast dashboards</a:t>
            </a:r>
            <a:endParaRPr lang="en-US" sz="1400" dirty="0"/>
          </a:p>
        </p:txBody>
      </p:sp>
      <p:sp>
        <p:nvSpPr>
          <p:cNvPr id="26" name="Card 92"/>
          <p:cNvSpPr txBox="1"/>
          <p:nvPr/>
        </p:nvSpPr>
        <p:spPr>
          <a:xfrm>
            <a:off x="9509760" y="4480560"/>
            <a:ext cx="1965960" cy="868680"/>
          </a:xfrm>
          <a:prstGeom prst="roundRect">
            <a:avLst>
              <a:gd name="adj" fmla="val 10526"/>
            </a:avLst>
          </a:prstGeom>
          <a:solidFill>
            <a:srgbClr val="FFFFFF"/>
          </a:solidFill>
          <a:ln w="12700">
            <a:solidFill>
              <a:srgbClr val="CBD5E1"/>
            </a:solidFill>
          </a:ln>
        </p:spPr>
        <p:txBody>
          <a:bodyPr wrap="square" lIns="101600" tIns="101600" rIns="101600" bIns="101600" rtlCol="0" anchor="ctr"/>
          <a:lstStyle/>
          <a:p>
            <a:pPr algn="ctr" indent="0" marL="0">
              <a:buNone/>
            </a:pPr>
            <a:r>
              <a:rPr lang="en-US" sz="1600" b="1" dirty="0">
                <a:solidFill>
                  <a:srgbClr val="0B1437"/>
                </a:solidFill>
              </a:rPr>
              <a:t>ArcadeDB</a:t>
            </a:r>
            <a:endParaRPr lang="en-US" sz="1400" dirty="0"/>
          </a:p>
          <a:p>
            <a:pPr algn="ctr" indent="0" marL="0">
              <a:buNone/>
            </a:pPr>
            <a:r>
              <a:rPr lang="en-US" sz="1400" dirty="0">
                <a:solidFill>
                  <a:srgbClr val="1E293B"/>
                </a:solidFill>
              </a:rPr>
              <a:t>Relationships</a:t>
            </a:r>
            <a:endParaRPr lang="en-US" sz="1400" dirty="0"/>
          </a:p>
        </p:txBody>
      </p:sp>
      <p:sp>
        <p:nvSpPr>
          <p:cNvPr id="27" name="Text 93"/>
          <p:cNvSpPr txBox="1"/>
          <p:nvPr/>
        </p:nvSpPr>
        <p:spPr>
          <a:xfrm>
            <a:off x="548640" y="5760720"/>
            <a:ext cx="7315200" cy="274320"/>
          </a:xfrm>
          <a:prstGeom prst="rect">
            <a:avLst/>
          </a:prstGeom>
          <a:noFill/>
          <a:ln/>
        </p:spPr>
        <p:txBody>
          <a:bodyPr wrap="square" lIns="0" tIns="0" rIns="0" bIns="0" rtlCol="0" anchor="t"/>
          <a:lstStyle/>
          <a:p>
            <a:pPr indent="0" marL="0">
              <a:buNone/>
            </a:pPr>
            <a:r>
              <a:rPr lang="en-US" sz="1200" dirty="0">
                <a:solidFill>
                  <a:srgbClr val="64748B"/>
                </a:solidFill>
              </a:rPr>
              <a:t>Data flows left to right. Each tool does one job.</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rt tag"/>
          <p:cNvSpPr txBox="1"/>
          <p:nvPr/>
        </p:nvSpPr>
        <p:spPr>
          <a:xfrm>
            <a:off x="548640" y="384048"/>
            <a:ext cx="2820010" cy="274320"/>
          </a:xfrm>
          <a:prstGeom prst="roundRect">
            <a:avLst>
              <a:gd name="adj" fmla="val 50000"/>
            </a:avLst>
          </a:prstGeom>
          <a:solidFill>
            <a:srgbClr val="047857"/>
          </a:solidFill>
          <a:ln w="9525">
            <a:solidFill>
              <a:srgbClr val="047857"/>
            </a:solidFill>
          </a:ln>
        </p:spPr>
        <p:txBody>
          <a:bodyPr wrap="square" lIns="0" tIns="0" rIns="0" bIns="0" rtlCol="0" anchor="ctr"/>
          <a:lstStyle/>
          <a:p>
            <a:pPr algn="ctr" indent="0" marL="0">
              <a:buNone/>
            </a:pPr>
            <a:r>
              <a:rPr lang="en-US" sz="1100" b="1" dirty="0">
                <a:solidFill>
                  <a:srgbClr val="FFFFFF"/>
                </a:solidFill>
              </a:rPr>
              <a:t>PART 3  ·  TOOLS  ·  INGEST</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Apache NiFi: the delivery truck</a:t>
            </a:r>
            <a:endParaRPr lang="en-US" sz="3200" dirty="0"/>
          </a:p>
        </p:txBody>
      </p:sp>
      <p:sp>
        <p:nvSpPr>
          <p:cNvPr id="5" name="Text 94"/>
          <p:cNvSpPr txBox="1"/>
          <p:nvPr/>
        </p:nvSpPr>
        <p:spPr>
          <a:xfrm>
            <a:off x="548640" y="1874520"/>
            <a:ext cx="5120640" cy="3474720"/>
          </a:xfrm>
          <a:prstGeom prst="rect">
            <a:avLst/>
          </a:prstGeom>
          <a:noFill/>
          <a:ln/>
        </p:spPr>
        <p:txBody>
          <a:bodyPr wrap="square" lIns="0" tIns="0" rIns="0" bIns="0" rtlCol="0" anchor="t"/>
          <a:lstStyle/>
          <a:p>
            <a:pPr marL="342900" indent="-342900">
              <a:spcAft>
                <a:spcPts val="2200"/>
              </a:spcAft>
              <a:buSzPct val="100000"/>
              <a:buChar char="•"/>
            </a:pPr>
            <a:r>
              <a:rPr lang="en-US" sz="2000" b="1" dirty="0">
                <a:solidFill>
                  <a:srgbClr val="0B1437"/>
                </a:solidFill>
              </a:rPr>
              <a:t>What it is: </a:t>
            </a:r>
            <a:pPr indent="0" marL="0">
              <a:buNone/>
            </a:pPr>
            <a:r>
              <a:rPr lang="en-US" sz="2000" dirty="0">
                <a:solidFill>
                  <a:srgbClr val="1E293B"/>
                </a:solidFill>
              </a:rPr>
              <a:t>a drag-and-drop tool that moves data from one place to another, automatically.</a:t>
            </a:r>
            <a:endParaRPr lang="en-US" sz="2000" dirty="0"/>
          </a:p>
          <a:p>
            <a:pPr marL="342900" indent="-342900">
              <a:spcAft>
                <a:spcPts val="2200"/>
              </a:spcAft>
              <a:buSzPct val="100000"/>
              <a:buChar char="•"/>
            </a:pPr>
            <a:r>
              <a:rPr lang="en-US" sz="2000" b="1" dirty="0">
                <a:solidFill>
                  <a:srgbClr val="0B1437"/>
                </a:solidFill>
              </a:rPr>
              <a:t>Its job here: </a:t>
            </a:r>
            <a:pPr indent="0" marL="0">
              <a:buNone/>
            </a:pPr>
            <a:r>
              <a:rPr lang="en-US" sz="2000" dirty="0">
                <a:solidFill>
                  <a:srgbClr val="1E293B"/>
                </a:solidFill>
              </a:rPr>
              <a:t>picks up orders, clicks and payments and delivers them to storage.</a:t>
            </a:r>
            <a:endParaRPr lang="en-US" sz="2000" dirty="0"/>
          </a:p>
          <a:p>
            <a:pPr marL="342900" indent="-342900">
              <a:spcAft>
                <a:spcPts val="2200"/>
              </a:spcAft>
              <a:buSzPct val="100000"/>
              <a:buChar char="•"/>
            </a:pPr>
            <a:r>
              <a:rPr lang="en-US" sz="2000" b="1" dirty="0">
                <a:solidFill>
                  <a:srgbClr val="0B1437"/>
                </a:solidFill>
              </a:rPr>
              <a:t>Why use it: </a:t>
            </a:r>
            <a:pPr indent="0" marL="0">
              <a:buNone/>
            </a:pPr>
            <a:r>
              <a:rPr lang="en-US" sz="2000" dirty="0">
                <a:solidFill>
                  <a:srgbClr val="1E293B"/>
                </a:solidFill>
              </a:rPr>
              <a:t>you build flows on a web screen, so little code is needed.</a:t>
            </a:r>
            <a:endParaRPr lang="en-US" sz="2000" dirty="0"/>
          </a:p>
        </p:txBody>
      </p:sp>
      <p:sp>
        <p:nvSpPr>
          <p:cNvPr id="6" name="Card 95"/>
          <p:cNvSpPr txBox="1"/>
          <p:nvPr/>
        </p:nvSpPr>
        <p:spPr>
          <a:xfrm>
            <a:off x="5943600" y="1783080"/>
            <a:ext cx="1508760" cy="1005840"/>
          </a:xfrm>
          <a:prstGeom prst="roundRect">
            <a:avLst>
              <a:gd name="adj" fmla="val 9091"/>
            </a:avLst>
          </a:prstGeom>
          <a:solidFill>
            <a:srgbClr val="F1F5F9"/>
          </a:solidFill>
          <a:ln w="9525">
            <a:solidFill>
              <a:srgbClr val="CBD5E1"/>
            </a:solidFill>
          </a:ln>
        </p:spPr>
        <p:txBody>
          <a:bodyPr wrap="square" lIns="101600" tIns="101600" rIns="101600" bIns="101600" rtlCol="0" anchor="ctr"/>
          <a:lstStyle/>
          <a:p>
            <a:pPr algn="ctr" indent="0" marL="0">
              <a:buNone/>
            </a:pPr>
            <a:r>
              <a:rPr lang="en-US" sz="1100" b="1" dirty="0">
                <a:solidFill>
                  <a:srgbClr val="64748B"/>
                </a:solidFill>
              </a:rPr>
              <a:t>INPUT</a:t>
            </a:r>
            <a:endParaRPr lang="en-US" sz="1400" dirty="0"/>
          </a:p>
          <a:p>
            <a:pPr algn="ctr" indent="0" marL="0">
              <a:buNone/>
            </a:pPr>
            <a:r>
              <a:rPr lang="en-US" sz="1400" b="1" dirty="0">
                <a:solidFill>
                  <a:srgbClr val="1E293B"/>
                </a:solidFill>
              </a:rPr>
              <a:t>Orders DB, click logs, payment CSVs</a:t>
            </a:r>
            <a:endParaRPr lang="en-US" sz="1400" dirty="0"/>
          </a:p>
        </p:txBody>
      </p:sp>
      <p:sp>
        <p:nvSpPr>
          <p:cNvPr id="7" name="Arrow 96"/>
          <p:cNvSpPr/>
          <p:nvPr/>
        </p:nvSpPr>
        <p:spPr>
          <a:xfrm>
            <a:off x="7452360" y="2286000"/>
            <a:ext cx="365760" cy="0"/>
          </a:xfrm>
          <a:prstGeom prst="line">
            <a:avLst/>
          </a:prstGeom>
          <a:noFill/>
          <a:ln w="25400">
            <a:solidFill>
              <a:srgbClr val="64748B"/>
            </a:solidFill>
            <a:prstDash val="solid"/>
            <a:tailEnd type="triangle"/>
          </a:ln>
        </p:spPr>
      </p:sp>
      <p:sp>
        <p:nvSpPr>
          <p:cNvPr id="8" name="Card 97"/>
          <p:cNvSpPr txBox="1"/>
          <p:nvPr/>
        </p:nvSpPr>
        <p:spPr>
          <a:xfrm>
            <a:off x="7818120" y="1783080"/>
            <a:ext cx="1920240" cy="1005840"/>
          </a:xfrm>
          <a:prstGeom prst="roundRect">
            <a:avLst>
              <a:gd name="adj" fmla="val 9091"/>
            </a:avLst>
          </a:prstGeom>
          <a:solidFill>
            <a:srgbClr val="0B1437"/>
          </a:solidFill>
          <a:ln w="9525">
            <a:solidFill>
              <a:srgbClr val="0B1437"/>
            </a:solidFill>
          </a:ln>
        </p:spPr>
        <p:txBody>
          <a:bodyPr wrap="square" lIns="101600" tIns="101600" rIns="101600" bIns="101600" rtlCol="0" anchor="ctr"/>
          <a:lstStyle/>
          <a:p>
            <a:pPr algn="ctr" indent="0" marL="0">
              <a:buNone/>
            </a:pPr>
            <a:r>
              <a:rPr lang="en-US" sz="1800" b="1" dirty="0">
                <a:solidFill>
                  <a:srgbClr val="FFFFFF"/>
                </a:solidFill>
              </a:rPr>
              <a:t>NiFi</a:t>
            </a:r>
            <a:endParaRPr lang="en-US" sz="1400" dirty="0"/>
          </a:p>
          <a:p>
            <a:pPr algn="ctr" indent="0" marL="0">
              <a:buNone/>
            </a:pPr>
            <a:r>
              <a:rPr lang="en-US" sz="1200" b="1" dirty="0">
                <a:solidFill>
                  <a:srgbClr val="F59E0B"/>
                </a:solidFill>
              </a:rPr>
              <a:t>INGEST</a:t>
            </a:r>
            <a:endParaRPr lang="en-US" sz="1400" dirty="0"/>
          </a:p>
        </p:txBody>
      </p:sp>
      <p:sp>
        <p:nvSpPr>
          <p:cNvPr id="9" name="Arrow 98"/>
          <p:cNvSpPr/>
          <p:nvPr/>
        </p:nvSpPr>
        <p:spPr>
          <a:xfrm>
            <a:off x="9738360" y="2286000"/>
            <a:ext cx="365760" cy="0"/>
          </a:xfrm>
          <a:prstGeom prst="line">
            <a:avLst/>
          </a:prstGeom>
          <a:noFill/>
          <a:ln w="25400">
            <a:solidFill>
              <a:srgbClr val="64748B"/>
            </a:solidFill>
            <a:prstDash val="solid"/>
            <a:tailEnd type="triangle"/>
          </a:ln>
        </p:spPr>
      </p:sp>
      <p:sp>
        <p:nvSpPr>
          <p:cNvPr id="10" name="Card 99"/>
          <p:cNvSpPr txBox="1"/>
          <p:nvPr/>
        </p:nvSpPr>
        <p:spPr>
          <a:xfrm>
            <a:off x="10104120" y="1783080"/>
            <a:ext cx="1508760" cy="1005840"/>
          </a:xfrm>
          <a:prstGeom prst="roundRect">
            <a:avLst>
              <a:gd name="adj" fmla="val 9091"/>
            </a:avLst>
          </a:prstGeom>
          <a:solidFill>
            <a:srgbClr val="D1FAE5"/>
          </a:solidFill>
          <a:ln w="9525">
            <a:solidFill>
              <a:srgbClr val="10B981"/>
            </a:solidFill>
          </a:ln>
        </p:spPr>
        <p:txBody>
          <a:bodyPr wrap="square" lIns="101600" tIns="101600" rIns="101600" bIns="101600" rtlCol="0" anchor="ctr"/>
          <a:lstStyle/>
          <a:p>
            <a:pPr algn="ctr" indent="0" marL="0">
              <a:buNone/>
            </a:pPr>
            <a:r>
              <a:rPr lang="en-US" sz="1100" b="1" dirty="0">
                <a:solidFill>
                  <a:srgbClr val="047857"/>
                </a:solidFill>
              </a:rPr>
              <a:t>OUTPUT</a:t>
            </a:r>
            <a:endParaRPr lang="en-US" sz="1400" dirty="0"/>
          </a:p>
          <a:p>
            <a:pPr algn="ctr" indent="0" marL="0">
              <a:buNone/>
            </a:pPr>
            <a:r>
              <a:rPr lang="en-US" sz="1400" b="1" dirty="0">
                <a:solidFill>
                  <a:srgbClr val="1E293B"/>
                </a:solidFill>
              </a:rPr>
              <a:t>Raw files in Ozone</a:t>
            </a:r>
            <a:endParaRPr lang="en-US" sz="1400" dirty="0"/>
          </a:p>
        </p:txBody>
      </p:sp>
      <p:sp>
        <p:nvSpPr>
          <p:cNvPr id="11" name="Text 100"/>
          <p:cNvSpPr txBox="1"/>
          <p:nvPr/>
        </p:nvSpPr>
        <p:spPr>
          <a:xfrm>
            <a:off x="5943600" y="2971800"/>
            <a:ext cx="2743200" cy="228600"/>
          </a:xfrm>
          <a:prstGeom prst="rect">
            <a:avLst/>
          </a:prstGeom>
          <a:noFill/>
          <a:ln/>
        </p:spPr>
        <p:txBody>
          <a:bodyPr wrap="square" lIns="0" tIns="0" rIns="0" bIns="0" rtlCol="0" anchor="t"/>
          <a:lstStyle/>
          <a:p>
            <a:pPr indent="0" marL="0">
              <a:buNone/>
            </a:pPr>
            <a:r>
              <a:rPr lang="en-US" sz="1400" b="1" dirty="0">
                <a:solidFill>
                  <a:srgbClr val="64748B"/>
                </a:solidFill>
              </a:rPr>
              <a:t>Key features</a:t>
            </a:r>
            <a:endParaRPr lang="en-US" sz="1400" dirty="0"/>
          </a:p>
        </p:txBody>
      </p:sp>
      <p:sp>
        <p:nvSpPr>
          <p:cNvPr id="12" name="Card 101"/>
          <p:cNvSpPr txBox="1"/>
          <p:nvPr/>
        </p:nvSpPr>
        <p:spPr>
          <a:xfrm>
            <a:off x="594360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Drag-and-drop web screen</a:t>
            </a:r>
            <a:endParaRPr lang="en-US" sz="1400" dirty="0"/>
          </a:p>
        </p:txBody>
      </p:sp>
      <p:sp>
        <p:nvSpPr>
          <p:cNvPr id="13" name="Card 102"/>
          <p:cNvSpPr txBox="1"/>
          <p:nvPr/>
        </p:nvSpPr>
        <p:spPr>
          <a:xfrm>
            <a:off x="886968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Hundreds of ready connectors</a:t>
            </a:r>
            <a:endParaRPr lang="en-US" sz="1400" dirty="0"/>
          </a:p>
        </p:txBody>
      </p:sp>
      <p:sp>
        <p:nvSpPr>
          <p:cNvPr id="14" name="Card 103"/>
          <p:cNvSpPr txBox="1"/>
          <p:nvPr/>
        </p:nvSpPr>
        <p:spPr>
          <a:xfrm>
            <a:off x="594360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Tracks every piece of data</a:t>
            </a:r>
            <a:endParaRPr lang="en-US" sz="1400" dirty="0"/>
          </a:p>
        </p:txBody>
      </p:sp>
      <p:sp>
        <p:nvSpPr>
          <p:cNvPr id="15" name="Card 104"/>
          <p:cNvSpPr txBox="1"/>
          <p:nvPr/>
        </p:nvSpPr>
        <p:spPr>
          <a:xfrm>
            <a:off x="886968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Retries when things fail</a:t>
            </a:r>
            <a:endParaRPr lang="en-US" sz="1400" dirty="0"/>
          </a:p>
        </p:txBody>
      </p:sp>
      <p:sp>
        <p:nvSpPr>
          <p:cNvPr id="16" name="Card 105"/>
          <p:cNvSpPr txBox="1"/>
          <p:nvPr/>
        </p:nvSpPr>
        <p:spPr>
          <a:xfrm>
            <a:off x="5943600" y="4663440"/>
            <a:ext cx="5669280" cy="685800"/>
          </a:xfrm>
          <a:prstGeom prst="roundRect">
            <a:avLst>
              <a:gd name="adj" fmla="val 13333"/>
            </a:avLst>
          </a:prstGeom>
          <a:solidFill>
            <a:srgbClr val="E0F2FE"/>
          </a:solidFill>
          <a:ln w="9525">
            <a:solidFill>
              <a:srgbClr val="0EA5E9"/>
            </a:solidFill>
          </a:ln>
        </p:spPr>
        <p:txBody>
          <a:bodyPr wrap="square" lIns="165100" tIns="165100" rIns="165100" bIns="165100" rtlCol="0" anchor="ctr"/>
          <a:lstStyle/>
          <a:p>
            <a:pPr algn="l" indent="0" marL="0">
              <a:buNone/>
            </a:pPr>
            <a:r>
              <a:rPr lang="en-US" sz="1400" b="1" dirty="0">
                <a:solidFill>
                  <a:srgbClr val="0B1437"/>
                </a:solidFill>
              </a:rPr>
              <a:t>Think of it as:  </a:t>
            </a:r>
            <a:pPr algn="l" indent="0" marL="0">
              <a:buNone/>
            </a:pPr>
            <a:r>
              <a:rPr lang="en-US" sz="1400" dirty="0">
                <a:solidFill>
                  <a:srgbClr val="1E293B"/>
                </a:solidFill>
              </a:rPr>
              <a:t>a delivery truck that collects parcels from many shops and drops them at one warehouse.</a:t>
            </a:r>
            <a:endParaRPr lang="en-US" sz="1400" dirty="0"/>
          </a:p>
        </p:txBody>
      </p:sp>
      <p:sp>
        <p:nvSpPr>
          <p:cNvPr id="17" name="Card 106"/>
          <p:cNvSpPr txBox="1"/>
          <p:nvPr/>
        </p:nvSpPr>
        <p:spPr>
          <a:xfrm>
            <a:off x="548640" y="5532120"/>
            <a:ext cx="11091672" cy="640080"/>
          </a:xfrm>
          <a:prstGeom prst="roundRect">
            <a:avLst>
              <a:gd name="adj" fmla="val 14286"/>
            </a:avLst>
          </a:prstGeom>
          <a:solidFill>
            <a:srgbClr val="FEF3C7"/>
          </a:solidFill>
          <a:ln w="9525">
            <a:solidFill>
              <a:srgbClr val="FDE68A"/>
            </a:solidFill>
          </a:ln>
        </p:spPr>
        <p:txBody>
          <a:bodyPr wrap="square" lIns="228600" tIns="228600" rIns="228600" bIns="228600" rtlCol="0" anchor="ctr"/>
          <a:lstStyle/>
          <a:p>
            <a:pPr algn="l" indent="0" marL="0">
              <a:buNone/>
            </a:pPr>
            <a:r>
              <a:rPr lang="en-US" sz="1600" b="1" dirty="0">
                <a:solidFill>
                  <a:srgbClr val="0B1437"/>
                </a:solidFill>
              </a:rPr>
              <a:t>In ShopEasy:  </a:t>
            </a:r>
            <a:pPr algn="l" indent="0" marL="0">
              <a:buNone/>
            </a:pPr>
            <a:r>
              <a:rPr lang="en-US" sz="1600" dirty="0">
                <a:solidFill>
                  <a:srgbClr val="1E293B"/>
                </a:solidFill>
              </a:rPr>
              <a:t>every few minutes NiFi collects new orders, click logs and payment files and drops them into Ozone.</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rt tag"/>
          <p:cNvSpPr txBox="1"/>
          <p:nvPr/>
        </p:nvSpPr>
        <p:spPr>
          <a:xfrm>
            <a:off x="548640" y="384048"/>
            <a:ext cx="2735885" cy="274320"/>
          </a:xfrm>
          <a:prstGeom prst="roundRect">
            <a:avLst>
              <a:gd name="adj" fmla="val 50000"/>
            </a:avLst>
          </a:prstGeom>
          <a:solidFill>
            <a:srgbClr val="047857"/>
          </a:solidFill>
          <a:ln w="9525">
            <a:solidFill>
              <a:srgbClr val="047857"/>
            </a:solidFill>
          </a:ln>
        </p:spPr>
        <p:txBody>
          <a:bodyPr wrap="square" lIns="0" tIns="0" rIns="0" bIns="0" rtlCol="0" anchor="ctr"/>
          <a:lstStyle/>
          <a:p>
            <a:pPr algn="ctr" indent="0" marL="0">
              <a:buNone/>
            </a:pPr>
            <a:r>
              <a:rPr lang="en-US" sz="1100" b="1" dirty="0">
                <a:solidFill>
                  <a:srgbClr val="FFFFFF"/>
                </a:solidFill>
              </a:rPr>
              <a:t>PART 3  ·  TOOLS  ·  STORE</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Apache Ozone: the giant warehouse</a:t>
            </a:r>
            <a:endParaRPr lang="en-US" sz="3200" dirty="0"/>
          </a:p>
        </p:txBody>
      </p:sp>
      <p:sp>
        <p:nvSpPr>
          <p:cNvPr id="5" name="Text 107"/>
          <p:cNvSpPr txBox="1"/>
          <p:nvPr/>
        </p:nvSpPr>
        <p:spPr>
          <a:xfrm>
            <a:off x="548640" y="1874520"/>
            <a:ext cx="5120640" cy="3474720"/>
          </a:xfrm>
          <a:prstGeom prst="rect">
            <a:avLst/>
          </a:prstGeom>
          <a:noFill/>
          <a:ln/>
        </p:spPr>
        <p:txBody>
          <a:bodyPr wrap="square" lIns="0" tIns="0" rIns="0" bIns="0" rtlCol="0" anchor="t"/>
          <a:lstStyle/>
          <a:p>
            <a:pPr marL="342900" indent="-342900">
              <a:spcAft>
                <a:spcPts val="2200"/>
              </a:spcAft>
              <a:buSzPct val="100000"/>
              <a:buChar char="•"/>
            </a:pPr>
            <a:r>
              <a:rPr lang="en-US" sz="2000" b="1" dirty="0">
                <a:solidFill>
                  <a:srgbClr val="0B1437"/>
                </a:solidFill>
              </a:rPr>
              <a:t>What it is: </a:t>
            </a:r>
            <a:pPr indent="0" marL="0">
              <a:buNone/>
            </a:pPr>
            <a:r>
              <a:rPr lang="en-US" sz="2000" dirty="0">
                <a:solidFill>
                  <a:srgbClr val="1E293B"/>
                </a:solidFill>
              </a:rPr>
              <a:t>a storage system for very large amounts of data, similar to Amazon S3 but run by you.</a:t>
            </a:r>
            <a:endParaRPr lang="en-US" sz="2000" dirty="0"/>
          </a:p>
          <a:p>
            <a:pPr marL="342900" indent="-342900">
              <a:spcAft>
                <a:spcPts val="2200"/>
              </a:spcAft>
              <a:buSzPct val="100000"/>
              <a:buChar char="•"/>
            </a:pPr>
            <a:r>
              <a:rPr lang="en-US" sz="2000" b="1" dirty="0">
                <a:solidFill>
                  <a:srgbClr val="0B1437"/>
                </a:solidFill>
              </a:rPr>
              <a:t>Its job here: </a:t>
            </a:r>
            <a:pPr indent="0" marL="0">
              <a:buNone/>
            </a:pPr>
            <a:r>
              <a:rPr lang="en-US" sz="2000" dirty="0">
                <a:solidFill>
                  <a:srgbClr val="1E293B"/>
                </a:solidFill>
              </a:rPr>
              <a:t>keeps the raw files safe, and later holds the final tables too.</a:t>
            </a:r>
            <a:endParaRPr lang="en-US" sz="2000" dirty="0"/>
          </a:p>
          <a:p>
            <a:pPr marL="342900" indent="-342900">
              <a:spcAft>
                <a:spcPts val="2200"/>
              </a:spcAft>
              <a:buSzPct val="100000"/>
              <a:buChar char="•"/>
            </a:pPr>
            <a:r>
              <a:rPr lang="en-US" sz="2000" b="1" dirty="0">
                <a:solidFill>
                  <a:srgbClr val="0B1437"/>
                </a:solidFill>
              </a:rPr>
              <a:t>Why use it: </a:t>
            </a:r>
            <a:pPr indent="0" marL="0">
              <a:buNone/>
            </a:pPr>
            <a:r>
              <a:rPr lang="en-US" sz="2000" dirty="0">
                <a:solidFill>
                  <a:srgbClr val="1E293B"/>
                </a:solidFill>
              </a:rPr>
              <a:t>it grows by adding machines and keeps extra copies for safety.</a:t>
            </a:r>
            <a:endParaRPr lang="en-US" sz="2000" dirty="0"/>
          </a:p>
        </p:txBody>
      </p:sp>
      <p:sp>
        <p:nvSpPr>
          <p:cNvPr id="6" name="Card 108"/>
          <p:cNvSpPr txBox="1"/>
          <p:nvPr/>
        </p:nvSpPr>
        <p:spPr>
          <a:xfrm>
            <a:off x="5943600" y="1783080"/>
            <a:ext cx="1508760" cy="1005840"/>
          </a:xfrm>
          <a:prstGeom prst="roundRect">
            <a:avLst>
              <a:gd name="adj" fmla="val 9091"/>
            </a:avLst>
          </a:prstGeom>
          <a:solidFill>
            <a:srgbClr val="F1F5F9"/>
          </a:solidFill>
          <a:ln w="9525">
            <a:solidFill>
              <a:srgbClr val="CBD5E1"/>
            </a:solidFill>
          </a:ln>
        </p:spPr>
        <p:txBody>
          <a:bodyPr wrap="square" lIns="101600" tIns="101600" rIns="101600" bIns="101600" rtlCol="0" anchor="ctr"/>
          <a:lstStyle/>
          <a:p>
            <a:pPr algn="ctr" indent="0" marL="0">
              <a:buNone/>
            </a:pPr>
            <a:r>
              <a:rPr lang="en-US" sz="1100" b="1" dirty="0">
                <a:solidFill>
                  <a:srgbClr val="64748B"/>
                </a:solidFill>
              </a:rPr>
              <a:t>INPUT</a:t>
            </a:r>
            <a:endParaRPr lang="en-US" sz="1400" dirty="0"/>
          </a:p>
          <a:p>
            <a:pPr algn="ctr" indent="0" marL="0">
              <a:buNone/>
            </a:pPr>
            <a:r>
              <a:rPr lang="en-US" sz="1400" b="1" dirty="0">
                <a:solidFill>
                  <a:srgbClr val="1E293B"/>
                </a:solidFill>
              </a:rPr>
              <a:t>Files from NiFi</a:t>
            </a:r>
            <a:endParaRPr lang="en-US" sz="1400" dirty="0"/>
          </a:p>
        </p:txBody>
      </p:sp>
      <p:sp>
        <p:nvSpPr>
          <p:cNvPr id="7" name="Arrow 109"/>
          <p:cNvSpPr/>
          <p:nvPr/>
        </p:nvSpPr>
        <p:spPr>
          <a:xfrm>
            <a:off x="7452360" y="2286000"/>
            <a:ext cx="365760" cy="0"/>
          </a:xfrm>
          <a:prstGeom prst="line">
            <a:avLst/>
          </a:prstGeom>
          <a:noFill/>
          <a:ln w="25400">
            <a:solidFill>
              <a:srgbClr val="64748B"/>
            </a:solidFill>
            <a:prstDash val="solid"/>
            <a:tailEnd type="triangle"/>
          </a:ln>
        </p:spPr>
      </p:sp>
      <p:sp>
        <p:nvSpPr>
          <p:cNvPr id="8" name="Card 110"/>
          <p:cNvSpPr txBox="1"/>
          <p:nvPr/>
        </p:nvSpPr>
        <p:spPr>
          <a:xfrm>
            <a:off x="7818120" y="1783080"/>
            <a:ext cx="1920240" cy="1005840"/>
          </a:xfrm>
          <a:prstGeom prst="roundRect">
            <a:avLst>
              <a:gd name="adj" fmla="val 9091"/>
            </a:avLst>
          </a:prstGeom>
          <a:solidFill>
            <a:srgbClr val="0B1437"/>
          </a:solidFill>
          <a:ln w="9525">
            <a:solidFill>
              <a:srgbClr val="0B1437"/>
            </a:solidFill>
          </a:ln>
        </p:spPr>
        <p:txBody>
          <a:bodyPr wrap="square" lIns="101600" tIns="101600" rIns="101600" bIns="101600" rtlCol="0" anchor="ctr"/>
          <a:lstStyle/>
          <a:p>
            <a:pPr algn="ctr" indent="0" marL="0">
              <a:buNone/>
            </a:pPr>
            <a:r>
              <a:rPr lang="en-US" sz="1800" b="1" dirty="0">
                <a:solidFill>
                  <a:srgbClr val="FFFFFF"/>
                </a:solidFill>
              </a:rPr>
              <a:t>Ozone</a:t>
            </a:r>
            <a:endParaRPr lang="en-US" sz="1400" dirty="0"/>
          </a:p>
          <a:p>
            <a:pPr algn="ctr" indent="0" marL="0">
              <a:buNone/>
            </a:pPr>
            <a:r>
              <a:rPr lang="en-US" sz="1200" b="1" dirty="0">
                <a:solidFill>
                  <a:srgbClr val="F59E0B"/>
                </a:solidFill>
              </a:rPr>
              <a:t>STORE</a:t>
            </a:r>
            <a:endParaRPr lang="en-US" sz="1400" dirty="0"/>
          </a:p>
        </p:txBody>
      </p:sp>
      <p:sp>
        <p:nvSpPr>
          <p:cNvPr id="9" name="Arrow 111"/>
          <p:cNvSpPr/>
          <p:nvPr/>
        </p:nvSpPr>
        <p:spPr>
          <a:xfrm>
            <a:off x="9738360" y="2286000"/>
            <a:ext cx="365760" cy="0"/>
          </a:xfrm>
          <a:prstGeom prst="line">
            <a:avLst/>
          </a:prstGeom>
          <a:noFill/>
          <a:ln w="25400">
            <a:solidFill>
              <a:srgbClr val="64748B"/>
            </a:solidFill>
            <a:prstDash val="solid"/>
            <a:tailEnd type="triangle"/>
          </a:ln>
        </p:spPr>
      </p:sp>
      <p:sp>
        <p:nvSpPr>
          <p:cNvPr id="10" name="Card 112"/>
          <p:cNvSpPr txBox="1"/>
          <p:nvPr/>
        </p:nvSpPr>
        <p:spPr>
          <a:xfrm>
            <a:off x="10104120" y="1783080"/>
            <a:ext cx="1508760" cy="1005840"/>
          </a:xfrm>
          <a:prstGeom prst="roundRect">
            <a:avLst>
              <a:gd name="adj" fmla="val 9091"/>
            </a:avLst>
          </a:prstGeom>
          <a:solidFill>
            <a:srgbClr val="D1FAE5"/>
          </a:solidFill>
          <a:ln w="9525">
            <a:solidFill>
              <a:srgbClr val="10B981"/>
            </a:solidFill>
          </a:ln>
        </p:spPr>
        <p:txBody>
          <a:bodyPr wrap="square" lIns="101600" tIns="101600" rIns="101600" bIns="101600" rtlCol="0" anchor="ctr"/>
          <a:lstStyle/>
          <a:p>
            <a:pPr algn="ctr" indent="0" marL="0">
              <a:buNone/>
            </a:pPr>
            <a:r>
              <a:rPr lang="en-US" sz="1100" b="1" dirty="0">
                <a:solidFill>
                  <a:srgbClr val="047857"/>
                </a:solidFill>
              </a:rPr>
              <a:t>OUTPUT</a:t>
            </a:r>
            <a:endParaRPr lang="en-US" sz="1400" dirty="0"/>
          </a:p>
          <a:p>
            <a:pPr algn="ctr" indent="0" marL="0">
              <a:buNone/>
            </a:pPr>
            <a:r>
              <a:rPr lang="en-US" sz="1400" b="1" dirty="0">
                <a:solidFill>
                  <a:srgbClr val="1E293B"/>
                </a:solidFill>
              </a:rPr>
              <a:t>Files read by Spark</a:t>
            </a:r>
            <a:endParaRPr lang="en-US" sz="1400" dirty="0"/>
          </a:p>
        </p:txBody>
      </p:sp>
      <p:sp>
        <p:nvSpPr>
          <p:cNvPr id="11" name="Text 113"/>
          <p:cNvSpPr txBox="1"/>
          <p:nvPr/>
        </p:nvSpPr>
        <p:spPr>
          <a:xfrm>
            <a:off x="5943600" y="2971800"/>
            <a:ext cx="2743200" cy="228600"/>
          </a:xfrm>
          <a:prstGeom prst="rect">
            <a:avLst/>
          </a:prstGeom>
          <a:noFill/>
          <a:ln/>
        </p:spPr>
        <p:txBody>
          <a:bodyPr wrap="square" lIns="0" tIns="0" rIns="0" bIns="0" rtlCol="0" anchor="t"/>
          <a:lstStyle/>
          <a:p>
            <a:pPr indent="0" marL="0">
              <a:buNone/>
            </a:pPr>
            <a:r>
              <a:rPr lang="en-US" sz="1400" b="1" dirty="0">
                <a:solidFill>
                  <a:srgbClr val="64748B"/>
                </a:solidFill>
              </a:rPr>
              <a:t>Key features</a:t>
            </a:r>
            <a:endParaRPr lang="en-US" sz="1400" dirty="0"/>
          </a:p>
        </p:txBody>
      </p:sp>
      <p:sp>
        <p:nvSpPr>
          <p:cNvPr id="12" name="Card 114"/>
          <p:cNvSpPr txBox="1"/>
          <p:nvPr/>
        </p:nvSpPr>
        <p:spPr>
          <a:xfrm>
            <a:off x="594360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S3-compatible access</a:t>
            </a:r>
            <a:endParaRPr lang="en-US" sz="1400" dirty="0"/>
          </a:p>
        </p:txBody>
      </p:sp>
      <p:sp>
        <p:nvSpPr>
          <p:cNvPr id="13" name="Card 115"/>
          <p:cNvSpPr txBox="1"/>
          <p:nvPr/>
        </p:nvSpPr>
        <p:spPr>
          <a:xfrm>
            <a:off x="886968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Scales to billions of files</a:t>
            </a:r>
            <a:endParaRPr lang="en-US" sz="1400" dirty="0"/>
          </a:p>
        </p:txBody>
      </p:sp>
      <p:sp>
        <p:nvSpPr>
          <p:cNvPr id="14" name="Card 116"/>
          <p:cNvSpPr txBox="1"/>
          <p:nvPr/>
        </p:nvSpPr>
        <p:spPr>
          <a:xfrm>
            <a:off x="594360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Keeps safe copies of data</a:t>
            </a:r>
            <a:endParaRPr lang="en-US" sz="1400" dirty="0"/>
          </a:p>
        </p:txBody>
      </p:sp>
      <p:sp>
        <p:nvSpPr>
          <p:cNvPr id="15" name="Card 117"/>
          <p:cNvSpPr txBox="1"/>
          <p:nvPr/>
        </p:nvSpPr>
        <p:spPr>
          <a:xfrm>
            <a:off x="886968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Works with Spark and Hive</a:t>
            </a:r>
            <a:endParaRPr lang="en-US" sz="1400" dirty="0"/>
          </a:p>
        </p:txBody>
      </p:sp>
      <p:sp>
        <p:nvSpPr>
          <p:cNvPr id="16" name="Card 118"/>
          <p:cNvSpPr txBox="1"/>
          <p:nvPr/>
        </p:nvSpPr>
        <p:spPr>
          <a:xfrm>
            <a:off x="5943600" y="4663440"/>
            <a:ext cx="5669280" cy="685800"/>
          </a:xfrm>
          <a:prstGeom prst="roundRect">
            <a:avLst>
              <a:gd name="adj" fmla="val 13333"/>
            </a:avLst>
          </a:prstGeom>
          <a:solidFill>
            <a:srgbClr val="E0F2FE"/>
          </a:solidFill>
          <a:ln w="9525">
            <a:solidFill>
              <a:srgbClr val="0EA5E9"/>
            </a:solidFill>
          </a:ln>
        </p:spPr>
        <p:txBody>
          <a:bodyPr wrap="square" lIns="165100" tIns="165100" rIns="165100" bIns="165100" rtlCol="0" anchor="ctr"/>
          <a:lstStyle/>
          <a:p>
            <a:pPr algn="l" indent="0" marL="0">
              <a:buNone/>
            </a:pPr>
            <a:r>
              <a:rPr lang="en-US" sz="1400" b="1" dirty="0">
                <a:solidFill>
                  <a:srgbClr val="0B1437"/>
                </a:solidFill>
              </a:rPr>
              <a:t>Think of it as:  </a:t>
            </a:r>
            <a:pPr algn="l" indent="0" marL="0">
              <a:buNone/>
            </a:pPr>
            <a:r>
              <a:rPr lang="en-US" sz="1400" dirty="0">
                <a:solidFill>
                  <a:srgbClr val="1E293B"/>
                </a:solidFill>
              </a:rPr>
              <a:t>a giant warehouse with labelled shelves where every box (object) has its own address.</a:t>
            </a:r>
            <a:endParaRPr lang="en-US" sz="1400" dirty="0"/>
          </a:p>
        </p:txBody>
      </p:sp>
      <p:sp>
        <p:nvSpPr>
          <p:cNvPr id="17" name="Card 119"/>
          <p:cNvSpPr txBox="1"/>
          <p:nvPr/>
        </p:nvSpPr>
        <p:spPr>
          <a:xfrm>
            <a:off x="548640" y="5532120"/>
            <a:ext cx="11091672" cy="640080"/>
          </a:xfrm>
          <a:prstGeom prst="roundRect">
            <a:avLst>
              <a:gd name="adj" fmla="val 14286"/>
            </a:avLst>
          </a:prstGeom>
          <a:solidFill>
            <a:srgbClr val="FEF3C7"/>
          </a:solidFill>
          <a:ln w="9525">
            <a:solidFill>
              <a:srgbClr val="FDE68A"/>
            </a:solidFill>
          </a:ln>
        </p:spPr>
        <p:txBody>
          <a:bodyPr wrap="square" lIns="228600" tIns="228600" rIns="228600" bIns="228600" rtlCol="0" anchor="ctr"/>
          <a:lstStyle/>
          <a:p>
            <a:pPr algn="l" indent="0" marL="0">
              <a:buNone/>
            </a:pPr>
            <a:r>
              <a:rPr lang="en-US" sz="1600" b="1" dirty="0">
                <a:solidFill>
                  <a:srgbClr val="0B1437"/>
                </a:solidFill>
              </a:rPr>
              <a:t>In ShopEasy:  </a:t>
            </a:r>
            <a:pPr algn="l" indent="0" marL="0">
              <a:buNone/>
            </a:pPr>
            <a:r>
              <a:rPr lang="en-US" sz="1600" dirty="0">
                <a:solidFill>
                  <a:srgbClr val="1E293B"/>
                </a:solidFill>
              </a:rPr>
              <a:t>raw orders, clicks and payments land in a “raw” bucket. Clean tables are stored here later.</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rt tag"/>
          <p:cNvSpPr txBox="1"/>
          <p:nvPr/>
        </p:nvSpPr>
        <p:spPr>
          <a:xfrm>
            <a:off x="548640" y="384048"/>
            <a:ext cx="2904134" cy="274320"/>
          </a:xfrm>
          <a:prstGeom prst="roundRect">
            <a:avLst>
              <a:gd name="adj" fmla="val 50000"/>
            </a:avLst>
          </a:prstGeom>
          <a:solidFill>
            <a:srgbClr val="047857"/>
          </a:solidFill>
          <a:ln w="9525">
            <a:solidFill>
              <a:srgbClr val="047857"/>
            </a:solidFill>
          </a:ln>
        </p:spPr>
        <p:txBody>
          <a:bodyPr wrap="square" lIns="0" tIns="0" rIns="0" bIns="0" rtlCol="0" anchor="ctr"/>
          <a:lstStyle/>
          <a:p>
            <a:pPr algn="ctr" indent="0" marL="0">
              <a:buNone/>
            </a:pPr>
            <a:r>
              <a:rPr lang="en-US" sz="1100" b="1" dirty="0">
                <a:solidFill>
                  <a:srgbClr val="FFFFFF"/>
                </a:solidFill>
              </a:rPr>
              <a:t>PART 3  ·  TOOLS  ·  PROCESS</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Apache Spark: the busy kitchen</a:t>
            </a:r>
            <a:endParaRPr lang="en-US" sz="3200" dirty="0"/>
          </a:p>
        </p:txBody>
      </p:sp>
      <p:sp>
        <p:nvSpPr>
          <p:cNvPr id="5" name="Text 120"/>
          <p:cNvSpPr txBox="1"/>
          <p:nvPr/>
        </p:nvSpPr>
        <p:spPr>
          <a:xfrm>
            <a:off x="548640" y="1874520"/>
            <a:ext cx="5120640" cy="3474720"/>
          </a:xfrm>
          <a:prstGeom prst="rect">
            <a:avLst/>
          </a:prstGeom>
          <a:noFill/>
          <a:ln/>
        </p:spPr>
        <p:txBody>
          <a:bodyPr wrap="square" lIns="0" tIns="0" rIns="0" bIns="0" rtlCol="0" anchor="t"/>
          <a:lstStyle/>
          <a:p>
            <a:pPr marL="342900" indent="-342900">
              <a:spcAft>
                <a:spcPts val="2200"/>
              </a:spcAft>
              <a:buSzPct val="100000"/>
              <a:buChar char="•"/>
            </a:pPr>
            <a:r>
              <a:rPr lang="en-US" sz="2000" b="1" dirty="0">
                <a:solidFill>
                  <a:srgbClr val="0B1437"/>
                </a:solidFill>
              </a:rPr>
              <a:t>What it is: </a:t>
            </a:r>
            <a:pPr indent="0" marL="0">
              <a:buNone/>
            </a:pPr>
            <a:r>
              <a:rPr lang="en-US" sz="2000" dirty="0">
                <a:solidFill>
                  <a:srgbClr val="1E293B"/>
                </a:solidFill>
              </a:rPr>
              <a:t>an engine that processes huge data by splitting the work across many computers.</a:t>
            </a:r>
            <a:endParaRPr lang="en-US" sz="2000" dirty="0"/>
          </a:p>
          <a:p>
            <a:pPr marL="342900" indent="-342900">
              <a:spcAft>
                <a:spcPts val="2200"/>
              </a:spcAft>
              <a:buSzPct val="100000"/>
              <a:buChar char="•"/>
            </a:pPr>
            <a:r>
              <a:rPr lang="en-US" sz="2000" b="1" dirty="0">
                <a:solidFill>
                  <a:srgbClr val="0B1437"/>
                </a:solidFill>
              </a:rPr>
              <a:t>Its job here: </a:t>
            </a:r>
            <a:pPr indent="0" marL="0">
              <a:buNone/>
            </a:pPr>
            <a:r>
              <a:rPr lang="en-US" sz="2000" dirty="0">
                <a:solidFill>
                  <a:srgbClr val="1E293B"/>
                </a:solidFill>
              </a:rPr>
              <a:t>removes duplicates, joins orders with payments and calculates daily sales.</a:t>
            </a:r>
            <a:endParaRPr lang="en-US" sz="2000" dirty="0"/>
          </a:p>
          <a:p>
            <a:pPr marL="342900" indent="-342900">
              <a:spcAft>
                <a:spcPts val="2200"/>
              </a:spcAft>
              <a:buSzPct val="100000"/>
              <a:buChar char="•"/>
            </a:pPr>
            <a:r>
              <a:rPr lang="en-US" sz="2000" b="1" dirty="0">
                <a:solidFill>
                  <a:srgbClr val="0B1437"/>
                </a:solidFill>
              </a:rPr>
              <a:t>Why use it: </a:t>
            </a:r>
            <a:pPr indent="0" marL="0">
              <a:buNone/>
            </a:pPr>
            <a:r>
              <a:rPr lang="en-US" sz="2000" dirty="0">
                <a:solidFill>
                  <a:srgbClr val="1E293B"/>
                </a:solidFill>
              </a:rPr>
              <a:t>it is fast because it works in parallel and in memory.</a:t>
            </a:r>
            <a:endParaRPr lang="en-US" sz="2000" dirty="0"/>
          </a:p>
        </p:txBody>
      </p:sp>
      <p:sp>
        <p:nvSpPr>
          <p:cNvPr id="6" name="Card 121"/>
          <p:cNvSpPr txBox="1"/>
          <p:nvPr/>
        </p:nvSpPr>
        <p:spPr>
          <a:xfrm>
            <a:off x="5943600" y="1783080"/>
            <a:ext cx="1508760" cy="1005840"/>
          </a:xfrm>
          <a:prstGeom prst="roundRect">
            <a:avLst>
              <a:gd name="adj" fmla="val 9091"/>
            </a:avLst>
          </a:prstGeom>
          <a:solidFill>
            <a:srgbClr val="F1F5F9"/>
          </a:solidFill>
          <a:ln w="9525">
            <a:solidFill>
              <a:srgbClr val="CBD5E1"/>
            </a:solidFill>
          </a:ln>
        </p:spPr>
        <p:txBody>
          <a:bodyPr wrap="square" lIns="101600" tIns="101600" rIns="101600" bIns="101600" rtlCol="0" anchor="ctr"/>
          <a:lstStyle/>
          <a:p>
            <a:pPr algn="ctr" indent="0" marL="0">
              <a:buNone/>
            </a:pPr>
            <a:r>
              <a:rPr lang="en-US" sz="1100" b="1" dirty="0">
                <a:solidFill>
                  <a:srgbClr val="64748B"/>
                </a:solidFill>
              </a:rPr>
              <a:t>INPUT</a:t>
            </a:r>
            <a:endParaRPr lang="en-US" sz="1400" dirty="0"/>
          </a:p>
          <a:p>
            <a:pPr algn="ctr" indent="0" marL="0">
              <a:buNone/>
            </a:pPr>
            <a:r>
              <a:rPr lang="en-US" sz="1400" b="1" dirty="0">
                <a:solidFill>
                  <a:srgbClr val="1E293B"/>
                </a:solidFill>
              </a:rPr>
              <a:t>Raw files from Ozone</a:t>
            </a:r>
            <a:endParaRPr lang="en-US" sz="1400" dirty="0"/>
          </a:p>
        </p:txBody>
      </p:sp>
      <p:sp>
        <p:nvSpPr>
          <p:cNvPr id="7" name="Arrow 122"/>
          <p:cNvSpPr/>
          <p:nvPr/>
        </p:nvSpPr>
        <p:spPr>
          <a:xfrm>
            <a:off x="7452360" y="2286000"/>
            <a:ext cx="365760" cy="0"/>
          </a:xfrm>
          <a:prstGeom prst="line">
            <a:avLst/>
          </a:prstGeom>
          <a:noFill/>
          <a:ln w="25400">
            <a:solidFill>
              <a:srgbClr val="64748B"/>
            </a:solidFill>
            <a:prstDash val="solid"/>
            <a:tailEnd type="triangle"/>
          </a:ln>
        </p:spPr>
      </p:sp>
      <p:sp>
        <p:nvSpPr>
          <p:cNvPr id="8" name="Card 123"/>
          <p:cNvSpPr txBox="1"/>
          <p:nvPr/>
        </p:nvSpPr>
        <p:spPr>
          <a:xfrm>
            <a:off x="7818120" y="1783080"/>
            <a:ext cx="1920240" cy="1005840"/>
          </a:xfrm>
          <a:prstGeom prst="roundRect">
            <a:avLst>
              <a:gd name="adj" fmla="val 9091"/>
            </a:avLst>
          </a:prstGeom>
          <a:solidFill>
            <a:srgbClr val="0B1437"/>
          </a:solidFill>
          <a:ln w="9525">
            <a:solidFill>
              <a:srgbClr val="0B1437"/>
            </a:solidFill>
          </a:ln>
        </p:spPr>
        <p:txBody>
          <a:bodyPr wrap="square" lIns="101600" tIns="101600" rIns="101600" bIns="101600" rtlCol="0" anchor="ctr"/>
          <a:lstStyle/>
          <a:p>
            <a:pPr algn="ctr" indent="0" marL="0">
              <a:buNone/>
            </a:pPr>
            <a:r>
              <a:rPr lang="en-US" sz="1800" b="1" dirty="0">
                <a:solidFill>
                  <a:srgbClr val="FFFFFF"/>
                </a:solidFill>
              </a:rPr>
              <a:t>Spark</a:t>
            </a:r>
            <a:endParaRPr lang="en-US" sz="1400" dirty="0"/>
          </a:p>
          <a:p>
            <a:pPr algn="ctr" indent="0" marL="0">
              <a:buNone/>
            </a:pPr>
            <a:r>
              <a:rPr lang="en-US" sz="1200" b="1" dirty="0">
                <a:solidFill>
                  <a:srgbClr val="F59E0B"/>
                </a:solidFill>
              </a:rPr>
              <a:t>PROCESS</a:t>
            </a:r>
            <a:endParaRPr lang="en-US" sz="1400" dirty="0"/>
          </a:p>
        </p:txBody>
      </p:sp>
      <p:sp>
        <p:nvSpPr>
          <p:cNvPr id="9" name="Arrow 124"/>
          <p:cNvSpPr/>
          <p:nvPr/>
        </p:nvSpPr>
        <p:spPr>
          <a:xfrm>
            <a:off x="9738360" y="2286000"/>
            <a:ext cx="365760" cy="0"/>
          </a:xfrm>
          <a:prstGeom prst="line">
            <a:avLst/>
          </a:prstGeom>
          <a:noFill/>
          <a:ln w="25400">
            <a:solidFill>
              <a:srgbClr val="64748B"/>
            </a:solidFill>
            <a:prstDash val="solid"/>
            <a:tailEnd type="triangle"/>
          </a:ln>
        </p:spPr>
      </p:sp>
      <p:sp>
        <p:nvSpPr>
          <p:cNvPr id="10" name="Card 125"/>
          <p:cNvSpPr txBox="1"/>
          <p:nvPr/>
        </p:nvSpPr>
        <p:spPr>
          <a:xfrm>
            <a:off x="10104120" y="1783080"/>
            <a:ext cx="1508760" cy="1005840"/>
          </a:xfrm>
          <a:prstGeom prst="roundRect">
            <a:avLst>
              <a:gd name="adj" fmla="val 9091"/>
            </a:avLst>
          </a:prstGeom>
          <a:solidFill>
            <a:srgbClr val="D1FAE5"/>
          </a:solidFill>
          <a:ln w="9525">
            <a:solidFill>
              <a:srgbClr val="10B981"/>
            </a:solidFill>
          </a:ln>
        </p:spPr>
        <p:txBody>
          <a:bodyPr wrap="square" lIns="101600" tIns="101600" rIns="101600" bIns="101600" rtlCol="0" anchor="ctr"/>
          <a:lstStyle/>
          <a:p>
            <a:pPr algn="ctr" indent="0" marL="0">
              <a:buNone/>
            </a:pPr>
            <a:r>
              <a:rPr lang="en-US" sz="1100" b="1" dirty="0">
                <a:solidFill>
                  <a:srgbClr val="047857"/>
                </a:solidFill>
              </a:rPr>
              <a:t>OUTPUT</a:t>
            </a:r>
            <a:endParaRPr lang="en-US" sz="1400" dirty="0"/>
          </a:p>
          <a:p>
            <a:pPr algn="ctr" indent="0" marL="0">
              <a:buNone/>
            </a:pPr>
            <a:r>
              <a:rPr lang="en-US" sz="1400" b="1" dirty="0">
                <a:solidFill>
                  <a:srgbClr val="1E293B"/>
                </a:solidFill>
              </a:rPr>
              <a:t>Clean tables (Iceberg)</a:t>
            </a:r>
            <a:endParaRPr lang="en-US" sz="1400" dirty="0"/>
          </a:p>
        </p:txBody>
      </p:sp>
      <p:sp>
        <p:nvSpPr>
          <p:cNvPr id="11" name="Text 126"/>
          <p:cNvSpPr txBox="1"/>
          <p:nvPr/>
        </p:nvSpPr>
        <p:spPr>
          <a:xfrm>
            <a:off x="5943600" y="2971800"/>
            <a:ext cx="2743200" cy="228600"/>
          </a:xfrm>
          <a:prstGeom prst="rect">
            <a:avLst/>
          </a:prstGeom>
          <a:noFill/>
          <a:ln/>
        </p:spPr>
        <p:txBody>
          <a:bodyPr wrap="square" lIns="0" tIns="0" rIns="0" bIns="0" rtlCol="0" anchor="t"/>
          <a:lstStyle/>
          <a:p>
            <a:pPr indent="0" marL="0">
              <a:buNone/>
            </a:pPr>
            <a:r>
              <a:rPr lang="en-US" sz="1400" b="1" dirty="0">
                <a:solidFill>
                  <a:srgbClr val="64748B"/>
                </a:solidFill>
              </a:rPr>
              <a:t>Key features</a:t>
            </a:r>
            <a:endParaRPr lang="en-US" sz="1400" dirty="0"/>
          </a:p>
        </p:txBody>
      </p:sp>
      <p:sp>
        <p:nvSpPr>
          <p:cNvPr id="12" name="Card 127"/>
          <p:cNvSpPr txBox="1"/>
          <p:nvPr/>
        </p:nvSpPr>
        <p:spPr>
          <a:xfrm>
            <a:off x="594360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Parallel on many machines</a:t>
            </a:r>
            <a:endParaRPr lang="en-US" sz="1400" dirty="0"/>
          </a:p>
        </p:txBody>
      </p:sp>
      <p:sp>
        <p:nvSpPr>
          <p:cNvPr id="13" name="Card 128"/>
          <p:cNvSpPr txBox="1"/>
          <p:nvPr/>
        </p:nvSpPr>
        <p:spPr>
          <a:xfrm>
            <a:off x="886968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Use SQL, Python or Scala</a:t>
            </a:r>
            <a:endParaRPr lang="en-US" sz="1400" dirty="0"/>
          </a:p>
        </p:txBody>
      </p:sp>
      <p:sp>
        <p:nvSpPr>
          <p:cNvPr id="14" name="Card 129"/>
          <p:cNvSpPr txBox="1"/>
          <p:nvPr/>
        </p:nvSpPr>
        <p:spPr>
          <a:xfrm>
            <a:off x="594360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Batch and streaming data</a:t>
            </a:r>
            <a:endParaRPr lang="en-US" sz="1400" dirty="0"/>
          </a:p>
        </p:txBody>
      </p:sp>
      <p:sp>
        <p:nvSpPr>
          <p:cNvPr id="15" name="Card 130"/>
          <p:cNvSpPr txBox="1"/>
          <p:nvPr/>
        </p:nvSpPr>
        <p:spPr>
          <a:xfrm>
            <a:off x="886968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Reads and writes Iceberg</a:t>
            </a:r>
            <a:endParaRPr lang="en-US" sz="1400" dirty="0"/>
          </a:p>
        </p:txBody>
      </p:sp>
      <p:sp>
        <p:nvSpPr>
          <p:cNvPr id="16" name="Card 131"/>
          <p:cNvSpPr txBox="1"/>
          <p:nvPr/>
        </p:nvSpPr>
        <p:spPr>
          <a:xfrm>
            <a:off x="5943600" y="4663440"/>
            <a:ext cx="5669280" cy="685800"/>
          </a:xfrm>
          <a:prstGeom prst="roundRect">
            <a:avLst>
              <a:gd name="adj" fmla="val 13333"/>
            </a:avLst>
          </a:prstGeom>
          <a:solidFill>
            <a:srgbClr val="E0F2FE"/>
          </a:solidFill>
          <a:ln w="9525">
            <a:solidFill>
              <a:srgbClr val="0EA5E9"/>
            </a:solidFill>
          </a:ln>
        </p:spPr>
        <p:txBody>
          <a:bodyPr wrap="square" lIns="165100" tIns="165100" rIns="165100" bIns="165100" rtlCol="0" anchor="ctr"/>
          <a:lstStyle/>
          <a:p>
            <a:pPr algn="l" indent="0" marL="0">
              <a:buNone/>
            </a:pPr>
            <a:r>
              <a:rPr lang="en-US" sz="1400" b="1" dirty="0">
                <a:solidFill>
                  <a:srgbClr val="0B1437"/>
                </a:solidFill>
              </a:rPr>
              <a:t>Think of it as:  </a:t>
            </a:r>
            <a:pPr algn="l" indent="0" marL="0">
              <a:buNone/>
            </a:pPr>
            <a:r>
              <a:rPr lang="en-US" sz="1400" dirty="0">
                <a:solidFill>
                  <a:srgbClr val="1E293B"/>
                </a:solidFill>
              </a:rPr>
              <a:t>a big kitchen with many chefs. Each cooks one part, so the meal is ready quickly.</a:t>
            </a:r>
            <a:endParaRPr lang="en-US" sz="1400" dirty="0"/>
          </a:p>
        </p:txBody>
      </p:sp>
      <p:sp>
        <p:nvSpPr>
          <p:cNvPr id="17" name="Card 132"/>
          <p:cNvSpPr txBox="1"/>
          <p:nvPr/>
        </p:nvSpPr>
        <p:spPr>
          <a:xfrm>
            <a:off x="548640" y="5532120"/>
            <a:ext cx="11091672" cy="640080"/>
          </a:xfrm>
          <a:prstGeom prst="roundRect">
            <a:avLst>
              <a:gd name="adj" fmla="val 14286"/>
            </a:avLst>
          </a:prstGeom>
          <a:solidFill>
            <a:srgbClr val="FEF3C7"/>
          </a:solidFill>
          <a:ln w="9525">
            <a:solidFill>
              <a:srgbClr val="FDE68A"/>
            </a:solidFill>
          </a:ln>
        </p:spPr>
        <p:txBody>
          <a:bodyPr wrap="square" lIns="228600" tIns="228600" rIns="228600" bIns="228600" rtlCol="0" anchor="ctr"/>
          <a:lstStyle/>
          <a:p>
            <a:pPr algn="l" indent="0" marL="0">
              <a:buNone/>
            </a:pPr>
            <a:r>
              <a:rPr lang="en-US" sz="1600" b="1" dirty="0">
                <a:solidFill>
                  <a:srgbClr val="0B1437"/>
                </a:solidFill>
              </a:rPr>
              <a:t>In ShopEasy:  </a:t>
            </a:r>
            <a:pPr algn="l" indent="0" marL="0">
              <a:buNone/>
            </a:pPr>
            <a:r>
              <a:rPr lang="en-US" sz="1600" dirty="0">
                <a:solidFill>
                  <a:srgbClr val="1E293B"/>
                </a:solidFill>
              </a:rPr>
              <a:t>Spark removes duplicate orders, matches each order to its payment and totals sales per product per day.</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rt tag"/>
          <p:cNvSpPr txBox="1"/>
          <p:nvPr/>
        </p:nvSpPr>
        <p:spPr>
          <a:xfrm>
            <a:off x="548640" y="384048"/>
            <a:ext cx="2988259" cy="274320"/>
          </a:xfrm>
          <a:prstGeom prst="roundRect">
            <a:avLst>
              <a:gd name="adj" fmla="val 50000"/>
            </a:avLst>
          </a:prstGeom>
          <a:solidFill>
            <a:srgbClr val="047857"/>
          </a:solidFill>
          <a:ln w="9525">
            <a:solidFill>
              <a:srgbClr val="047857"/>
            </a:solidFill>
          </a:ln>
        </p:spPr>
        <p:txBody>
          <a:bodyPr wrap="square" lIns="0" tIns="0" rIns="0" bIns="0" rtlCol="0" anchor="ctr"/>
          <a:lstStyle/>
          <a:p>
            <a:pPr algn="ctr" indent="0" marL="0">
              <a:buNone/>
            </a:pPr>
            <a:r>
              <a:rPr lang="en-US" sz="1100" b="1" dirty="0">
                <a:solidFill>
                  <a:srgbClr val="FFFFFF"/>
                </a:solidFill>
              </a:rPr>
              <a:t>PART 3  ·  TOOLS  ·  ORGANISE</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Apache Iceberg: the smart catalogue</a:t>
            </a:r>
            <a:endParaRPr lang="en-US" sz="3200" dirty="0"/>
          </a:p>
        </p:txBody>
      </p:sp>
      <p:sp>
        <p:nvSpPr>
          <p:cNvPr id="5" name="Text 133"/>
          <p:cNvSpPr txBox="1"/>
          <p:nvPr/>
        </p:nvSpPr>
        <p:spPr>
          <a:xfrm>
            <a:off x="548640" y="1874520"/>
            <a:ext cx="5120640" cy="3474720"/>
          </a:xfrm>
          <a:prstGeom prst="rect">
            <a:avLst/>
          </a:prstGeom>
          <a:noFill/>
          <a:ln/>
        </p:spPr>
        <p:txBody>
          <a:bodyPr wrap="square" lIns="0" tIns="0" rIns="0" bIns="0" rtlCol="0" anchor="t"/>
          <a:lstStyle/>
          <a:p>
            <a:pPr marL="342900" indent="-342900">
              <a:spcAft>
                <a:spcPts val="2200"/>
              </a:spcAft>
              <a:buSzPct val="100000"/>
              <a:buChar char="•"/>
            </a:pPr>
            <a:r>
              <a:rPr lang="en-US" sz="2000" b="1" dirty="0">
                <a:solidFill>
                  <a:srgbClr val="0B1437"/>
                </a:solidFill>
              </a:rPr>
              <a:t>What it is: </a:t>
            </a:r>
            <a:pPr indent="0" marL="0">
              <a:buNone/>
            </a:pPr>
            <a:r>
              <a:rPr lang="en-US" sz="2000" dirty="0">
                <a:solidFill>
                  <a:srgbClr val="1E293B"/>
                </a:solidFill>
              </a:rPr>
              <a:t>a table format: a set of rules that turns plain files into reliable tables.</a:t>
            </a:r>
            <a:endParaRPr lang="en-US" sz="2000" dirty="0"/>
          </a:p>
          <a:p>
            <a:pPr marL="342900" indent="-342900">
              <a:spcAft>
                <a:spcPts val="2200"/>
              </a:spcAft>
              <a:buSzPct val="100000"/>
              <a:buChar char="•"/>
            </a:pPr>
            <a:r>
              <a:rPr lang="en-US" sz="2000" b="1" dirty="0">
                <a:solidFill>
                  <a:srgbClr val="0B1437"/>
                </a:solidFill>
              </a:rPr>
              <a:t>Its job here: </a:t>
            </a:r>
            <a:pPr indent="0" marL="0">
              <a:buNone/>
            </a:pPr>
            <a:r>
              <a:rPr lang="en-US" sz="2000" dirty="0">
                <a:solidFill>
                  <a:srgbClr val="1E293B"/>
                </a:solidFill>
              </a:rPr>
              <a:t>Spark writes the clean data as Iceberg tables, stored on Ozone.</a:t>
            </a:r>
            <a:endParaRPr lang="en-US" sz="2000" dirty="0"/>
          </a:p>
          <a:p>
            <a:pPr marL="342900" indent="-342900">
              <a:spcAft>
                <a:spcPts val="2200"/>
              </a:spcAft>
              <a:buSzPct val="100000"/>
              <a:buChar char="•"/>
            </a:pPr>
            <a:r>
              <a:rPr lang="en-US" sz="2000" b="1" dirty="0">
                <a:solidFill>
                  <a:srgbClr val="0B1437"/>
                </a:solidFill>
              </a:rPr>
              <a:t>Why use it: </a:t>
            </a:r>
            <a:pPr indent="0" marL="0">
              <a:buNone/>
            </a:pPr>
            <a:r>
              <a:rPr lang="en-US" sz="2000" dirty="0">
                <a:solidFill>
                  <a:srgbClr val="1E293B"/>
                </a:solidFill>
              </a:rPr>
              <a:t>updates are safe, and many tools can read the same tables.</a:t>
            </a:r>
            <a:endParaRPr lang="en-US" sz="2000" dirty="0"/>
          </a:p>
        </p:txBody>
      </p:sp>
      <p:sp>
        <p:nvSpPr>
          <p:cNvPr id="6" name="Card 134"/>
          <p:cNvSpPr txBox="1"/>
          <p:nvPr/>
        </p:nvSpPr>
        <p:spPr>
          <a:xfrm>
            <a:off x="5943600" y="1783080"/>
            <a:ext cx="1508760" cy="1005840"/>
          </a:xfrm>
          <a:prstGeom prst="roundRect">
            <a:avLst>
              <a:gd name="adj" fmla="val 9091"/>
            </a:avLst>
          </a:prstGeom>
          <a:solidFill>
            <a:srgbClr val="F1F5F9"/>
          </a:solidFill>
          <a:ln w="9525">
            <a:solidFill>
              <a:srgbClr val="CBD5E1"/>
            </a:solidFill>
          </a:ln>
        </p:spPr>
        <p:txBody>
          <a:bodyPr wrap="square" lIns="101600" tIns="101600" rIns="101600" bIns="101600" rtlCol="0" anchor="ctr"/>
          <a:lstStyle/>
          <a:p>
            <a:pPr algn="ctr" indent="0" marL="0">
              <a:buNone/>
            </a:pPr>
            <a:r>
              <a:rPr lang="en-US" sz="1100" b="1" dirty="0">
                <a:solidFill>
                  <a:srgbClr val="64748B"/>
                </a:solidFill>
              </a:rPr>
              <a:t>INPUT</a:t>
            </a:r>
            <a:endParaRPr lang="en-US" sz="1400" dirty="0"/>
          </a:p>
          <a:p>
            <a:pPr algn="ctr" indent="0" marL="0">
              <a:buNone/>
            </a:pPr>
            <a:r>
              <a:rPr lang="en-US" sz="1400" b="1" dirty="0">
                <a:solidFill>
                  <a:srgbClr val="1E293B"/>
                </a:solidFill>
              </a:rPr>
              <a:t>Clean data from Spark</a:t>
            </a:r>
            <a:endParaRPr lang="en-US" sz="1400" dirty="0"/>
          </a:p>
        </p:txBody>
      </p:sp>
      <p:sp>
        <p:nvSpPr>
          <p:cNvPr id="7" name="Arrow 135"/>
          <p:cNvSpPr/>
          <p:nvPr/>
        </p:nvSpPr>
        <p:spPr>
          <a:xfrm>
            <a:off x="7452360" y="2286000"/>
            <a:ext cx="365760" cy="0"/>
          </a:xfrm>
          <a:prstGeom prst="line">
            <a:avLst/>
          </a:prstGeom>
          <a:noFill/>
          <a:ln w="25400">
            <a:solidFill>
              <a:srgbClr val="64748B"/>
            </a:solidFill>
            <a:prstDash val="solid"/>
            <a:tailEnd type="triangle"/>
          </a:ln>
        </p:spPr>
      </p:sp>
      <p:sp>
        <p:nvSpPr>
          <p:cNvPr id="8" name="Card 136"/>
          <p:cNvSpPr txBox="1"/>
          <p:nvPr/>
        </p:nvSpPr>
        <p:spPr>
          <a:xfrm>
            <a:off x="7818120" y="1783080"/>
            <a:ext cx="1920240" cy="1005840"/>
          </a:xfrm>
          <a:prstGeom prst="roundRect">
            <a:avLst>
              <a:gd name="adj" fmla="val 9091"/>
            </a:avLst>
          </a:prstGeom>
          <a:solidFill>
            <a:srgbClr val="0B1437"/>
          </a:solidFill>
          <a:ln w="9525">
            <a:solidFill>
              <a:srgbClr val="0B1437"/>
            </a:solidFill>
          </a:ln>
        </p:spPr>
        <p:txBody>
          <a:bodyPr wrap="square" lIns="101600" tIns="101600" rIns="101600" bIns="101600" rtlCol="0" anchor="ctr"/>
          <a:lstStyle/>
          <a:p>
            <a:pPr algn="ctr" indent="0" marL="0">
              <a:buNone/>
            </a:pPr>
            <a:r>
              <a:rPr lang="en-US" sz="1800" b="1" dirty="0">
                <a:solidFill>
                  <a:srgbClr val="FFFFFF"/>
                </a:solidFill>
              </a:rPr>
              <a:t>Iceberg</a:t>
            </a:r>
            <a:endParaRPr lang="en-US" sz="1400" dirty="0"/>
          </a:p>
          <a:p>
            <a:pPr algn="ctr" indent="0" marL="0">
              <a:buNone/>
            </a:pPr>
            <a:r>
              <a:rPr lang="en-US" sz="1200" b="1" dirty="0">
                <a:solidFill>
                  <a:srgbClr val="F59E0B"/>
                </a:solidFill>
              </a:rPr>
              <a:t>ORGANISE</a:t>
            </a:r>
            <a:endParaRPr lang="en-US" sz="1400" dirty="0"/>
          </a:p>
        </p:txBody>
      </p:sp>
      <p:sp>
        <p:nvSpPr>
          <p:cNvPr id="9" name="Arrow 137"/>
          <p:cNvSpPr/>
          <p:nvPr/>
        </p:nvSpPr>
        <p:spPr>
          <a:xfrm>
            <a:off x="9738360" y="2286000"/>
            <a:ext cx="365760" cy="0"/>
          </a:xfrm>
          <a:prstGeom prst="line">
            <a:avLst/>
          </a:prstGeom>
          <a:noFill/>
          <a:ln w="25400">
            <a:solidFill>
              <a:srgbClr val="64748B"/>
            </a:solidFill>
            <a:prstDash val="solid"/>
            <a:tailEnd type="triangle"/>
          </a:ln>
        </p:spPr>
      </p:sp>
      <p:sp>
        <p:nvSpPr>
          <p:cNvPr id="10" name="Card 138"/>
          <p:cNvSpPr txBox="1"/>
          <p:nvPr/>
        </p:nvSpPr>
        <p:spPr>
          <a:xfrm>
            <a:off x="10104120" y="1783080"/>
            <a:ext cx="1508760" cy="1005840"/>
          </a:xfrm>
          <a:prstGeom prst="roundRect">
            <a:avLst>
              <a:gd name="adj" fmla="val 9091"/>
            </a:avLst>
          </a:prstGeom>
          <a:solidFill>
            <a:srgbClr val="D1FAE5"/>
          </a:solidFill>
          <a:ln w="9525">
            <a:solidFill>
              <a:srgbClr val="10B981"/>
            </a:solidFill>
          </a:ln>
        </p:spPr>
        <p:txBody>
          <a:bodyPr wrap="square" lIns="101600" tIns="101600" rIns="101600" bIns="101600" rtlCol="0" anchor="ctr"/>
          <a:lstStyle/>
          <a:p>
            <a:pPr algn="ctr" indent="0" marL="0">
              <a:buNone/>
            </a:pPr>
            <a:r>
              <a:rPr lang="en-US" sz="1100" b="1" dirty="0">
                <a:solidFill>
                  <a:srgbClr val="047857"/>
                </a:solidFill>
              </a:rPr>
              <a:t>OUTPUT</a:t>
            </a:r>
            <a:endParaRPr lang="en-US" sz="1400" dirty="0"/>
          </a:p>
          <a:p>
            <a:pPr algn="ctr" indent="0" marL="0">
              <a:buNone/>
            </a:pPr>
            <a:r>
              <a:rPr lang="en-US" sz="1400" b="1" dirty="0">
                <a:solidFill>
                  <a:srgbClr val="1E293B"/>
                </a:solidFill>
              </a:rPr>
              <a:t>Reliable tables on Ozone</a:t>
            </a:r>
            <a:endParaRPr lang="en-US" sz="1400" dirty="0"/>
          </a:p>
        </p:txBody>
      </p:sp>
      <p:sp>
        <p:nvSpPr>
          <p:cNvPr id="11" name="Text 139"/>
          <p:cNvSpPr txBox="1"/>
          <p:nvPr/>
        </p:nvSpPr>
        <p:spPr>
          <a:xfrm>
            <a:off x="5943600" y="2971800"/>
            <a:ext cx="2743200" cy="228600"/>
          </a:xfrm>
          <a:prstGeom prst="rect">
            <a:avLst/>
          </a:prstGeom>
          <a:noFill/>
          <a:ln/>
        </p:spPr>
        <p:txBody>
          <a:bodyPr wrap="square" lIns="0" tIns="0" rIns="0" bIns="0" rtlCol="0" anchor="t"/>
          <a:lstStyle/>
          <a:p>
            <a:pPr indent="0" marL="0">
              <a:buNone/>
            </a:pPr>
            <a:r>
              <a:rPr lang="en-US" sz="1400" b="1" dirty="0">
                <a:solidFill>
                  <a:srgbClr val="64748B"/>
                </a:solidFill>
              </a:rPr>
              <a:t>Key features</a:t>
            </a:r>
            <a:endParaRPr lang="en-US" sz="1400" dirty="0"/>
          </a:p>
        </p:txBody>
      </p:sp>
      <p:sp>
        <p:nvSpPr>
          <p:cNvPr id="12" name="Card 140"/>
          <p:cNvSpPr txBox="1"/>
          <p:nvPr/>
        </p:nvSpPr>
        <p:spPr>
          <a:xfrm>
            <a:off x="594360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Safe updates (ACID)</a:t>
            </a:r>
            <a:endParaRPr lang="en-US" sz="1400" dirty="0"/>
          </a:p>
        </p:txBody>
      </p:sp>
      <p:sp>
        <p:nvSpPr>
          <p:cNvPr id="13" name="Card 141"/>
          <p:cNvSpPr txBox="1"/>
          <p:nvPr/>
        </p:nvSpPr>
        <p:spPr>
          <a:xfrm>
            <a:off x="886968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Time travel to old versions</a:t>
            </a:r>
            <a:endParaRPr lang="en-US" sz="1400" dirty="0"/>
          </a:p>
        </p:txBody>
      </p:sp>
      <p:sp>
        <p:nvSpPr>
          <p:cNvPr id="14" name="Card 142"/>
          <p:cNvSpPr txBox="1"/>
          <p:nvPr/>
        </p:nvSpPr>
        <p:spPr>
          <a:xfrm>
            <a:off x="594360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Easy schema changes</a:t>
            </a:r>
            <a:endParaRPr lang="en-US" sz="1400" dirty="0"/>
          </a:p>
        </p:txBody>
      </p:sp>
      <p:sp>
        <p:nvSpPr>
          <p:cNvPr id="15" name="Card 143"/>
          <p:cNvSpPr txBox="1"/>
          <p:nvPr/>
        </p:nvSpPr>
        <p:spPr>
          <a:xfrm>
            <a:off x="886968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Works with many engines</a:t>
            </a:r>
            <a:endParaRPr lang="en-US" sz="1400" dirty="0"/>
          </a:p>
        </p:txBody>
      </p:sp>
      <p:sp>
        <p:nvSpPr>
          <p:cNvPr id="16" name="Card 144"/>
          <p:cNvSpPr txBox="1"/>
          <p:nvPr/>
        </p:nvSpPr>
        <p:spPr>
          <a:xfrm>
            <a:off x="5943600" y="4663440"/>
            <a:ext cx="5669280" cy="685800"/>
          </a:xfrm>
          <a:prstGeom prst="roundRect">
            <a:avLst>
              <a:gd name="adj" fmla="val 13333"/>
            </a:avLst>
          </a:prstGeom>
          <a:solidFill>
            <a:srgbClr val="E0F2FE"/>
          </a:solidFill>
          <a:ln w="9525">
            <a:solidFill>
              <a:srgbClr val="0EA5E9"/>
            </a:solidFill>
          </a:ln>
        </p:spPr>
        <p:txBody>
          <a:bodyPr wrap="square" lIns="165100" tIns="165100" rIns="165100" bIns="165100" rtlCol="0" anchor="ctr"/>
          <a:lstStyle/>
          <a:p>
            <a:pPr algn="l" indent="0" marL="0">
              <a:buNone/>
            </a:pPr>
            <a:r>
              <a:rPr lang="en-US" sz="1400" b="1" dirty="0">
                <a:solidFill>
                  <a:srgbClr val="0B1437"/>
                </a:solidFill>
              </a:rPr>
              <a:t>Think of it as:  </a:t>
            </a:r>
            <a:pPr algn="l" indent="0" marL="0">
              <a:buNone/>
            </a:pPr>
            <a:r>
              <a:rPr lang="en-US" sz="1400" dirty="0">
                <a:solidFill>
                  <a:srgbClr val="1E293B"/>
                </a:solidFill>
              </a:rPr>
              <a:t>a library catalogue. Books (files) sit on shelves (Ozone). The catalogue says which books make up each table.</a:t>
            </a:r>
            <a:endParaRPr lang="en-US" sz="1400" dirty="0"/>
          </a:p>
        </p:txBody>
      </p:sp>
      <p:sp>
        <p:nvSpPr>
          <p:cNvPr id="17" name="Card 145"/>
          <p:cNvSpPr txBox="1"/>
          <p:nvPr/>
        </p:nvSpPr>
        <p:spPr>
          <a:xfrm>
            <a:off x="548640" y="5532120"/>
            <a:ext cx="11091672" cy="640080"/>
          </a:xfrm>
          <a:prstGeom prst="roundRect">
            <a:avLst>
              <a:gd name="adj" fmla="val 14286"/>
            </a:avLst>
          </a:prstGeom>
          <a:solidFill>
            <a:srgbClr val="FEF3C7"/>
          </a:solidFill>
          <a:ln w="9525">
            <a:solidFill>
              <a:srgbClr val="FDE68A"/>
            </a:solidFill>
          </a:ln>
        </p:spPr>
        <p:txBody>
          <a:bodyPr wrap="square" lIns="228600" tIns="228600" rIns="228600" bIns="228600" rtlCol="0" anchor="ctr"/>
          <a:lstStyle/>
          <a:p>
            <a:pPr algn="l" indent="0" marL="0">
              <a:buNone/>
            </a:pPr>
            <a:r>
              <a:rPr lang="en-US" sz="1600" b="1" dirty="0">
                <a:solidFill>
                  <a:srgbClr val="0B1437"/>
                </a:solidFill>
              </a:rPr>
              <a:t>In ShopEasy:  </a:t>
            </a:r>
            <a:pPr algn="l" indent="0" marL="0">
              <a:buNone/>
            </a:pPr>
            <a:r>
              <a:rPr lang="en-US" sz="1600" dirty="0">
                <a:solidFill>
                  <a:srgbClr val="1E293B"/>
                </a:solidFill>
              </a:rPr>
              <a:t>the table daily_sales lives in Iceberg. After a bad load, ShopEasy can roll back to yesterday’s version.</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rt tag"/>
          <p:cNvSpPr txBox="1"/>
          <p:nvPr/>
        </p:nvSpPr>
        <p:spPr>
          <a:xfrm>
            <a:off x="548640" y="384048"/>
            <a:ext cx="2735885" cy="274320"/>
          </a:xfrm>
          <a:prstGeom prst="roundRect">
            <a:avLst>
              <a:gd name="adj" fmla="val 50000"/>
            </a:avLst>
          </a:prstGeom>
          <a:solidFill>
            <a:srgbClr val="047857"/>
          </a:solidFill>
          <a:ln w="9525">
            <a:solidFill>
              <a:srgbClr val="047857"/>
            </a:solidFill>
          </a:ln>
        </p:spPr>
        <p:txBody>
          <a:bodyPr wrap="square" lIns="0" tIns="0" rIns="0" bIns="0" rtlCol="0" anchor="ctr"/>
          <a:lstStyle/>
          <a:p>
            <a:pPr algn="ctr" indent="0" marL="0">
              <a:buNone/>
            </a:pPr>
            <a:r>
              <a:rPr lang="en-US" sz="1100" b="1" dirty="0">
                <a:solidFill>
                  <a:srgbClr val="FFFFFF"/>
                </a:solidFill>
              </a:rPr>
              <a:t>PART 3  ·  TOOLS  ·  SERVE</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Apache Doris: the fast dashboard engine</a:t>
            </a:r>
            <a:endParaRPr lang="en-US" sz="3200" dirty="0"/>
          </a:p>
        </p:txBody>
      </p:sp>
      <p:sp>
        <p:nvSpPr>
          <p:cNvPr id="5" name="Text 146"/>
          <p:cNvSpPr txBox="1"/>
          <p:nvPr/>
        </p:nvSpPr>
        <p:spPr>
          <a:xfrm>
            <a:off x="548640" y="1874520"/>
            <a:ext cx="5120640" cy="3474720"/>
          </a:xfrm>
          <a:prstGeom prst="rect">
            <a:avLst/>
          </a:prstGeom>
          <a:noFill/>
          <a:ln/>
        </p:spPr>
        <p:txBody>
          <a:bodyPr wrap="square" lIns="0" tIns="0" rIns="0" bIns="0" rtlCol="0" anchor="t"/>
          <a:lstStyle/>
          <a:p>
            <a:pPr marL="342900" indent="-342900">
              <a:spcAft>
                <a:spcPts val="2200"/>
              </a:spcAft>
              <a:buSzPct val="100000"/>
              <a:buChar char="•"/>
            </a:pPr>
            <a:r>
              <a:rPr lang="en-US" sz="2000" b="1" dirty="0">
                <a:solidFill>
                  <a:srgbClr val="0B1437"/>
                </a:solidFill>
              </a:rPr>
              <a:t>What it is: </a:t>
            </a:r>
            <a:pPr indent="0" marL="0">
              <a:buNone/>
            </a:pPr>
            <a:r>
              <a:rPr lang="en-US" sz="2000" dirty="0">
                <a:solidFill>
                  <a:srgbClr val="1E293B"/>
                </a:solidFill>
              </a:rPr>
              <a:t>a fast analytics database that answers questions about big data in seconds.</a:t>
            </a:r>
            <a:endParaRPr lang="en-US" sz="2000" dirty="0"/>
          </a:p>
          <a:p>
            <a:pPr marL="342900" indent="-342900">
              <a:spcAft>
                <a:spcPts val="2200"/>
              </a:spcAft>
              <a:buSzPct val="100000"/>
              <a:buChar char="•"/>
            </a:pPr>
            <a:r>
              <a:rPr lang="en-US" sz="2000" b="1" dirty="0">
                <a:solidFill>
                  <a:srgbClr val="0B1437"/>
                </a:solidFill>
              </a:rPr>
              <a:t>Its job here: </a:t>
            </a:r>
            <a:pPr indent="0" marL="0">
              <a:buNone/>
            </a:pPr>
            <a:r>
              <a:rPr lang="en-US" sz="2000" dirty="0">
                <a:solidFill>
                  <a:srgbClr val="1E293B"/>
                </a:solidFill>
              </a:rPr>
              <a:t>reads the clean sales data and powers the manager’s dashboard.</a:t>
            </a:r>
            <a:endParaRPr lang="en-US" sz="2000" dirty="0"/>
          </a:p>
          <a:p>
            <a:pPr marL="342900" indent="-342900">
              <a:spcAft>
                <a:spcPts val="2200"/>
              </a:spcAft>
              <a:buSzPct val="100000"/>
              <a:buChar char="•"/>
            </a:pPr>
            <a:r>
              <a:rPr lang="en-US" sz="2000" b="1" dirty="0">
                <a:solidFill>
                  <a:srgbClr val="0B1437"/>
                </a:solidFill>
              </a:rPr>
              <a:t>Why use it: </a:t>
            </a:r>
            <a:pPr indent="0" marL="0">
              <a:buNone/>
            </a:pPr>
            <a:r>
              <a:rPr lang="en-US" sz="2000" dirty="0">
                <a:solidFill>
                  <a:srgbClr val="1E293B"/>
                </a:solidFill>
              </a:rPr>
              <a:t>many people can run queries at the same time, with quick answers.</a:t>
            </a:r>
            <a:endParaRPr lang="en-US" sz="2000" dirty="0"/>
          </a:p>
        </p:txBody>
      </p:sp>
      <p:sp>
        <p:nvSpPr>
          <p:cNvPr id="6" name="Card 147"/>
          <p:cNvSpPr txBox="1"/>
          <p:nvPr/>
        </p:nvSpPr>
        <p:spPr>
          <a:xfrm>
            <a:off x="5943600" y="1783080"/>
            <a:ext cx="1508760" cy="1005840"/>
          </a:xfrm>
          <a:prstGeom prst="roundRect">
            <a:avLst>
              <a:gd name="adj" fmla="val 9091"/>
            </a:avLst>
          </a:prstGeom>
          <a:solidFill>
            <a:srgbClr val="F1F5F9"/>
          </a:solidFill>
          <a:ln w="9525">
            <a:solidFill>
              <a:srgbClr val="CBD5E1"/>
            </a:solidFill>
          </a:ln>
        </p:spPr>
        <p:txBody>
          <a:bodyPr wrap="square" lIns="101600" tIns="101600" rIns="101600" bIns="101600" rtlCol="0" anchor="ctr"/>
          <a:lstStyle/>
          <a:p>
            <a:pPr algn="ctr" indent="0" marL="0">
              <a:buNone/>
            </a:pPr>
            <a:r>
              <a:rPr lang="en-US" sz="1100" b="1" dirty="0">
                <a:solidFill>
                  <a:srgbClr val="64748B"/>
                </a:solidFill>
              </a:rPr>
              <a:t>INPUT</a:t>
            </a:r>
            <a:endParaRPr lang="en-US" sz="1400" dirty="0"/>
          </a:p>
          <a:p>
            <a:pPr algn="ctr" indent="0" marL="0">
              <a:buNone/>
            </a:pPr>
            <a:r>
              <a:rPr lang="en-US" sz="1400" b="1" dirty="0">
                <a:solidFill>
                  <a:srgbClr val="1E293B"/>
                </a:solidFill>
              </a:rPr>
              <a:t>Iceberg tables</a:t>
            </a:r>
            <a:endParaRPr lang="en-US" sz="1400" dirty="0"/>
          </a:p>
        </p:txBody>
      </p:sp>
      <p:sp>
        <p:nvSpPr>
          <p:cNvPr id="7" name="Arrow 148"/>
          <p:cNvSpPr/>
          <p:nvPr/>
        </p:nvSpPr>
        <p:spPr>
          <a:xfrm>
            <a:off x="7452360" y="2286000"/>
            <a:ext cx="365760" cy="0"/>
          </a:xfrm>
          <a:prstGeom prst="line">
            <a:avLst/>
          </a:prstGeom>
          <a:noFill/>
          <a:ln w="25400">
            <a:solidFill>
              <a:srgbClr val="64748B"/>
            </a:solidFill>
            <a:prstDash val="solid"/>
            <a:tailEnd type="triangle"/>
          </a:ln>
        </p:spPr>
      </p:sp>
      <p:sp>
        <p:nvSpPr>
          <p:cNvPr id="8" name="Card 149"/>
          <p:cNvSpPr txBox="1"/>
          <p:nvPr/>
        </p:nvSpPr>
        <p:spPr>
          <a:xfrm>
            <a:off x="7818120" y="1783080"/>
            <a:ext cx="1920240" cy="1005840"/>
          </a:xfrm>
          <a:prstGeom prst="roundRect">
            <a:avLst>
              <a:gd name="adj" fmla="val 9091"/>
            </a:avLst>
          </a:prstGeom>
          <a:solidFill>
            <a:srgbClr val="0B1437"/>
          </a:solidFill>
          <a:ln w="9525">
            <a:solidFill>
              <a:srgbClr val="0B1437"/>
            </a:solidFill>
          </a:ln>
        </p:spPr>
        <p:txBody>
          <a:bodyPr wrap="square" lIns="101600" tIns="101600" rIns="101600" bIns="101600" rtlCol="0" anchor="ctr"/>
          <a:lstStyle/>
          <a:p>
            <a:pPr algn="ctr" indent="0" marL="0">
              <a:buNone/>
            </a:pPr>
            <a:r>
              <a:rPr lang="en-US" sz="1800" b="1" dirty="0">
                <a:solidFill>
                  <a:srgbClr val="FFFFFF"/>
                </a:solidFill>
              </a:rPr>
              <a:t>Doris</a:t>
            </a:r>
            <a:endParaRPr lang="en-US" sz="1400" dirty="0"/>
          </a:p>
          <a:p>
            <a:pPr algn="ctr" indent="0" marL="0">
              <a:buNone/>
            </a:pPr>
            <a:r>
              <a:rPr lang="en-US" sz="1200" b="1" dirty="0">
                <a:solidFill>
                  <a:srgbClr val="F59E0B"/>
                </a:solidFill>
              </a:rPr>
              <a:t>SERVE</a:t>
            </a:r>
            <a:endParaRPr lang="en-US" sz="1400" dirty="0"/>
          </a:p>
        </p:txBody>
      </p:sp>
      <p:sp>
        <p:nvSpPr>
          <p:cNvPr id="9" name="Arrow 150"/>
          <p:cNvSpPr/>
          <p:nvPr/>
        </p:nvSpPr>
        <p:spPr>
          <a:xfrm>
            <a:off x="9738360" y="2286000"/>
            <a:ext cx="365760" cy="0"/>
          </a:xfrm>
          <a:prstGeom prst="line">
            <a:avLst/>
          </a:prstGeom>
          <a:noFill/>
          <a:ln w="25400">
            <a:solidFill>
              <a:srgbClr val="64748B"/>
            </a:solidFill>
            <a:prstDash val="solid"/>
            <a:tailEnd type="triangle"/>
          </a:ln>
        </p:spPr>
      </p:sp>
      <p:sp>
        <p:nvSpPr>
          <p:cNvPr id="10" name="Card 151"/>
          <p:cNvSpPr txBox="1"/>
          <p:nvPr/>
        </p:nvSpPr>
        <p:spPr>
          <a:xfrm>
            <a:off x="10104120" y="1783080"/>
            <a:ext cx="1508760" cy="1005840"/>
          </a:xfrm>
          <a:prstGeom prst="roundRect">
            <a:avLst>
              <a:gd name="adj" fmla="val 9091"/>
            </a:avLst>
          </a:prstGeom>
          <a:solidFill>
            <a:srgbClr val="D1FAE5"/>
          </a:solidFill>
          <a:ln w="9525">
            <a:solidFill>
              <a:srgbClr val="10B981"/>
            </a:solidFill>
          </a:ln>
        </p:spPr>
        <p:txBody>
          <a:bodyPr wrap="square" lIns="101600" tIns="101600" rIns="101600" bIns="101600" rtlCol="0" anchor="ctr"/>
          <a:lstStyle/>
          <a:p>
            <a:pPr algn="ctr" indent="0" marL="0">
              <a:buNone/>
            </a:pPr>
            <a:r>
              <a:rPr lang="en-US" sz="1100" b="1" dirty="0">
                <a:solidFill>
                  <a:srgbClr val="047857"/>
                </a:solidFill>
              </a:rPr>
              <a:t>OUTPUT</a:t>
            </a:r>
            <a:endParaRPr lang="en-US" sz="1400" dirty="0"/>
          </a:p>
          <a:p>
            <a:pPr algn="ctr" indent="0" marL="0">
              <a:buNone/>
            </a:pPr>
            <a:r>
              <a:rPr lang="en-US" sz="1400" b="1" dirty="0">
                <a:solidFill>
                  <a:srgbClr val="1E293B"/>
                </a:solidFill>
              </a:rPr>
              <a:t>Fast dashboard charts</a:t>
            </a:r>
            <a:endParaRPr lang="en-US" sz="1400" dirty="0"/>
          </a:p>
        </p:txBody>
      </p:sp>
      <p:sp>
        <p:nvSpPr>
          <p:cNvPr id="11" name="Text 152"/>
          <p:cNvSpPr txBox="1"/>
          <p:nvPr/>
        </p:nvSpPr>
        <p:spPr>
          <a:xfrm>
            <a:off x="5943600" y="2971800"/>
            <a:ext cx="2743200" cy="228600"/>
          </a:xfrm>
          <a:prstGeom prst="rect">
            <a:avLst/>
          </a:prstGeom>
          <a:noFill/>
          <a:ln/>
        </p:spPr>
        <p:txBody>
          <a:bodyPr wrap="square" lIns="0" tIns="0" rIns="0" bIns="0" rtlCol="0" anchor="t"/>
          <a:lstStyle/>
          <a:p>
            <a:pPr indent="0" marL="0">
              <a:buNone/>
            </a:pPr>
            <a:r>
              <a:rPr lang="en-US" sz="1400" b="1" dirty="0">
                <a:solidFill>
                  <a:srgbClr val="64748B"/>
                </a:solidFill>
              </a:rPr>
              <a:t>Key features</a:t>
            </a:r>
            <a:endParaRPr lang="en-US" sz="1400" dirty="0"/>
          </a:p>
        </p:txBody>
      </p:sp>
      <p:sp>
        <p:nvSpPr>
          <p:cNvPr id="12" name="Card 153"/>
          <p:cNvSpPr txBox="1"/>
          <p:nvPr/>
        </p:nvSpPr>
        <p:spPr>
          <a:xfrm>
            <a:off x="594360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Very fast queries (columnar)</a:t>
            </a:r>
            <a:endParaRPr lang="en-US" sz="1400" dirty="0"/>
          </a:p>
        </p:txBody>
      </p:sp>
      <p:sp>
        <p:nvSpPr>
          <p:cNvPr id="13" name="Card 154"/>
          <p:cNvSpPr txBox="1"/>
          <p:nvPr/>
        </p:nvSpPr>
        <p:spPr>
          <a:xfrm>
            <a:off x="886968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Speaks MySQL for BI tools</a:t>
            </a:r>
            <a:endParaRPr lang="en-US" sz="1400" dirty="0"/>
          </a:p>
        </p:txBody>
      </p:sp>
      <p:sp>
        <p:nvSpPr>
          <p:cNvPr id="14" name="Card 155"/>
          <p:cNvSpPr txBox="1"/>
          <p:nvPr/>
        </p:nvSpPr>
        <p:spPr>
          <a:xfrm>
            <a:off x="594360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Many users at once</a:t>
            </a:r>
            <a:endParaRPr lang="en-US" sz="1400" dirty="0"/>
          </a:p>
        </p:txBody>
      </p:sp>
      <p:sp>
        <p:nvSpPr>
          <p:cNvPr id="15" name="Card 156"/>
          <p:cNvSpPr txBox="1"/>
          <p:nvPr/>
        </p:nvSpPr>
        <p:spPr>
          <a:xfrm>
            <a:off x="886968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Can read Iceberg tables</a:t>
            </a:r>
            <a:endParaRPr lang="en-US" sz="1400" dirty="0"/>
          </a:p>
        </p:txBody>
      </p:sp>
      <p:sp>
        <p:nvSpPr>
          <p:cNvPr id="16" name="Card 157"/>
          <p:cNvSpPr txBox="1"/>
          <p:nvPr/>
        </p:nvSpPr>
        <p:spPr>
          <a:xfrm>
            <a:off x="5943600" y="4663440"/>
            <a:ext cx="5669280" cy="685800"/>
          </a:xfrm>
          <a:prstGeom prst="roundRect">
            <a:avLst>
              <a:gd name="adj" fmla="val 13333"/>
            </a:avLst>
          </a:prstGeom>
          <a:solidFill>
            <a:srgbClr val="E0F2FE"/>
          </a:solidFill>
          <a:ln w="9525">
            <a:solidFill>
              <a:srgbClr val="0EA5E9"/>
            </a:solidFill>
          </a:ln>
        </p:spPr>
        <p:txBody>
          <a:bodyPr wrap="square" lIns="165100" tIns="165100" rIns="165100" bIns="165100" rtlCol="0" anchor="ctr"/>
          <a:lstStyle/>
          <a:p>
            <a:pPr algn="l" indent="0" marL="0">
              <a:buNone/>
            </a:pPr>
            <a:r>
              <a:rPr lang="en-US" sz="1400" b="1" dirty="0">
                <a:solidFill>
                  <a:srgbClr val="0B1437"/>
                </a:solidFill>
              </a:rPr>
              <a:t>Think of it as:  </a:t>
            </a:r>
            <a:pPr algn="l" indent="0" marL="0">
              <a:buNone/>
            </a:pPr>
            <a:r>
              <a:rPr lang="en-US" sz="1400" dirty="0">
                <a:solidFill>
                  <a:srgbClr val="1E293B"/>
                </a:solidFill>
              </a:rPr>
              <a:t>a sports car for questions. Ask “sales by city last week?” and get the answer fast.</a:t>
            </a:r>
            <a:endParaRPr lang="en-US" sz="1400" dirty="0"/>
          </a:p>
        </p:txBody>
      </p:sp>
      <p:sp>
        <p:nvSpPr>
          <p:cNvPr id="17" name="Card 158"/>
          <p:cNvSpPr txBox="1"/>
          <p:nvPr/>
        </p:nvSpPr>
        <p:spPr>
          <a:xfrm>
            <a:off x="548640" y="5532120"/>
            <a:ext cx="11091672" cy="640080"/>
          </a:xfrm>
          <a:prstGeom prst="roundRect">
            <a:avLst>
              <a:gd name="adj" fmla="val 14286"/>
            </a:avLst>
          </a:prstGeom>
          <a:solidFill>
            <a:srgbClr val="FEF3C7"/>
          </a:solidFill>
          <a:ln w="9525">
            <a:solidFill>
              <a:srgbClr val="FDE68A"/>
            </a:solidFill>
          </a:ln>
        </p:spPr>
        <p:txBody>
          <a:bodyPr wrap="square" lIns="228600" tIns="228600" rIns="228600" bIns="228600" rtlCol="0" anchor="ctr"/>
          <a:lstStyle/>
          <a:p>
            <a:pPr algn="l" indent="0" marL="0">
              <a:buNone/>
            </a:pPr>
            <a:r>
              <a:rPr lang="en-US" sz="1600" b="1" dirty="0">
                <a:solidFill>
                  <a:srgbClr val="0B1437"/>
                </a:solidFill>
              </a:rPr>
              <a:t>In ShopEasy:  </a:t>
            </a:r>
            <a:pPr algn="l" indent="0" marL="0">
              <a:buNone/>
            </a:pPr>
            <a:r>
              <a:rPr lang="en-US" sz="1600" dirty="0">
                <a:solidFill>
                  <a:srgbClr val="1E293B"/>
                </a:solidFill>
              </a:rPr>
              <a:t>the manager opens the dashboard and Doris answers “sales per product per city” in seconds.</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art tag"/>
          <p:cNvSpPr txBox="1"/>
          <p:nvPr/>
        </p:nvSpPr>
        <p:spPr>
          <a:xfrm>
            <a:off x="548640" y="384048"/>
            <a:ext cx="2735885" cy="274320"/>
          </a:xfrm>
          <a:prstGeom prst="roundRect">
            <a:avLst>
              <a:gd name="adj" fmla="val 50000"/>
            </a:avLst>
          </a:prstGeom>
          <a:solidFill>
            <a:srgbClr val="047857"/>
          </a:solidFill>
          <a:ln w="9525">
            <a:solidFill>
              <a:srgbClr val="047857"/>
            </a:solidFill>
          </a:ln>
        </p:spPr>
        <p:txBody>
          <a:bodyPr wrap="square" lIns="0" tIns="0" rIns="0" bIns="0" rtlCol="0" anchor="ctr"/>
          <a:lstStyle/>
          <a:p>
            <a:pPr algn="ctr" indent="0" marL="0">
              <a:buNone/>
            </a:pPr>
            <a:r>
              <a:rPr lang="en-US" sz="1100" b="1" dirty="0">
                <a:solidFill>
                  <a:srgbClr val="FFFFFF"/>
                </a:solidFill>
              </a:rPr>
              <a:t>PART 3  ·  TOOLS  ·  SERVE</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ArcadeDB: the relationship map</a:t>
            </a:r>
            <a:endParaRPr lang="en-US" sz="3200" dirty="0"/>
          </a:p>
        </p:txBody>
      </p:sp>
      <p:sp>
        <p:nvSpPr>
          <p:cNvPr id="5" name="Text 159"/>
          <p:cNvSpPr txBox="1"/>
          <p:nvPr/>
        </p:nvSpPr>
        <p:spPr>
          <a:xfrm>
            <a:off x="548640" y="1874520"/>
            <a:ext cx="5120640" cy="3474720"/>
          </a:xfrm>
          <a:prstGeom prst="rect">
            <a:avLst/>
          </a:prstGeom>
          <a:noFill/>
          <a:ln/>
        </p:spPr>
        <p:txBody>
          <a:bodyPr wrap="square" lIns="0" tIns="0" rIns="0" bIns="0" rtlCol="0" anchor="t"/>
          <a:lstStyle/>
          <a:p>
            <a:pPr marL="342900" indent="-342900">
              <a:spcAft>
                <a:spcPts val="2200"/>
              </a:spcAft>
              <a:buSzPct val="100000"/>
              <a:buChar char="•"/>
            </a:pPr>
            <a:r>
              <a:rPr lang="en-US" sz="2000" b="1" dirty="0">
                <a:solidFill>
                  <a:srgbClr val="0B1437"/>
                </a:solidFill>
              </a:rPr>
              <a:t>What it is: </a:t>
            </a:r>
            <a:pPr indent="0" marL="0">
              <a:buNone/>
            </a:pPr>
            <a:r>
              <a:rPr lang="en-US" sz="2000" dirty="0">
                <a:solidFill>
                  <a:srgbClr val="1E293B"/>
                </a:solidFill>
              </a:rPr>
              <a:t>a multi-model database. It stores graphs, documents and key-value data in one engine.</a:t>
            </a:r>
            <a:endParaRPr lang="en-US" sz="2000" dirty="0"/>
          </a:p>
          <a:p>
            <a:pPr marL="342900" indent="-342900">
              <a:spcAft>
                <a:spcPts val="2200"/>
              </a:spcAft>
              <a:buSzPct val="100000"/>
              <a:buChar char="•"/>
            </a:pPr>
            <a:r>
              <a:rPr lang="en-US" sz="2000" b="1" dirty="0">
                <a:solidFill>
                  <a:srgbClr val="0B1437"/>
                </a:solidFill>
              </a:rPr>
              <a:t>Its job here: </a:t>
            </a:r>
            <a:pPr indent="0" marL="0">
              <a:buNone/>
            </a:pPr>
            <a:r>
              <a:rPr lang="en-US" sz="2000" dirty="0">
                <a:solidFill>
                  <a:srgbClr val="1E293B"/>
                </a:solidFill>
              </a:rPr>
              <a:t>stores customers and products as connected dots to find “also bought” items.</a:t>
            </a:r>
            <a:endParaRPr lang="en-US" sz="2000" dirty="0"/>
          </a:p>
          <a:p>
            <a:pPr marL="342900" indent="-342900">
              <a:spcAft>
                <a:spcPts val="2200"/>
              </a:spcAft>
              <a:buSzPct val="100000"/>
              <a:buChar char="•"/>
            </a:pPr>
            <a:r>
              <a:rPr lang="en-US" sz="2000" b="1" dirty="0">
                <a:solidFill>
                  <a:srgbClr val="0B1437"/>
                </a:solidFill>
              </a:rPr>
              <a:t>Why use it: </a:t>
            </a:r>
            <a:pPr indent="0" marL="0">
              <a:buNone/>
            </a:pPr>
            <a:r>
              <a:rPr lang="en-US" sz="2000" dirty="0">
                <a:solidFill>
                  <a:srgbClr val="1E293B"/>
                </a:solidFill>
              </a:rPr>
              <a:t>it is quick at following connections, which is slow in normal tables.</a:t>
            </a:r>
            <a:endParaRPr lang="en-US" sz="2000" dirty="0"/>
          </a:p>
        </p:txBody>
      </p:sp>
      <p:sp>
        <p:nvSpPr>
          <p:cNvPr id="6" name="Card 160"/>
          <p:cNvSpPr txBox="1"/>
          <p:nvPr/>
        </p:nvSpPr>
        <p:spPr>
          <a:xfrm>
            <a:off x="5943600" y="1783080"/>
            <a:ext cx="1508760" cy="1005840"/>
          </a:xfrm>
          <a:prstGeom prst="roundRect">
            <a:avLst>
              <a:gd name="adj" fmla="val 9091"/>
            </a:avLst>
          </a:prstGeom>
          <a:solidFill>
            <a:srgbClr val="F1F5F9"/>
          </a:solidFill>
          <a:ln w="9525">
            <a:solidFill>
              <a:srgbClr val="CBD5E1"/>
            </a:solidFill>
          </a:ln>
        </p:spPr>
        <p:txBody>
          <a:bodyPr wrap="square" lIns="101600" tIns="101600" rIns="101600" bIns="101600" rtlCol="0" anchor="ctr"/>
          <a:lstStyle/>
          <a:p>
            <a:pPr algn="ctr" indent="0" marL="0">
              <a:buNone/>
            </a:pPr>
            <a:r>
              <a:rPr lang="en-US" sz="1100" b="1" dirty="0">
                <a:solidFill>
                  <a:srgbClr val="64748B"/>
                </a:solidFill>
              </a:rPr>
              <a:t>INPUT</a:t>
            </a:r>
            <a:endParaRPr lang="en-US" sz="1400" dirty="0"/>
          </a:p>
          <a:p>
            <a:pPr algn="ctr" indent="0" marL="0">
              <a:buNone/>
            </a:pPr>
            <a:r>
              <a:rPr lang="en-US" sz="1400" b="1" dirty="0">
                <a:solidFill>
                  <a:srgbClr val="1E293B"/>
                </a:solidFill>
              </a:rPr>
              <a:t>Customer and product links</a:t>
            </a:r>
            <a:endParaRPr lang="en-US" sz="1400" dirty="0"/>
          </a:p>
        </p:txBody>
      </p:sp>
      <p:sp>
        <p:nvSpPr>
          <p:cNvPr id="7" name="Arrow 161"/>
          <p:cNvSpPr/>
          <p:nvPr/>
        </p:nvSpPr>
        <p:spPr>
          <a:xfrm>
            <a:off x="7452360" y="2286000"/>
            <a:ext cx="365760" cy="0"/>
          </a:xfrm>
          <a:prstGeom prst="line">
            <a:avLst/>
          </a:prstGeom>
          <a:noFill/>
          <a:ln w="25400">
            <a:solidFill>
              <a:srgbClr val="64748B"/>
            </a:solidFill>
            <a:prstDash val="solid"/>
            <a:tailEnd type="triangle"/>
          </a:ln>
        </p:spPr>
      </p:sp>
      <p:sp>
        <p:nvSpPr>
          <p:cNvPr id="8" name="Card 162"/>
          <p:cNvSpPr txBox="1"/>
          <p:nvPr/>
        </p:nvSpPr>
        <p:spPr>
          <a:xfrm>
            <a:off x="7818120" y="1783080"/>
            <a:ext cx="1920240" cy="1005840"/>
          </a:xfrm>
          <a:prstGeom prst="roundRect">
            <a:avLst>
              <a:gd name="adj" fmla="val 9091"/>
            </a:avLst>
          </a:prstGeom>
          <a:solidFill>
            <a:srgbClr val="0B1437"/>
          </a:solidFill>
          <a:ln w="9525">
            <a:solidFill>
              <a:srgbClr val="0B1437"/>
            </a:solidFill>
          </a:ln>
        </p:spPr>
        <p:txBody>
          <a:bodyPr wrap="square" lIns="101600" tIns="101600" rIns="101600" bIns="101600" rtlCol="0" anchor="ctr"/>
          <a:lstStyle/>
          <a:p>
            <a:pPr algn="ctr" indent="0" marL="0">
              <a:buNone/>
            </a:pPr>
            <a:r>
              <a:rPr lang="en-US" sz="1800" b="1" dirty="0">
                <a:solidFill>
                  <a:srgbClr val="FFFFFF"/>
                </a:solidFill>
              </a:rPr>
              <a:t>ArcadeDB</a:t>
            </a:r>
            <a:endParaRPr lang="en-US" sz="1400" dirty="0"/>
          </a:p>
          <a:p>
            <a:pPr algn="ctr" indent="0" marL="0">
              <a:buNone/>
            </a:pPr>
            <a:r>
              <a:rPr lang="en-US" sz="1200" b="1" dirty="0">
                <a:solidFill>
                  <a:srgbClr val="F59E0B"/>
                </a:solidFill>
              </a:rPr>
              <a:t>SERVE</a:t>
            </a:r>
            <a:endParaRPr lang="en-US" sz="1400" dirty="0"/>
          </a:p>
        </p:txBody>
      </p:sp>
      <p:sp>
        <p:nvSpPr>
          <p:cNvPr id="9" name="Arrow 163"/>
          <p:cNvSpPr/>
          <p:nvPr/>
        </p:nvSpPr>
        <p:spPr>
          <a:xfrm>
            <a:off x="9738360" y="2286000"/>
            <a:ext cx="365760" cy="0"/>
          </a:xfrm>
          <a:prstGeom prst="line">
            <a:avLst/>
          </a:prstGeom>
          <a:noFill/>
          <a:ln w="25400">
            <a:solidFill>
              <a:srgbClr val="64748B"/>
            </a:solidFill>
            <a:prstDash val="solid"/>
            <a:tailEnd type="triangle"/>
          </a:ln>
        </p:spPr>
      </p:sp>
      <p:sp>
        <p:nvSpPr>
          <p:cNvPr id="10" name="Card 164"/>
          <p:cNvSpPr txBox="1"/>
          <p:nvPr/>
        </p:nvSpPr>
        <p:spPr>
          <a:xfrm>
            <a:off x="10104120" y="1783080"/>
            <a:ext cx="1508760" cy="1005840"/>
          </a:xfrm>
          <a:prstGeom prst="roundRect">
            <a:avLst>
              <a:gd name="adj" fmla="val 9091"/>
            </a:avLst>
          </a:prstGeom>
          <a:solidFill>
            <a:srgbClr val="D1FAE5"/>
          </a:solidFill>
          <a:ln w="9525">
            <a:solidFill>
              <a:srgbClr val="10B981"/>
            </a:solidFill>
          </a:ln>
        </p:spPr>
        <p:txBody>
          <a:bodyPr wrap="square" lIns="101600" tIns="101600" rIns="101600" bIns="101600" rtlCol="0" anchor="ctr"/>
          <a:lstStyle/>
          <a:p>
            <a:pPr algn="ctr" indent="0" marL="0">
              <a:buNone/>
            </a:pPr>
            <a:r>
              <a:rPr lang="en-US" sz="1100" b="1" dirty="0">
                <a:solidFill>
                  <a:srgbClr val="047857"/>
                </a:solidFill>
              </a:rPr>
              <a:t>OUTPUT</a:t>
            </a:r>
            <a:endParaRPr lang="en-US" sz="1400" dirty="0"/>
          </a:p>
          <a:p>
            <a:pPr algn="ctr" indent="0" marL="0">
              <a:buNone/>
            </a:pPr>
            <a:r>
              <a:rPr lang="en-US" sz="1400" b="1" dirty="0">
                <a:solidFill>
                  <a:srgbClr val="1E293B"/>
                </a:solidFill>
              </a:rPr>
              <a:t>Suggested products</a:t>
            </a:r>
            <a:endParaRPr lang="en-US" sz="1400" dirty="0"/>
          </a:p>
        </p:txBody>
      </p:sp>
      <p:sp>
        <p:nvSpPr>
          <p:cNvPr id="11" name="Text 165"/>
          <p:cNvSpPr txBox="1"/>
          <p:nvPr/>
        </p:nvSpPr>
        <p:spPr>
          <a:xfrm>
            <a:off x="5943600" y="2971800"/>
            <a:ext cx="2743200" cy="228600"/>
          </a:xfrm>
          <a:prstGeom prst="rect">
            <a:avLst/>
          </a:prstGeom>
          <a:noFill/>
          <a:ln/>
        </p:spPr>
        <p:txBody>
          <a:bodyPr wrap="square" lIns="0" tIns="0" rIns="0" bIns="0" rtlCol="0" anchor="t"/>
          <a:lstStyle/>
          <a:p>
            <a:pPr indent="0" marL="0">
              <a:buNone/>
            </a:pPr>
            <a:r>
              <a:rPr lang="en-US" sz="1400" b="1" dirty="0">
                <a:solidFill>
                  <a:srgbClr val="64748B"/>
                </a:solidFill>
              </a:rPr>
              <a:t>Key features</a:t>
            </a:r>
            <a:endParaRPr lang="en-US" sz="1400" dirty="0"/>
          </a:p>
        </p:txBody>
      </p:sp>
      <p:sp>
        <p:nvSpPr>
          <p:cNvPr id="12" name="Card 166"/>
          <p:cNvSpPr txBox="1"/>
          <p:nvPr/>
        </p:nvSpPr>
        <p:spPr>
          <a:xfrm>
            <a:off x="594360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Graph + document + key-value</a:t>
            </a:r>
            <a:endParaRPr lang="en-US" sz="1400" dirty="0"/>
          </a:p>
        </p:txBody>
      </p:sp>
      <p:sp>
        <p:nvSpPr>
          <p:cNvPr id="13" name="Card 167"/>
          <p:cNvSpPr txBox="1"/>
          <p:nvPr/>
        </p:nvSpPr>
        <p:spPr>
          <a:xfrm>
            <a:off x="8869680" y="3273552"/>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Query with SQL or Cypher</a:t>
            </a:r>
            <a:endParaRPr lang="en-US" sz="1400" dirty="0"/>
          </a:p>
        </p:txBody>
      </p:sp>
      <p:sp>
        <p:nvSpPr>
          <p:cNvPr id="14" name="Card 168"/>
          <p:cNvSpPr txBox="1"/>
          <p:nvPr/>
        </p:nvSpPr>
        <p:spPr>
          <a:xfrm>
            <a:off x="594360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Fast at following links</a:t>
            </a:r>
            <a:endParaRPr lang="en-US" sz="1400" dirty="0"/>
          </a:p>
        </p:txBody>
      </p:sp>
      <p:sp>
        <p:nvSpPr>
          <p:cNvPr id="15" name="Card 169"/>
          <p:cNvSpPr txBox="1"/>
          <p:nvPr/>
        </p:nvSpPr>
        <p:spPr>
          <a:xfrm>
            <a:off x="8869680" y="3931920"/>
            <a:ext cx="2743200" cy="566928"/>
          </a:xfrm>
          <a:prstGeom prst="roundRect">
            <a:avLst>
              <a:gd name="adj" fmla="val 16129"/>
            </a:avLst>
          </a:prstGeom>
          <a:solidFill>
            <a:srgbClr val="F1F5F9"/>
          </a:solidFill>
          <a:ln w="9525">
            <a:solidFill>
              <a:srgbClr val="CBD5E1"/>
            </a:solidFill>
          </a:ln>
        </p:spPr>
        <p:txBody>
          <a:bodyPr wrap="square" lIns="127000" tIns="127000" rIns="127000" bIns="127000" rtlCol="0" anchor="ctr"/>
          <a:lstStyle/>
          <a:p>
            <a:pPr algn="l" indent="0" marL="0">
              <a:buNone/>
            </a:pPr>
            <a:r>
              <a:rPr lang="en-US" sz="1400" dirty="0">
                <a:solidFill>
                  <a:srgbClr val="1E293B"/>
                </a:solidFill>
              </a:rPr>
              <a:t>Open source (Apache 2.0)</a:t>
            </a:r>
            <a:endParaRPr lang="en-US" sz="1400" dirty="0"/>
          </a:p>
        </p:txBody>
      </p:sp>
      <p:sp>
        <p:nvSpPr>
          <p:cNvPr id="16" name="Card 170"/>
          <p:cNvSpPr txBox="1"/>
          <p:nvPr/>
        </p:nvSpPr>
        <p:spPr>
          <a:xfrm>
            <a:off x="5943600" y="4663440"/>
            <a:ext cx="5669280" cy="685800"/>
          </a:xfrm>
          <a:prstGeom prst="roundRect">
            <a:avLst>
              <a:gd name="adj" fmla="val 13333"/>
            </a:avLst>
          </a:prstGeom>
          <a:solidFill>
            <a:srgbClr val="E0F2FE"/>
          </a:solidFill>
          <a:ln w="9525">
            <a:solidFill>
              <a:srgbClr val="0EA5E9"/>
            </a:solidFill>
          </a:ln>
        </p:spPr>
        <p:txBody>
          <a:bodyPr wrap="square" lIns="165100" tIns="165100" rIns="165100" bIns="165100" rtlCol="0" anchor="ctr"/>
          <a:lstStyle/>
          <a:p>
            <a:pPr algn="l" indent="0" marL="0">
              <a:buNone/>
            </a:pPr>
            <a:r>
              <a:rPr lang="en-US" sz="1400" b="1" dirty="0">
                <a:solidFill>
                  <a:srgbClr val="0B1437"/>
                </a:solidFill>
              </a:rPr>
              <a:t>Think of it as:  </a:t>
            </a:r>
            <a:pPr algn="l" indent="0" marL="0">
              <a:buNone/>
            </a:pPr>
            <a:r>
              <a:rPr lang="en-US" sz="1400" dirty="0">
                <a:solidFill>
                  <a:srgbClr val="1E293B"/>
                </a:solidFill>
              </a:rPr>
              <a:t>a social network map. People and products are dots, and purchases are lines between them.</a:t>
            </a:r>
            <a:endParaRPr lang="en-US" sz="1400" dirty="0"/>
          </a:p>
        </p:txBody>
      </p:sp>
      <p:sp>
        <p:nvSpPr>
          <p:cNvPr id="17" name="Card 171"/>
          <p:cNvSpPr txBox="1"/>
          <p:nvPr/>
        </p:nvSpPr>
        <p:spPr>
          <a:xfrm>
            <a:off x="548640" y="5532120"/>
            <a:ext cx="11091672" cy="640080"/>
          </a:xfrm>
          <a:prstGeom prst="roundRect">
            <a:avLst>
              <a:gd name="adj" fmla="val 14286"/>
            </a:avLst>
          </a:prstGeom>
          <a:solidFill>
            <a:srgbClr val="FEF3C7"/>
          </a:solidFill>
          <a:ln w="9525">
            <a:solidFill>
              <a:srgbClr val="FDE68A"/>
            </a:solidFill>
          </a:ln>
        </p:spPr>
        <p:txBody>
          <a:bodyPr wrap="square" lIns="228600" tIns="228600" rIns="228600" bIns="228600" rtlCol="0" anchor="ctr"/>
          <a:lstStyle/>
          <a:p>
            <a:pPr algn="l" indent="0" marL="0">
              <a:buNone/>
            </a:pPr>
            <a:r>
              <a:rPr lang="en-US" sz="1600" b="1" dirty="0">
                <a:solidFill>
                  <a:srgbClr val="0B1437"/>
                </a:solidFill>
              </a:rPr>
              <a:t>In ShopEasy:  </a:t>
            </a:r>
            <a:pPr algn="l" indent="0" marL="0">
              <a:buNone/>
            </a:pPr>
            <a:r>
              <a:rPr lang="en-US" sz="1600" dirty="0">
                <a:solidFill>
                  <a:srgbClr val="1E293B"/>
                </a:solidFill>
              </a:rPr>
              <a:t>Asha bought a phone and a case. Ravi bought the phone, so ArcadeDB suggests the case to Ravi.</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rt tag"/>
          <p:cNvSpPr txBox="1"/>
          <p:nvPr/>
        </p:nvSpPr>
        <p:spPr>
          <a:xfrm>
            <a:off x="548640" y="384048"/>
            <a:ext cx="3072384" cy="274320"/>
          </a:xfrm>
          <a:prstGeom prst="roundRect">
            <a:avLst>
              <a:gd name="adj" fmla="val 50000"/>
            </a:avLst>
          </a:prstGeom>
          <a:solidFill>
            <a:srgbClr val="B45309"/>
          </a:solidFill>
          <a:ln w="9525">
            <a:solidFill>
              <a:srgbClr val="B45309"/>
            </a:solidFill>
          </a:ln>
        </p:spPr>
        <p:txBody>
          <a:bodyPr wrap="square" lIns="0" tIns="0" rIns="0" bIns="0" rtlCol="0" anchor="ctr"/>
          <a:lstStyle/>
          <a:p>
            <a:pPr algn="ctr" indent="0" marL="0">
              <a:buNone/>
            </a:pPr>
            <a:r>
              <a:rPr lang="en-US" sz="1100" b="1" dirty="0">
                <a:solidFill>
                  <a:srgbClr val="FFFFFF"/>
                </a:solidFill>
              </a:rPr>
              <a:t>PART 4  ·  PUTTING IT TOGETHER</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One order’s journey</a:t>
            </a:r>
            <a:endParaRPr lang="en-US" sz="3200" dirty="0"/>
          </a:p>
        </p:txBody>
      </p:sp>
      <p:sp>
        <p:nvSpPr>
          <p:cNvPr id="5" name="Box 172"/>
          <p:cNvSpPr/>
          <p:nvPr/>
        </p:nvSpPr>
        <p:spPr>
          <a:xfrm>
            <a:off x="548640" y="1783080"/>
            <a:ext cx="1691640" cy="3063240"/>
          </a:xfrm>
          <a:prstGeom prst="roundRect">
            <a:avLst>
              <a:gd name="adj" fmla="val 5405"/>
            </a:avLst>
          </a:prstGeom>
          <a:solidFill>
            <a:srgbClr val="F1F5F9"/>
          </a:solidFill>
          <a:ln w="9525">
            <a:solidFill>
              <a:srgbClr val="CBD5E1"/>
            </a:solidFill>
            <a:prstDash val="solid"/>
          </a:ln>
        </p:spPr>
      </p:sp>
      <p:sp>
        <p:nvSpPr>
          <p:cNvPr id="6" name="Step number 173"/>
          <p:cNvSpPr txBox="1"/>
          <p:nvPr/>
        </p:nvSpPr>
        <p:spPr>
          <a:xfrm>
            <a:off x="685800" y="1920240"/>
            <a:ext cx="411480" cy="411480"/>
          </a:xfrm>
          <a:prstGeom prst="ellipse">
            <a:avLst/>
          </a:prstGeom>
          <a:solidFill>
            <a:srgbClr val="64748B"/>
          </a:solidFill>
          <a:ln w="9525">
            <a:solidFill>
              <a:srgbClr val="64748B"/>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174"/>
          <p:cNvSpPr txBox="1"/>
          <p:nvPr/>
        </p:nvSpPr>
        <p:spPr>
          <a:xfrm>
            <a:off x="685800" y="2468880"/>
            <a:ext cx="1463040" cy="502920"/>
          </a:xfrm>
          <a:prstGeom prst="rect">
            <a:avLst/>
          </a:prstGeom>
          <a:noFill/>
          <a:ln/>
        </p:spPr>
        <p:txBody>
          <a:bodyPr wrap="square" lIns="0" tIns="0" rIns="0" bIns="0" rtlCol="0" anchor="t"/>
          <a:lstStyle/>
          <a:p>
            <a:pPr indent="0" marL="0">
              <a:buNone/>
            </a:pPr>
            <a:r>
              <a:rPr lang="en-US" sz="1600" b="1" dirty="0">
                <a:solidFill>
                  <a:srgbClr val="0B1437"/>
                </a:solidFill>
              </a:rPr>
              <a:t>Order placed</a:t>
            </a:r>
            <a:endParaRPr lang="en-US" sz="1600" dirty="0"/>
          </a:p>
        </p:txBody>
      </p:sp>
      <p:sp>
        <p:nvSpPr>
          <p:cNvPr id="8" name="Text 175"/>
          <p:cNvSpPr txBox="1"/>
          <p:nvPr/>
        </p:nvSpPr>
        <p:spPr>
          <a:xfrm>
            <a:off x="685800" y="3017520"/>
            <a:ext cx="1463040" cy="1737360"/>
          </a:xfrm>
          <a:prstGeom prst="rect">
            <a:avLst/>
          </a:prstGeom>
          <a:noFill/>
          <a:ln/>
        </p:spPr>
        <p:txBody>
          <a:bodyPr wrap="square" lIns="0" tIns="0" rIns="0" bIns="0" rtlCol="0" anchor="t"/>
          <a:lstStyle/>
          <a:p>
            <a:pPr indent="0" marL="0">
              <a:buNone/>
            </a:pPr>
            <a:r>
              <a:rPr lang="en-US" sz="1600" dirty="0">
                <a:solidFill>
                  <a:srgbClr val="1E293B"/>
                </a:solidFill>
              </a:rPr>
              <a:t>Asha buys a phone case for ₹499. It is saved in the Orders DB.</a:t>
            </a:r>
            <a:endParaRPr lang="en-US" sz="1600" dirty="0"/>
          </a:p>
        </p:txBody>
      </p:sp>
      <p:sp>
        <p:nvSpPr>
          <p:cNvPr id="9" name="Box 176"/>
          <p:cNvSpPr/>
          <p:nvPr/>
        </p:nvSpPr>
        <p:spPr>
          <a:xfrm>
            <a:off x="2428646" y="1783080"/>
            <a:ext cx="1691640" cy="3063240"/>
          </a:xfrm>
          <a:prstGeom prst="roundRect">
            <a:avLst>
              <a:gd name="adj" fmla="val 5405"/>
            </a:avLst>
          </a:prstGeom>
          <a:solidFill>
            <a:srgbClr val="F1F5F9"/>
          </a:solidFill>
          <a:ln w="9525">
            <a:solidFill>
              <a:srgbClr val="CBD5E1"/>
            </a:solidFill>
            <a:prstDash val="solid"/>
          </a:ln>
        </p:spPr>
      </p:sp>
      <p:sp>
        <p:nvSpPr>
          <p:cNvPr id="10" name="Step number 177"/>
          <p:cNvSpPr txBox="1"/>
          <p:nvPr/>
        </p:nvSpPr>
        <p:spPr>
          <a:xfrm>
            <a:off x="2565806" y="1920240"/>
            <a:ext cx="411480" cy="411480"/>
          </a:xfrm>
          <a:prstGeom prst="ellipse">
            <a:avLst/>
          </a:prstGeom>
          <a:solidFill>
            <a:srgbClr val="0369A1"/>
          </a:solidFill>
          <a:ln w="9525">
            <a:solidFill>
              <a:srgbClr val="0369A1"/>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178"/>
          <p:cNvSpPr txBox="1"/>
          <p:nvPr/>
        </p:nvSpPr>
        <p:spPr>
          <a:xfrm>
            <a:off x="2565806" y="2468880"/>
            <a:ext cx="1463040" cy="502920"/>
          </a:xfrm>
          <a:prstGeom prst="rect">
            <a:avLst/>
          </a:prstGeom>
          <a:noFill/>
          <a:ln/>
        </p:spPr>
        <p:txBody>
          <a:bodyPr wrap="square" lIns="0" tIns="0" rIns="0" bIns="0" rtlCol="0" anchor="t"/>
          <a:lstStyle/>
          <a:p>
            <a:pPr indent="0" marL="0">
              <a:buNone/>
            </a:pPr>
            <a:r>
              <a:rPr lang="en-US" sz="1600" b="1" dirty="0">
                <a:solidFill>
                  <a:srgbClr val="0B1437"/>
                </a:solidFill>
              </a:rPr>
              <a:t>NiFi</a:t>
            </a:r>
            <a:endParaRPr lang="en-US" sz="1600" dirty="0"/>
          </a:p>
        </p:txBody>
      </p:sp>
      <p:sp>
        <p:nvSpPr>
          <p:cNvPr id="12" name="Text 179"/>
          <p:cNvSpPr txBox="1"/>
          <p:nvPr/>
        </p:nvSpPr>
        <p:spPr>
          <a:xfrm>
            <a:off x="2565806" y="3017520"/>
            <a:ext cx="1463040" cy="1737360"/>
          </a:xfrm>
          <a:prstGeom prst="rect">
            <a:avLst/>
          </a:prstGeom>
          <a:noFill/>
          <a:ln/>
        </p:spPr>
        <p:txBody>
          <a:bodyPr wrap="square" lIns="0" tIns="0" rIns="0" bIns="0" rtlCol="0" anchor="t"/>
          <a:lstStyle/>
          <a:p>
            <a:pPr indent="0" marL="0">
              <a:buNone/>
            </a:pPr>
            <a:r>
              <a:rPr lang="en-US" sz="1600" dirty="0">
                <a:solidFill>
                  <a:srgbClr val="1E293B"/>
                </a:solidFill>
              </a:rPr>
              <a:t>Picks up the new order, click log and payment, and sends them on.</a:t>
            </a:r>
            <a:endParaRPr lang="en-US" sz="1600" dirty="0"/>
          </a:p>
        </p:txBody>
      </p:sp>
      <p:sp>
        <p:nvSpPr>
          <p:cNvPr id="13" name="Box 180"/>
          <p:cNvSpPr/>
          <p:nvPr/>
        </p:nvSpPr>
        <p:spPr>
          <a:xfrm>
            <a:off x="4308653" y="1783080"/>
            <a:ext cx="1691640" cy="3063240"/>
          </a:xfrm>
          <a:prstGeom prst="roundRect">
            <a:avLst>
              <a:gd name="adj" fmla="val 5405"/>
            </a:avLst>
          </a:prstGeom>
          <a:solidFill>
            <a:srgbClr val="F1F5F9"/>
          </a:solidFill>
          <a:ln w="9525">
            <a:solidFill>
              <a:srgbClr val="CBD5E1"/>
            </a:solidFill>
            <a:prstDash val="solid"/>
          </a:ln>
        </p:spPr>
      </p:sp>
      <p:sp>
        <p:nvSpPr>
          <p:cNvPr id="14" name="Step number 181"/>
          <p:cNvSpPr txBox="1"/>
          <p:nvPr/>
        </p:nvSpPr>
        <p:spPr>
          <a:xfrm>
            <a:off x="4445813" y="1920240"/>
            <a:ext cx="411480" cy="411480"/>
          </a:xfrm>
          <a:prstGeom prst="ellipse">
            <a:avLst/>
          </a:prstGeom>
          <a:solidFill>
            <a:srgbClr val="6D28D9"/>
          </a:solidFill>
          <a:ln w="9525">
            <a:solidFill>
              <a:srgbClr val="6D28D9"/>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5" name="Text 182"/>
          <p:cNvSpPr txBox="1"/>
          <p:nvPr/>
        </p:nvSpPr>
        <p:spPr>
          <a:xfrm>
            <a:off x="4445813" y="2468880"/>
            <a:ext cx="1463040" cy="502920"/>
          </a:xfrm>
          <a:prstGeom prst="rect">
            <a:avLst/>
          </a:prstGeom>
          <a:noFill/>
          <a:ln/>
        </p:spPr>
        <p:txBody>
          <a:bodyPr wrap="square" lIns="0" tIns="0" rIns="0" bIns="0" rtlCol="0" anchor="t"/>
          <a:lstStyle/>
          <a:p>
            <a:pPr indent="0" marL="0">
              <a:buNone/>
            </a:pPr>
            <a:r>
              <a:rPr lang="en-US" sz="1600" b="1" dirty="0">
                <a:solidFill>
                  <a:srgbClr val="0B1437"/>
                </a:solidFill>
              </a:rPr>
              <a:t>Ozone</a:t>
            </a:r>
            <a:endParaRPr lang="en-US" sz="1600" dirty="0"/>
          </a:p>
        </p:txBody>
      </p:sp>
      <p:sp>
        <p:nvSpPr>
          <p:cNvPr id="16" name="Text 183"/>
          <p:cNvSpPr txBox="1"/>
          <p:nvPr/>
        </p:nvSpPr>
        <p:spPr>
          <a:xfrm>
            <a:off x="4445813" y="3017520"/>
            <a:ext cx="1463040" cy="1737360"/>
          </a:xfrm>
          <a:prstGeom prst="rect">
            <a:avLst/>
          </a:prstGeom>
          <a:noFill/>
          <a:ln/>
        </p:spPr>
        <p:txBody>
          <a:bodyPr wrap="square" lIns="0" tIns="0" rIns="0" bIns="0" rtlCol="0" anchor="t"/>
          <a:lstStyle/>
          <a:p>
            <a:pPr indent="0" marL="0">
              <a:buNone/>
            </a:pPr>
            <a:r>
              <a:rPr lang="en-US" sz="1600" dirty="0">
                <a:solidFill>
                  <a:srgbClr val="1E293B"/>
                </a:solidFill>
              </a:rPr>
              <a:t>Stores the raw files safely, exactly as they arrived.</a:t>
            </a:r>
            <a:endParaRPr lang="en-US" sz="1600" dirty="0"/>
          </a:p>
        </p:txBody>
      </p:sp>
      <p:sp>
        <p:nvSpPr>
          <p:cNvPr id="17" name="Box 184"/>
          <p:cNvSpPr/>
          <p:nvPr/>
        </p:nvSpPr>
        <p:spPr>
          <a:xfrm>
            <a:off x="6188659" y="1783080"/>
            <a:ext cx="1691640" cy="3063240"/>
          </a:xfrm>
          <a:prstGeom prst="roundRect">
            <a:avLst>
              <a:gd name="adj" fmla="val 5405"/>
            </a:avLst>
          </a:prstGeom>
          <a:solidFill>
            <a:srgbClr val="F1F5F9"/>
          </a:solidFill>
          <a:ln w="9525">
            <a:solidFill>
              <a:srgbClr val="CBD5E1"/>
            </a:solidFill>
            <a:prstDash val="solid"/>
          </a:ln>
        </p:spPr>
      </p:sp>
      <p:sp>
        <p:nvSpPr>
          <p:cNvPr id="18" name="Step number 185"/>
          <p:cNvSpPr txBox="1"/>
          <p:nvPr/>
        </p:nvSpPr>
        <p:spPr>
          <a:xfrm>
            <a:off x="6325819" y="1920240"/>
            <a:ext cx="411480" cy="411480"/>
          </a:xfrm>
          <a:prstGeom prst="ellipse">
            <a:avLst/>
          </a:prstGeom>
          <a:solidFill>
            <a:srgbClr val="B45309"/>
          </a:solidFill>
          <a:ln w="9525">
            <a:solidFill>
              <a:srgbClr val="B45309"/>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9" name="Text 186"/>
          <p:cNvSpPr txBox="1"/>
          <p:nvPr/>
        </p:nvSpPr>
        <p:spPr>
          <a:xfrm>
            <a:off x="6325819" y="2468880"/>
            <a:ext cx="1463040" cy="502920"/>
          </a:xfrm>
          <a:prstGeom prst="rect">
            <a:avLst/>
          </a:prstGeom>
          <a:noFill/>
          <a:ln/>
        </p:spPr>
        <p:txBody>
          <a:bodyPr wrap="square" lIns="0" tIns="0" rIns="0" bIns="0" rtlCol="0" anchor="t"/>
          <a:lstStyle/>
          <a:p>
            <a:pPr indent="0" marL="0">
              <a:buNone/>
            </a:pPr>
            <a:r>
              <a:rPr lang="en-US" sz="1600" b="1" dirty="0">
                <a:solidFill>
                  <a:srgbClr val="0B1437"/>
                </a:solidFill>
              </a:rPr>
              <a:t>Spark</a:t>
            </a:r>
            <a:endParaRPr lang="en-US" sz="1600" dirty="0"/>
          </a:p>
        </p:txBody>
      </p:sp>
      <p:sp>
        <p:nvSpPr>
          <p:cNvPr id="20" name="Text 187"/>
          <p:cNvSpPr txBox="1"/>
          <p:nvPr/>
        </p:nvSpPr>
        <p:spPr>
          <a:xfrm>
            <a:off x="6325819" y="3017520"/>
            <a:ext cx="1463040" cy="1737360"/>
          </a:xfrm>
          <a:prstGeom prst="rect">
            <a:avLst/>
          </a:prstGeom>
          <a:noFill/>
          <a:ln/>
        </p:spPr>
        <p:txBody>
          <a:bodyPr wrap="square" lIns="0" tIns="0" rIns="0" bIns="0" rtlCol="0" anchor="t"/>
          <a:lstStyle/>
          <a:p>
            <a:pPr indent="0" marL="0">
              <a:buNone/>
            </a:pPr>
            <a:r>
              <a:rPr lang="en-US" sz="1600" dirty="0">
                <a:solidFill>
                  <a:srgbClr val="1E293B"/>
                </a:solidFill>
              </a:rPr>
              <a:t>Removes duplicates, joins order with payment, updates totals.</a:t>
            </a:r>
            <a:endParaRPr lang="en-US" sz="1600" dirty="0"/>
          </a:p>
        </p:txBody>
      </p:sp>
      <p:sp>
        <p:nvSpPr>
          <p:cNvPr id="21" name="Box 188"/>
          <p:cNvSpPr/>
          <p:nvPr/>
        </p:nvSpPr>
        <p:spPr>
          <a:xfrm>
            <a:off x="8068666" y="1783080"/>
            <a:ext cx="1691640" cy="3063240"/>
          </a:xfrm>
          <a:prstGeom prst="roundRect">
            <a:avLst>
              <a:gd name="adj" fmla="val 5405"/>
            </a:avLst>
          </a:prstGeom>
          <a:solidFill>
            <a:srgbClr val="F1F5F9"/>
          </a:solidFill>
          <a:ln w="9525">
            <a:solidFill>
              <a:srgbClr val="CBD5E1"/>
            </a:solidFill>
            <a:prstDash val="solid"/>
          </a:ln>
        </p:spPr>
      </p:sp>
      <p:sp>
        <p:nvSpPr>
          <p:cNvPr id="22" name="Step number 189"/>
          <p:cNvSpPr txBox="1"/>
          <p:nvPr/>
        </p:nvSpPr>
        <p:spPr>
          <a:xfrm>
            <a:off x="8205826" y="1920240"/>
            <a:ext cx="411480" cy="411480"/>
          </a:xfrm>
          <a:prstGeom prst="ellipse">
            <a:avLst/>
          </a:prstGeom>
          <a:solidFill>
            <a:srgbClr val="047857"/>
          </a:solidFill>
          <a:ln w="9525">
            <a:solidFill>
              <a:srgbClr val="047857"/>
            </a:solid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3" name="Text 190"/>
          <p:cNvSpPr txBox="1"/>
          <p:nvPr/>
        </p:nvSpPr>
        <p:spPr>
          <a:xfrm>
            <a:off x="8205826" y="2468880"/>
            <a:ext cx="1463040" cy="502920"/>
          </a:xfrm>
          <a:prstGeom prst="rect">
            <a:avLst/>
          </a:prstGeom>
          <a:noFill/>
          <a:ln/>
        </p:spPr>
        <p:txBody>
          <a:bodyPr wrap="square" lIns="0" tIns="0" rIns="0" bIns="0" rtlCol="0" anchor="t"/>
          <a:lstStyle/>
          <a:p>
            <a:pPr indent="0" marL="0">
              <a:buNone/>
            </a:pPr>
            <a:r>
              <a:rPr lang="en-US" sz="1600" b="1" dirty="0">
                <a:solidFill>
                  <a:srgbClr val="0B1437"/>
                </a:solidFill>
              </a:rPr>
              <a:t>Iceberg</a:t>
            </a:r>
            <a:endParaRPr lang="en-US" sz="1600" dirty="0"/>
          </a:p>
        </p:txBody>
      </p:sp>
      <p:sp>
        <p:nvSpPr>
          <p:cNvPr id="24" name="Text 191"/>
          <p:cNvSpPr txBox="1"/>
          <p:nvPr/>
        </p:nvSpPr>
        <p:spPr>
          <a:xfrm>
            <a:off x="8205826" y="3017520"/>
            <a:ext cx="1463040" cy="1737360"/>
          </a:xfrm>
          <a:prstGeom prst="rect">
            <a:avLst/>
          </a:prstGeom>
          <a:noFill/>
          <a:ln/>
        </p:spPr>
        <p:txBody>
          <a:bodyPr wrap="square" lIns="0" tIns="0" rIns="0" bIns="0" rtlCol="0" anchor="t"/>
          <a:lstStyle/>
          <a:p>
            <a:pPr indent="0" marL="0">
              <a:buNone/>
            </a:pPr>
            <a:r>
              <a:rPr lang="en-US" sz="1600" dirty="0">
                <a:solidFill>
                  <a:srgbClr val="1E293B"/>
                </a:solidFill>
              </a:rPr>
              <a:t>Saves the result as the clean table daily_sales on Ozone.</a:t>
            </a:r>
            <a:endParaRPr lang="en-US" sz="1600" dirty="0"/>
          </a:p>
        </p:txBody>
      </p:sp>
      <p:sp>
        <p:nvSpPr>
          <p:cNvPr id="25" name="Box 192"/>
          <p:cNvSpPr/>
          <p:nvPr/>
        </p:nvSpPr>
        <p:spPr>
          <a:xfrm>
            <a:off x="9948672" y="1783080"/>
            <a:ext cx="1691640" cy="3063240"/>
          </a:xfrm>
          <a:prstGeom prst="roundRect">
            <a:avLst>
              <a:gd name="adj" fmla="val 5405"/>
            </a:avLst>
          </a:prstGeom>
          <a:solidFill>
            <a:srgbClr val="F1F5F9"/>
          </a:solidFill>
          <a:ln w="9525">
            <a:solidFill>
              <a:srgbClr val="CBD5E1"/>
            </a:solidFill>
            <a:prstDash val="solid"/>
          </a:ln>
        </p:spPr>
      </p:sp>
      <p:sp>
        <p:nvSpPr>
          <p:cNvPr id="26" name="Step number 193"/>
          <p:cNvSpPr txBox="1"/>
          <p:nvPr/>
        </p:nvSpPr>
        <p:spPr>
          <a:xfrm>
            <a:off x="10085832" y="1920240"/>
            <a:ext cx="411480" cy="411480"/>
          </a:xfrm>
          <a:prstGeom prst="ellipse">
            <a:avLst/>
          </a:prstGeom>
          <a:solidFill>
            <a:srgbClr val="0B1437"/>
          </a:solidFill>
          <a:ln w="9525">
            <a:solidFill>
              <a:srgbClr val="0B1437"/>
            </a:solid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27" name="Text 194"/>
          <p:cNvSpPr txBox="1"/>
          <p:nvPr/>
        </p:nvSpPr>
        <p:spPr>
          <a:xfrm>
            <a:off x="10085832" y="2468880"/>
            <a:ext cx="1463040" cy="502920"/>
          </a:xfrm>
          <a:prstGeom prst="rect">
            <a:avLst/>
          </a:prstGeom>
          <a:noFill/>
          <a:ln/>
        </p:spPr>
        <p:txBody>
          <a:bodyPr wrap="square" lIns="0" tIns="0" rIns="0" bIns="0" rtlCol="0" anchor="t"/>
          <a:lstStyle/>
          <a:p>
            <a:pPr indent="0" marL="0">
              <a:buNone/>
            </a:pPr>
            <a:r>
              <a:rPr lang="en-US" sz="1600" b="1" dirty="0">
                <a:solidFill>
                  <a:srgbClr val="0B1437"/>
                </a:solidFill>
              </a:rPr>
              <a:t>Doris + ArcadeDB</a:t>
            </a:r>
            <a:endParaRPr lang="en-US" sz="1600" dirty="0"/>
          </a:p>
        </p:txBody>
      </p:sp>
      <p:sp>
        <p:nvSpPr>
          <p:cNvPr id="28" name="Text 195"/>
          <p:cNvSpPr txBox="1"/>
          <p:nvPr/>
        </p:nvSpPr>
        <p:spPr>
          <a:xfrm>
            <a:off x="10085832" y="3017520"/>
            <a:ext cx="1463040" cy="1737360"/>
          </a:xfrm>
          <a:prstGeom prst="rect">
            <a:avLst/>
          </a:prstGeom>
          <a:noFill/>
          <a:ln/>
        </p:spPr>
        <p:txBody>
          <a:bodyPr wrap="square" lIns="0" tIns="0" rIns="0" bIns="0" rtlCol="0" anchor="t"/>
          <a:lstStyle/>
          <a:p>
            <a:pPr indent="0" marL="0">
              <a:buNone/>
            </a:pPr>
            <a:r>
              <a:rPr lang="en-US" sz="1600" dirty="0">
                <a:solidFill>
                  <a:srgbClr val="1E293B"/>
                </a:solidFill>
              </a:rPr>
              <a:t>₹499 appears on the dashboard. Asha is linked to the case.</a:t>
            </a:r>
            <a:endParaRPr lang="en-US" sz="1600" dirty="0"/>
          </a:p>
        </p:txBody>
      </p:sp>
      <p:sp>
        <p:nvSpPr>
          <p:cNvPr id="29" name="Box 196"/>
          <p:cNvSpPr/>
          <p:nvPr/>
        </p:nvSpPr>
        <p:spPr>
          <a:xfrm>
            <a:off x="548640" y="5166360"/>
            <a:ext cx="11091672" cy="822960"/>
          </a:xfrm>
          <a:prstGeom prst="roundRect">
            <a:avLst>
              <a:gd name="adj" fmla="val 11111"/>
            </a:avLst>
          </a:prstGeom>
          <a:solidFill>
            <a:srgbClr val="0B1437"/>
          </a:solidFill>
          <a:ln w="9525">
            <a:solidFill>
              <a:srgbClr val="0B1437"/>
            </a:solidFill>
            <a:prstDash val="solid"/>
          </a:ln>
        </p:spPr>
      </p:sp>
      <p:sp>
        <p:nvSpPr>
          <p:cNvPr id="30" name="Text 197"/>
          <p:cNvSpPr txBox="1"/>
          <p:nvPr/>
        </p:nvSpPr>
        <p:spPr>
          <a:xfrm>
            <a:off x="777240" y="5166360"/>
            <a:ext cx="10607040" cy="822960"/>
          </a:xfrm>
          <a:prstGeom prst="rect">
            <a:avLst/>
          </a:prstGeom>
          <a:noFill/>
          <a:ln/>
        </p:spPr>
        <p:txBody>
          <a:bodyPr wrap="square" lIns="0" tIns="0" rIns="0" bIns="0" rtlCol="0" anchor="ctr"/>
          <a:lstStyle/>
          <a:p>
            <a:pPr algn="ctr" indent="0" marL="0">
              <a:buNone/>
            </a:pPr>
            <a:r>
              <a:rPr lang="en-US" sz="2200" b="1" dirty="0">
                <a:solidFill>
                  <a:srgbClr val="FFFFFF"/>
                </a:solidFill>
              </a:rPr>
              <a:t>Orders DB  →  NiFi  →  Ozone  →  Spark  →  Iceberg  →  </a:t>
            </a:r>
            <a:pPr algn="ctr" indent="0" marL="0">
              <a:buNone/>
            </a:pPr>
            <a:r>
              <a:rPr lang="en-US" sz="2200" b="1" dirty="0">
                <a:solidFill>
                  <a:srgbClr val="F59E0B"/>
                </a:solidFill>
              </a:rPr>
              <a:t>Doris / ArcadeDB</a:t>
            </a:r>
            <a:endParaRPr lang="en-US" sz="2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art tag"/>
          <p:cNvSpPr txBox="1"/>
          <p:nvPr/>
        </p:nvSpPr>
        <p:spPr>
          <a:xfrm>
            <a:off x="548640" y="384048"/>
            <a:ext cx="3072384" cy="274320"/>
          </a:xfrm>
          <a:prstGeom prst="roundRect">
            <a:avLst>
              <a:gd name="adj" fmla="val 50000"/>
            </a:avLst>
          </a:prstGeom>
          <a:solidFill>
            <a:srgbClr val="B45309"/>
          </a:solidFill>
          <a:ln w="9525">
            <a:solidFill>
              <a:srgbClr val="B45309"/>
            </a:solidFill>
          </a:ln>
        </p:spPr>
        <p:txBody>
          <a:bodyPr wrap="square" lIns="0" tIns="0" rIns="0" bIns="0" rtlCol="0" anchor="ctr"/>
          <a:lstStyle/>
          <a:p>
            <a:pPr algn="ctr" indent="0" marL="0">
              <a:buNone/>
            </a:pPr>
            <a:r>
              <a:rPr lang="en-US" sz="1100" b="1" dirty="0">
                <a:solidFill>
                  <a:srgbClr val="FFFFFF"/>
                </a:solidFill>
              </a:rPr>
              <a:t>PART 4  ·  PUTTING IT TOGETHER</a:t>
            </a:r>
            <a:endParaRPr lang="en-US" sz="1100" dirty="0"/>
          </a:p>
        </p:txBody>
      </p:sp>
      <p:sp>
        <p:nvSpPr>
          <p:cNvPr id="3" name="Text 0"/>
          <p:cNvSpPr/>
          <p:nvPr>
            <p:ph idx="100" type="title" hasCustomPrompt="1"/>
          </p:nvPr>
        </p:nvSpPr>
        <p:spPr>
          <a:xfrm>
            <a:off x="548640" y="749808"/>
            <a:ext cx="11091672" cy="685800"/>
          </a:xfrm>
          <a:prstGeom prst="rect">
            <a:avLst/>
          </a:prstGeom>
          <a:noFill/>
          <a:ln/>
        </p:spPr>
        <p:txBody>
          <a:bodyPr wrap="square" lIns="0" tIns="0" rIns="0" bIns="0" rtlCol="0" anchor="ctr"/>
          <a:lstStyle/>
          <a:p>
            <a:pPr algn="l" indent="0" marL="0">
              <a:buNone/>
            </a:pPr>
            <a:r>
              <a:rPr lang="en-US" sz="3200" b="1" dirty="0">
                <a:solidFill>
                  <a:srgbClr val="0B1437"/>
                </a:solidFill>
              </a:rPr>
              <a:t>Which tool for what?</a:t>
            </a:r>
            <a:endParaRPr lang="en-US" sz="3200" dirty="0"/>
          </a:p>
        </p:txBody>
      </p:sp>
      <p:graphicFrame>
        <p:nvGraphicFramePr>
          <p:cNvPr id="15" name="Tools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1828800"/>
                <a:gridCol w="2011680"/>
                <a:gridCol w="4663440"/>
                <a:gridCol w="2587752"/>
              </a:tblGrid>
              <a:tr h="621792">
                <a:tc>
                  <a:txBody>
                    <a:bodyPr/>
                    <a:lstStyle/>
                    <a:p>
                      <a:pPr indent="0" marL="0">
                        <a:buNone/>
                      </a:pPr>
                      <a:r>
                        <a:rPr lang="en-US" sz="1600" b="1" dirty="0">
                          <a:solidFill>
                            <a:srgbClr val="FFFFFF"/>
                          </a:solidFill>
                        </a:rPr>
                        <a:t>Tool</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437"/>
                    </a:solidFill>
                  </a:tcPr>
                </a:tc>
                <a:tc>
                  <a:txBody>
                    <a:bodyPr/>
                    <a:lstStyle/>
                    <a:p>
                      <a:pPr indent="0" marL="0">
                        <a:buNone/>
                      </a:pPr>
                      <a:r>
                        <a:rPr lang="en-US" sz="1600" b="1" dirty="0">
                          <a:solidFill>
                            <a:srgbClr val="FFFFFF"/>
                          </a:solidFill>
                        </a:rPr>
                        <a:t>Layer</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437"/>
                    </a:solidFill>
                  </a:tcPr>
                </a:tc>
                <a:tc>
                  <a:txBody>
                    <a:bodyPr/>
                    <a:lstStyle/>
                    <a:p>
                      <a:pPr indent="0" marL="0">
                        <a:buNone/>
                      </a:pPr>
                      <a:r>
                        <a:rPr lang="en-US" sz="1600" b="1" dirty="0">
                          <a:solidFill>
                            <a:srgbClr val="FFFFFF"/>
                          </a:solidFill>
                        </a:rPr>
                        <a:t>Its one job</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437"/>
                    </a:solidFill>
                  </a:tcPr>
                </a:tc>
                <a:tc>
                  <a:txBody>
                    <a:bodyPr/>
                    <a:lstStyle/>
                    <a:p>
                      <a:pPr indent="0" marL="0">
                        <a:buNone/>
                      </a:pPr>
                      <a:r>
                        <a:rPr lang="en-US" sz="1600" b="1" dirty="0">
                          <a:solidFill>
                            <a:srgbClr val="FFFFFF"/>
                          </a:solidFill>
                        </a:rPr>
                        <a:t>Simple picture</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437"/>
                    </a:solidFill>
                  </a:tcPr>
                </a:tc>
              </a:tr>
              <a:tr h="621792">
                <a:tc>
                  <a:txBody>
                    <a:bodyPr/>
                    <a:lstStyle/>
                    <a:p>
                      <a:pPr indent="0" marL="0">
                        <a:buNone/>
                      </a:pPr>
                      <a:r>
                        <a:rPr lang="en-US" sz="1600" b="1" dirty="0">
                          <a:solidFill>
                            <a:srgbClr val="0B1437"/>
                          </a:solidFill>
                        </a:rPr>
                        <a:t>NiFi</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2FE"/>
                    </a:solidFill>
                  </a:tcPr>
                </a:tc>
                <a:tc>
                  <a:txBody>
                    <a:bodyPr/>
                    <a:lstStyle/>
                    <a:p>
                      <a:pPr indent="0" marL="0">
                        <a:buNone/>
                      </a:pPr>
                      <a:r>
                        <a:rPr lang="en-US" sz="1600" dirty="0">
                          <a:solidFill>
                            <a:srgbClr val="1E293B"/>
                          </a:solidFill>
                        </a:rPr>
                        <a:t>Ingest</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E293B"/>
                          </a:solidFill>
                        </a:rPr>
                        <a:t>Collects data from sources and delivers it automatically</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i="1" dirty="0">
                          <a:solidFill>
                            <a:srgbClr val="64748B"/>
                          </a:solidFill>
                        </a:rPr>
                        <a:t>Delivery truck</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21792">
                <a:tc>
                  <a:txBody>
                    <a:bodyPr/>
                    <a:lstStyle/>
                    <a:p>
                      <a:pPr indent="0" marL="0">
                        <a:buNone/>
                      </a:pPr>
                      <a:r>
                        <a:rPr lang="en-US" sz="1600" b="1" dirty="0">
                          <a:solidFill>
                            <a:srgbClr val="0B1437"/>
                          </a:solidFill>
                        </a:rPr>
                        <a:t>Ozone</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indent="0" marL="0">
                        <a:buNone/>
                      </a:pPr>
                      <a:r>
                        <a:rPr lang="en-US" sz="1600" dirty="0">
                          <a:solidFill>
                            <a:srgbClr val="1E293B"/>
                          </a:solidFill>
                        </a:rPr>
                        <a:t>Store</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E293B"/>
                          </a:solidFill>
                        </a:rPr>
                        <a:t>Stores raw and final files at very large scale</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i="1" dirty="0">
                          <a:solidFill>
                            <a:srgbClr val="64748B"/>
                          </a:solidFill>
                        </a:rPr>
                        <a:t>Giant warehouse</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21792">
                <a:tc>
                  <a:txBody>
                    <a:bodyPr/>
                    <a:lstStyle/>
                    <a:p>
                      <a:pPr indent="0" marL="0">
                        <a:buNone/>
                      </a:pPr>
                      <a:r>
                        <a:rPr lang="en-US" sz="1600" b="1" dirty="0">
                          <a:solidFill>
                            <a:srgbClr val="0B1437"/>
                          </a:solidFill>
                        </a:rPr>
                        <a:t>Spark</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600" dirty="0">
                          <a:solidFill>
                            <a:srgbClr val="1E293B"/>
                          </a:solidFill>
                        </a:rPr>
                        <a:t>Process</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E293B"/>
                          </a:solidFill>
                        </a:rPr>
                        <a:t>Cleans, joins and summarises data in parallel</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i="1" dirty="0">
                          <a:solidFill>
                            <a:srgbClr val="64748B"/>
                          </a:solidFill>
                        </a:rPr>
                        <a:t>Kitchen with many chefs</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21792">
                <a:tc>
                  <a:txBody>
                    <a:bodyPr/>
                    <a:lstStyle/>
                    <a:p>
                      <a:pPr indent="0" marL="0">
                        <a:buNone/>
                      </a:pPr>
                      <a:r>
                        <a:rPr lang="en-US" sz="1600" b="1" dirty="0">
                          <a:solidFill>
                            <a:srgbClr val="0B1437"/>
                          </a:solidFill>
                        </a:rPr>
                        <a:t>Iceberg</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1FAE5"/>
                    </a:solidFill>
                  </a:tcPr>
                </a:tc>
                <a:tc>
                  <a:txBody>
                    <a:bodyPr/>
                    <a:lstStyle/>
                    <a:p>
                      <a:pPr indent="0" marL="0">
                        <a:buNone/>
                      </a:pPr>
                      <a:r>
                        <a:rPr lang="en-US" sz="1600" dirty="0">
                          <a:solidFill>
                            <a:srgbClr val="1E293B"/>
                          </a:solidFill>
                        </a:rPr>
                        <a:t>Table format</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E293B"/>
                          </a:solidFill>
                        </a:rPr>
                        <a:t>Turns files into safe, versioned tables</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i="1" dirty="0">
                          <a:solidFill>
                            <a:srgbClr val="64748B"/>
                          </a:solidFill>
                        </a:rPr>
                        <a:t>Library catalogue</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21792">
                <a:tc>
                  <a:txBody>
                    <a:bodyPr/>
                    <a:lstStyle/>
                    <a:p>
                      <a:pPr indent="0" marL="0">
                        <a:buNone/>
                      </a:pPr>
                      <a:r>
                        <a:rPr lang="en-US" sz="1600" b="1" dirty="0">
                          <a:solidFill>
                            <a:srgbClr val="0B1437"/>
                          </a:solidFill>
                        </a:rPr>
                        <a:t>Doris</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2FE"/>
                    </a:solidFill>
                  </a:tcPr>
                </a:tc>
                <a:tc>
                  <a:txBody>
                    <a:bodyPr/>
                    <a:lstStyle/>
                    <a:p>
                      <a:pPr indent="0" marL="0">
                        <a:buNone/>
                      </a:pPr>
                      <a:r>
                        <a:rPr lang="en-US" sz="1600" dirty="0">
                          <a:solidFill>
                            <a:srgbClr val="1E293B"/>
                          </a:solidFill>
                        </a:rPr>
                        <a:t>Serve (analytics)</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E293B"/>
                          </a:solidFill>
                        </a:rPr>
                        <a:t>Answers dashboard queries in seconds</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i="1" dirty="0">
                          <a:solidFill>
                            <a:srgbClr val="64748B"/>
                          </a:solidFill>
                        </a:rPr>
                        <a:t>Sports car for questions</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21792">
                <a:tc>
                  <a:txBody>
                    <a:bodyPr/>
                    <a:lstStyle/>
                    <a:p>
                      <a:pPr indent="0" marL="0">
                        <a:buNone/>
                      </a:pPr>
                      <a:r>
                        <a:rPr lang="en-US" sz="1600" b="1" dirty="0">
                          <a:solidFill>
                            <a:srgbClr val="0B1437"/>
                          </a:solidFill>
                        </a:rPr>
                        <a:t>ArcadeDB</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DE9FE"/>
                    </a:solidFill>
                  </a:tcPr>
                </a:tc>
                <a:tc>
                  <a:txBody>
                    <a:bodyPr/>
                    <a:lstStyle/>
                    <a:p>
                      <a:pPr indent="0" marL="0">
                        <a:buNone/>
                      </a:pPr>
                      <a:r>
                        <a:rPr lang="en-US" sz="1600" dirty="0">
                          <a:solidFill>
                            <a:srgbClr val="1E293B"/>
                          </a:solidFill>
                        </a:rPr>
                        <a:t>Serve (graph)</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1E293B"/>
                          </a:solidFill>
                        </a:rPr>
                        <a:t>Finds connections, such as recommendations</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i="1" dirty="0">
                          <a:solidFill>
                            <a:srgbClr val="64748B"/>
                          </a:solidFill>
                        </a:rPr>
                        <a:t>Social network map</a:t>
                      </a:r>
                      <a:endParaRPr lang="en-US" sz="16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22960" y="548640"/>
            <a:ext cx="10515600" cy="822960"/>
          </a:xfrm>
          <a:prstGeom prst="rect">
            <a:avLst/>
          </a:prstGeom>
          <a:noFill/>
          <a:ln/>
        </p:spPr>
        <p:txBody>
          <a:bodyPr wrap="square" lIns="0" tIns="0" rIns="0" bIns="0" rtlCol="0" anchor="ctr"/>
          <a:lstStyle/>
          <a:p>
            <a:pPr algn="l" indent="0" marL="0">
              <a:buNone/>
            </a:pPr>
            <a:r>
              <a:rPr lang="en-US" sz="3600" b="1" dirty="0">
                <a:solidFill>
                  <a:srgbClr val="FFFFFF"/>
                </a:solidFill>
              </a:rPr>
              <a:t>Key takeaways</a:t>
            </a:r>
            <a:endParaRPr lang="en-US" sz="3600" dirty="0"/>
          </a:p>
        </p:txBody>
      </p:sp>
      <p:sp>
        <p:nvSpPr>
          <p:cNvPr id="3" name="Number 198"/>
          <p:cNvSpPr txBox="1"/>
          <p:nvPr/>
        </p:nvSpPr>
        <p:spPr>
          <a:xfrm>
            <a:off x="822960" y="1856232"/>
            <a:ext cx="548640" cy="548640"/>
          </a:xfrm>
          <a:prstGeom prst="ellipse">
            <a:avLst/>
          </a:prstGeom>
          <a:solidFill>
            <a:srgbClr val="F59E0B"/>
          </a:solidFill>
          <a:ln w="9525">
            <a:solidFill>
              <a:srgbClr val="F59E0B"/>
            </a:solidFill>
          </a:ln>
        </p:spPr>
        <p:txBody>
          <a:bodyPr wrap="square" lIns="0" tIns="0" rIns="0" bIns="0" rtlCol="0" anchor="ctr"/>
          <a:lstStyle/>
          <a:p>
            <a:pPr algn="ctr" indent="0" marL="0">
              <a:buNone/>
            </a:pPr>
            <a:r>
              <a:rPr lang="en-US" sz="2000" b="1" dirty="0">
                <a:solidFill>
                  <a:srgbClr val="0B1437"/>
                </a:solidFill>
              </a:rPr>
              <a:t>1</a:t>
            </a:r>
            <a:endParaRPr lang="en-US" sz="2000" dirty="0"/>
          </a:p>
        </p:txBody>
      </p:sp>
      <p:sp>
        <p:nvSpPr>
          <p:cNvPr id="4" name="Text 199"/>
          <p:cNvSpPr txBox="1"/>
          <p:nvPr/>
        </p:nvSpPr>
        <p:spPr>
          <a:xfrm>
            <a:off x="1645920" y="1783080"/>
            <a:ext cx="9692640" cy="365760"/>
          </a:xfrm>
          <a:prstGeom prst="rect">
            <a:avLst/>
          </a:prstGeom>
          <a:noFill/>
          <a:ln/>
        </p:spPr>
        <p:txBody>
          <a:bodyPr wrap="square" lIns="0" tIns="0" rIns="0" bIns="0" rtlCol="0" anchor="t"/>
          <a:lstStyle/>
          <a:p>
            <a:pPr indent="0" marL="0">
              <a:buNone/>
            </a:pPr>
            <a:r>
              <a:rPr lang="en-US" sz="2200" b="1" dirty="0">
                <a:solidFill>
                  <a:srgbClr val="FFFFFF"/>
                </a:solidFill>
              </a:rPr>
              <a:t>Big data needs special tools</a:t>
            </a:r>
            <a:endParaRPr lang="en-US" sz="2200" dirty="0"/>
          </a:p>
        </p:txBody>
      </p:sp>
      <p:sp>
        <p:nvSpPr>
          <p:cNvPr id="5" name="Text 200"/>
          <p:cNvSpPr txBox="1"/>
          <p:nvPr/>
        </p:nvSpPr>
        <p:spPr>
          <a:xfrm>
            <a:off x="1645920" y="2194560"/>
            <a:ext cx="9692640" cy="365760"/>
          </a:xfrm>
          <a:prstGeom prst="rect">
            <a:avLst/>
          </a:prstGeom>
          <a:noFill/>
          <a:ln/>
        </p:spPr>
        <p:txBody>
          <a:bodyPr wrap="square" lIns="0" tIns="0" rIns="0" bIns="0" rtlCol="0" anchor="t"/>
          <a:lstStyle/>
          <a:p>
            <a:pPr indent="0" marL="0">
              <a:buNone/>
            </a:pPr>
            <a:r>
              <a:rPr lang="en-US" sz="1600" dirty="0">
                <a:solidFill>
                  <a:srgbClr val="94A3B8"/>
                </a:solidFill>
              </a:rPr>
              <a:t>One computer is not enough, so we spread storage and work across many machines.</a:t>
            </a:r>
            <a:endParaRPr lang="en-US" sz="1600" dirty="0"/>
          </a:p>
        </p:txBody>
      </p:sp>
      <p:sp>
        <p:nvSpPr>
          <p:cNvPr id="6" name="Number 201"/>
          <p:cNvSpPr txBox="1"/>
          <p:nvPr/>
        </p:nvSpPr>
        <p:spPr>
          <a:xfrm>
            <a:off x="822960" y="2880360"/>
            <a:ext cx="548640" cy="548640"/>
          </a:xfrm>
          <a:prstGeom prst="ellipse">
            <a:avLst/>
          </a:prstGeom>
          <a:solidFill>
            <a:srgbClr val="F59E0B"/>
          </a:solidFill>
          <a:ln w="9525">
            <a:solidFill>
              <a:srgbClr val="F59E0B"/>
            </a:solidFill>
          </a:ln>
        </p:spPr>
        <p:txBody>
          <a:bodyPr wrap="square" lIns="0" tIns="0" rIns="0" bIns="0" rtlCol="0" anchor="ctr"/>
          <a:lstStyle/>
          <a:p>
            <a:pPr algn="ctr" indent="0" marL="0">
              <a:buNone/>
            </a:pPr>
            <a:r>
              <a:rPr lang="en-US" sz="2000" b="1" dirty="0">
                <a:solidFill>
                  <a:srgbClr val="0B1437"/>
                </a:solidFill>
              </a:rPr>
              <a:t>2</a:t>
            </a:r>
            <a:endParaRPr lang="en-US" sz="2000" dirty="0"/>
          </a:p>
        </p:txBody>
      </p:sp>
      <p:sp>
        <p:nvSpPr>
          <p:cNvPr id="7" name="Text 202"/>
          <p:cNvSpPr txBox="1"/>
          <p:nvPr/>
        </p:nvSpPr>
        <p:spPr>
          <a:xfrm>
            <a:off x="1645920" y="2807208"/>
            <a:ext cx="9692640" cy="365760"/>
          </a:xfrm>
          <a:prstGeom prst="rect">
            <a:avLst/>
          </a:prstGeom>
          <a:noFill/>
          <a:ln/>
        </p:spPr>
        <p:txBody>
          <a:bodyPr wrap="square" lIns="0" tIns="0" rIns="0" bIns="0" rtlCol="0" anchor="t"/>
          <a:lstStyle/>
          <a:p>
            <a:pPr indent="0" marL="0">
              <a:buNone/>
            </a:pPr>
            <a:r>
              <a:rPr lang="en-US" sz="2200" b="1" dirty="0">
                <a:solidFill>
                  <a:srgbClr val="FFFFFF"/>
                </a:solidFill>
              </a:rPr>
              <a:t>ETL = Extract, Transform, Load</a:t>
            </a:r>
            <a:endParaRPr lang="en-US" sz="2200" dirty="0"/>
          </a:p>
        </p:txBody>
      </p:sp>
      <p:sp>
        <p:nvSpPr>
          <p:cNvPr id="8" name="Text 203"/>
          <p:cNvSpPr txBox="1"/>
          <p:nvPr/>
        </p:nvSpPr>
        <p:spPr>
          <a:xfrm>
            <a:off x="1645920" y="3218688"/>
            <a:ext cx="9692640" cy="365760"/>
          </a:xfrm>
          <a:prstGeom prst="rect">
            <a:avLst/>
          </a:prstGeom>
          <a:noFill/>
          <a:ln/>
        </p:spPr>
        <p:txBody>
          <a:bodyPr wrap="square" lIns="0" tIns="0" rIns="0" bIns="0" rtlCol="0" anchor="t"/>
          <a:lstStyle/>
          <a:p>
            <a:pPr indent="0" marL="0">
              <a:buNone/>
            </a:pPr>
            <a:r>
              <a:rPr lang="en-US" sz="1600" dirty="0">
                <a:solidFill>
                  <a:srgbClr val="94A3B8"/>
                </a:solidFill>
              </a:rPr>
              <a:t>Collect the data, clean it, then deliver it where people can use it.</a:t>
            </a:r>
            <a:endParaRPr lang="en-US" sz="1600" dirty="0"/>
          </a:p>
        </p:txBody>
      </p:sp>
      <p:sp>
        <p:nvSpPr>
          <p:cNvPr id="9" name="Number 204"/>
          <p:cNvSpPr txBox="1"/>
          <p:nvPr/>
        </p:nvSpPr>
        <p:spPr>
          <a:xfrm>
            <a:off x="822960" y="3904488"/>
            <a:ext cx="548640" cy="548640"/>
          </a:xfrm>
          <a:prstGeom prst="ellipse">
            <a:avLst/>
          </a:prstGeom>
          <a:solidFill>
            <a:srgbClr val="F59E0B"/>
          </a:solidFill>
          <a:ln w="9525">
            <a:solidFill>
              <a:srgbClr val="F59E0B"/>
            </a:solidFill>
          </a:ln>
        </p:spPr>
        <p:txBody>
          <a:bodyPr wrap="square" lIns="0" tIns="0" rIns="0" bIns="0" rtlCol="0" anchor="ctr"/>
          <a:lstStyle/>
          <a:p>
            <a:pPr algn="ctr" indent="0" marL="0">
              <a:buNone/>
            </a:pPr>
            <a:r>
              <a:rPr lang="en-US" sz="2000" b="1" dirty="0">
                <a:solidFill>
                  <a:srgbClr val="0B1437"/>
                </a:solidFill>
              </a:rPr>
              <a:t>3</a:t>
            </a:r>
            <a:endParaRPr lang="en-US" sz="2000" dirty="0"/>
          </a:p>
        </p:txBody>
      </p:sp>
      <p:sp>
        <p:nvSpPr>
          <p:cNvPr id="10" name="Text 205"/>
          <p:cNvSpPr txBox="1"/>
          <p:nvPr/>
        </p:nvSpPr>
        <p:spPr>
          <a:xfrm>
            <a:off x="1645920" y="3831336"/>
            <a:ext cx="9692640" cy="365760"/>
          </a:xfrm>
          <a:prstGeom prst="rect">
            <a:avLst/>
          </a:prstGeom>
          <a:noFill/>
          <a:ln/>
        </p:spPr>
        <p:txBody>
          <a:bodyPr wrap="square" lIns="0" tIns="0" rIns="0" bIns="0" rtlCol="0" anchor="t"/>
          <a:lstStyle/>
          <a:p>
            <a:pPr indent="0" marL="0">
              <a:buNone/>
            </a:pPr>
            <a:r>
              <a:rPr lang="en-US" sz="2200" b="1" dirty="0">
                <a:solidFill>
                  <a:srgbClr val="FFFFFF"/>
                </a:solidFill>
              </a:rPr>
              <a:t>Every tool has one clear job</a:t>
            </a:r>
            <a:endParaRPr lang="en-US" sz="2200" dirty="0"/>
          </a:p>
        </p:txBody>
      </p:sp>
      <p:sp>
        <p:nvSpPr>
          <p:cNvPr id="11" name="Text 206"/>
          <p:cNvSpPr txBox="1"/>
          <p:nvPr/>
        </p:nvSpPr>
        <p:spPr>
          <a:xfrm>
            <a:off x="1645920" y="4242816"/>
            <a:ext cx="9692640" cy="365760"/>
          </a:xfrm>
          <a:prstGeom prst="rect">
            <a:avLst/>
          </a:prstGeom>
          <a:noFill/>
          <a:ln/>
        </p:spPr>
        <p:txBody>
          <a:bodyPr wrap="square" lIns="0" tIns="0" rIns="0" bIns="0" rtlCol="0" anchor="t"/>
          <a:lstStyle/>
          <a:p>
            <a:pPr indent="0" marL="0">
              <a:buNone/>
            </a:pPr>
            <a:r>
              <a:rPr lang="en-US" sz="1600" dirty="0">
                <a:solidFill>
                  <a:srgbClr val="94A3B8"/>
                </a:solidFill>
              </a:rPr>
              <a:t>NiFi moves, Ozone stores, Spark cleans, Iceberg organises, Doris answers fast, ArcadeDB finds links.</a:t>
            </a:r>
            <a:endParaRPr lang="en-US" sz="1600" dirty="0"/>
          </a:p>
        </p:txBody>
      </p:sp>
      <p:sp>
        <p:nvSpPr>
          <p:cNvPr id="12" name="Number 207"/>
          <p:cNvSpPr txBox="1"/>
          <p:nvPr/>
        </p:nvSpPr>
        <p:spPr>
          <a:xfrm>
            <a:off x="822960" y="4928616"/>
            <a:ext cx="548640" cy="548640"/>
          </a:xfrm>
          <a:prstGeom prst="ellipse">
            <a:avLst/>
          </a:prstGeom>
          <a:solidFill>
            <a:srgbClr val="F59E0B"/>
          </a:solidFill>
          <a:ln w="9525">
            <a:solidFill>
              <a:srgbClr val="F59E0B"/>
            </a:solidFill>
          </a:ln>
        </p:spPr>
        <p:txBody>
          <a:bodyPr wrap="square" lIns="0" tIns="0" rIns="0" bIns="0" rtlCol="0" anchor="ctr"/>
          <a:lstStyle/>
          <a:p>
            <a:pPr algn="ctr" indent="0" marL="0">
              <a:buNone/>
            </a:pPr>
            <a:r>
              <a:rPr lang="en-US" sz="2000" b="1" dirty="0">
                <a:solidFill>
                  <a:srgbClr val="0B1437"/>
                </a:solidFill>
              </a:rPr>
              <a:t>4</a:t>
            </a:r>
            <a:endParaRPr lang="en-US" sz="2000" dirty="0"/>
          </a:p>
        </p:txBody>
      </p:sp>
      <p:sp>
        <p:nvSpPr>
          <p:cNvPr id="13" name="Text 208"/>
          <p:cNvSpPr txBox="1"/>
          <p:nvPr/>
        </p:nvSpPr>
        <p:spPr>
          <a:xfrm>
            <a:off x="1645920" y="4855464"/>
            <a:ext cx="9692640" cy="365760"/>
          </a:xfrm>
          <a:prstGeom prst="rect">
            <a:avLst/>
          </a:prstGeom>
          <a:noFill/>
          <a:ln/>
        </p:spPr>
        <p:txBody>
          <a:bodyPr wrap="square" lIns="0" tIns="0" rIns="0" bIns="0" rtlCol="0" anchor="t"/>
          <a:lstStyle/>
          <a:p>
            <a:pPr indent="0" marL="0">
              <a:buNone/>
            </a:pPr>
            <a:r>
              <a:rPr lang="en-US" sz="2200" b="1" dirty="0">
                <a:solidFill>
                  <a:srgbClr val="FFFFFF"/>
                </a:solidFill>
              </a:rPr>
              <a:t>Start small</a:t>
            </a:r>
            <a:endParaRPr lang="en-US" sz="2200" dirty="0"/>
          </a:p>
        </p:txBody>
      </p:sp>
      <p:sp>
        <p:nvSpPr>
          <p:cNvPr id="14" name="Text 209"/>
          <p:cNvSpPr txBox="1"/>
          <p:nvPr/>
        </p:nvSpPr>
        <p:spPr>
          <a:xfrm>
            <a:off x="1645920" y="5266944"/>
            <a:ext cx="9692640" cy="365760"/>
          </a:xfrm>
          <a:prstGeom prst="rect">
            <a:avLst/>
          </a:prstGeom>
          <a:noFill/>
          <a:ln/>
        </p:spPr>
        <p:txBody>
          <a:bodyPr wrap="square" lIns="0" tIns="0" rIns="0" bIns="0" rtlCol="0" anchor="t"/>
          <a:lstStyle/>
          <a:p>
            <a:pPr indent="0" marL="0">
              <a:buNone/>
            </a:pPr>
            <a:r>
              <a:rPr lang="en-US" sz="1600" dirty="0">
                <a:solidFill>
                  <a:srgbClr val="94A3B8"/>
                </a:solidFill>
              </a:rPr>
              <a:t>Pick one use case, like a sales dashboard, and follow the data from start to end.</a:t>
            </a:r>
            <a:endParaRPr lang="en-US" sz="1600" dirty="0"/>
          </a:p>
        </p:txBody>
      </p:sp>
      <p:sp>
        <p:nvSpPr>
          <p:cNvPr id="15" name="Text 210"/>
          <p:cNvSpPr txBox="1"/>
          <p:nvPr/>
        </p:nvSpPr>
        <p:spPr>
          <a:xfrm>
            <a:off x="822960" y="5989320"/>
            <a:ext cx="5486400" cy="365760"/>
          </a:xfrm>
          <a:prstGeom prst="rect">
            <a:avLst/>
          </a:prstGeom>
          <a:noFill/>
          <a:ln/>
        </p:spPr>
        <p:txBody>
          <a:bodyPr wrap="square" lIns="0" tIns="0" rIns="0" bIns="0" rtlCol="0" anchor="t"/>
          <a:lstStyle/>
          <a:p>
            <a:pPr indent="0" marL="0">
              <a:buNone/>
            </a:pPr>
            <a:r>
              <a:rPr lang="en-US" sz="1800" b="1" dirty="0">
                <a:solidFill>
                  <a:srgbClr val="F59E0B"/>
                </a:solidFill>
              </a:rPr>
              <a:t>Thank you  ·  Questions?</a:t>
            </a:r>
            <a:endParaRPr lang="en-US" sz="1800" dirty="0"/>
          </a:p>
        </p:txBody>
      </p:sp>
    </p:spTree>
  </p:cSld>
  <p:clrMapOvr>
    <a:masterClrMapping/>
  </p:clrMapOvr>
</p:sld>
</file>

<file path=ppt/theme/theme1.xml><?xml version="1.0" encoding="utf-8"?>
<a:theme xmlns:a="http://schemas.openxmlformats.org/drawingml/2006/main" name="BigData ETL">
  <a:themeElements>
    <a:clrScheme name="BigData ETL">
      <a:dk1>
        <a:srgbClr val="0B1437"/>
      </a:dk1>
      <a:lt1>
        <a:srgbClr val="FFFFFF"/>
      </a:lt1>
      <a:dk2>
        <a:srgbClr val="1E293B"/>
      </a:dk2>
      <a:lt2>
        <a:srgbClr val="F1F5F9"/>
      </a:lt2>
      <a:accent1>
        <a:srgbClr val="0369A1"/>
      </a:accent1>
      <a:accent2>
        <a:srgbClr val="6D28D9"/>
      </a:accent2>
      <a:accent3>
        <a:srgbClr val="047857"/>
      </a:accent3>
      <a:accent4>
        <a:srgbClr val="B45309"/>
      </a:accent4>
      <a:accent5>
        <a:srgbClr val="F59E0B"/>
      </a:accent5>
      <a:accent6>
        <a:srgbClr val="0EA5E9"/>
      </a:accent6>
      <a:hlink>
        <a:srgbClr val="0369A1"/>
      </a:hlink>
      <a:folHlink>
        <a:srgbClr val="6D28D9"/>
      </a:folHlink>
    </a:clrScheme>
    <a:fontScheme name="BigData ET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Tools and ETL Pipeline</dc:title>
  <dc:subject>PptxGenJS Presentation</dc:subject>
  <dc:creator>PptxGenJS</dc:creator>
  <cp:lastModifiedBy>PptxGenJS</cp:lastModifiedBy>
  <cp:revision>1</cp:revision>
  <dcterms:created xsi:type="dcterms:W3CDTF">2026-10-19T06:44:39Z</dcterms:created>
  <dcterms:modified xsi:type="dcterms:W3CDTF">2026-10-19T06:44:39Z</dcterms:modified>
</cp:coreProperties>
</file>