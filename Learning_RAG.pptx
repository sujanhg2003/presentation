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300" y="-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47047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RAG lets an LLM answer using documents it retrieves at question time, instead of relying only on what it memorised in training.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right: embed the question, search the vector database, keep the top K chunks, assemble a prompt, and let the LLM answer. The knowledge base is prepared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concrete run of the pipeline. The answer and the citation both come from retrieved text, not from the model memory.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Fine-tuning teaches behaviour; RAG supplies facts. For most business use cases the facts change and must be cited, so RAG wins. The two can be combined.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typical orders of magnitude, not benchmarks. The LLM call dominates; retrieval is usually cheap, re-ranking is the optional extra.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prompt techniques: inject context clearly, cite sources, and ground the answer with an explicit refusal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common ways a RAG system goes wrong. Next slide maps each to a fix.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Re-ranking, query rewriting, smaller chunks and hybrid search. Most of the gain comes from improving retrieval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1234440"/>
            <a:ext cx="2377440" cy="36576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2344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FUNDAMENTALS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19456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RAG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200400"/>
            <a:ext cx="5852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Generation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07492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· trade-offs · prompting · failure modes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949440" y="2606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332720" y="2606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949440" y="2926080"/>
            <a:ext cx="1097280" cy="685800"/>
          </a:xfrm>
          <a:prstGeom prst="roundRect">
            <a:avLst>
              <a:gd name="adj" fmla="val 10667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949440" y="292608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183880" y="2926080"/>
            <a:ext cx="1371600" cy="685800"/>
          </a:xfrm>
          <a:prstGeom prst="roundRect">
            <a:avLst>
              <a:gd name="adj" fmla="val 10667"/>
            </a:avLst>
          </a:prstGeom>
          <a:solidFill>
            <a:srgbClr val="16224F"/>
          </a:solidFill>
          <a:ln w="12700">
            <a:solidFill>
              <a:srgbClr val="16224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183880" y="292608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332720" y="2926080"/>
            <a:ext cx="1280160" cy="685800"/>
          </a:xfrm>
          <a:prstGeom prst="roundRect">
            <a:avLst>
              <a:gd name="adj" fmla="val 1066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332720" y="292608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46720" y="3273552"/>
            <a:ext cx="13716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9555480" y="3273552"/>
            <a:ext cx="777240" cy="0"/>
          </a:xfrm>
          <a:prstGeom prst="line">
            <a:avLst/>
          </a:prstGeom>
          <a:noFill/>
          <a:ln w="22225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6949440" y="39319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model the right facts, at the moment it answers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 architecture: five steps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240280"/>
            <a:ext cx="457200" cy="45720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 query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00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vector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468880" y="2971800"/>
            <a:ext cx="36576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834640" y="210312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971800" y="2240280"/>
            <a:ext cx="457200" cy="45720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9718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2971800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 search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2971800" y="3200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nearest chunks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754880" y="2971800"/>
            <a:ext cx="36576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20640" y="210312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2240280"/>
            <a:ext cx="457200" cy="45720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2578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5257800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Top-K docs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5257800" y="3200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best K chunks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040880" y="2971800"/>
            <a:ext cx="36576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406640" y="210312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43800" y="224028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5438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543800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assembly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7543800" y="32918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+ context + rules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9326880" y="2971800"/>
            <a:ext cx="365760" cy="0"/>
          </a:xfrm>
          <a:prstGeom prst="line">
            <a:avLst/>
          </a:prstGeom>
          <a:noFill/>
          <a:ln w="2222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692640" y="2103120"/>
            <a:ext cx="1920240" cy="1737360"/>
          </a:xfrm>
          <a:prstGeom prst="roundRect">
            <a:avLst>
              <a:gd name="adj" fmla="val 421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29800" y="2240280"/>
            <a:ext cx="457200" cy="45720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82980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9829800" y="27889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LLM response</a:t>
            </a:r>
            <a:endParaRPr lang="en-US" sz="1700" dirty="0"/>
          </a:p>
        </p:txBody>
      </p:sp>
      <p:sp>
        <p:nvSpPr>
          <p:cNvPr id="34" name="Text 32"/>
          <p:cNvSpPr txBox="1"/>
          <p:nvPr/>
        </p:nvSpPr>
        <p:spPr>
          <a:xfrm>
            <a:off x="9829800" y="32004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1600200"/>
            <a:ext cx="1920240" cy="365760"/>
          </a:xfrm>
          <a:prstGeom prst="roundRect">
            <a:avLst>
              <a:gd name="adj" fmla="val 2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48640" y="1600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question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377440" y="4434840"/>
            <a:ext cx="4754880" cy="1097280"/>
          </a:xfrm>
          <a:prstGeom prst="roundRect">
            <a:avLst>
              <a:gd name="adj" fmla="val 6667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606040" y="45262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 (offline)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2606040" y="48920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→ chunks → embeddings → vector DB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3291840" y="3840480"/>
            <a:ext cx="0" cy="594360"/>
          </a:xfrm>
          <a:prstGeom prst="line">
            <a:avLst/>
          </a:prstGeom>
          <a:noFill/>
          <a:ln w="19050">
            <a:solidFill>
              <a:srgbClr val="0369A1"/>
            </a:solidFill>
            <a:prstDash val="dash"/>
            <a:headEnd type="triangle"/>
          </a:ln>
        </p:spPr>
      </p:sp>
      <p:sp>
        <p:nvSpPr>
          <p:cNvPr id="41" name="Text 39"/>
          <p:cNvSpPr txBox="1"/>
          <p:nvPr/>
        </p:nvSpPr>
        <p:spPr>
          <a:xfrm>
            <a:off x="3383280" y="4023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498080" y="4434840"/>
            <a:ext cx="4114800" cy="109728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72668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order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7726680" y="4846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first, then generate: the LLM answers from evidence, not memory.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 ·  ARCHITECTURE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example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HR bot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05740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20574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“How many casual leave days do I get?”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92608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+ search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9260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→ vector → closest policy chunks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79476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79476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K (K=2)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560320" y="3794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“Casual leave: 12 days/year” · “Leave carries over: max 5 days”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663440"/>
            <a:ext cx="6766560" cy="73152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663440"/>
            <a:ext cx="1737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46634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“Answer using ONLY the context below. Cite the source.”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680960" y="2057400"/>
            <a:ext cx="3931920" cy="3246120"/>
          </a:xfrm>
          <a:prstGeom prst="roundRect">
            <a:avLst>
              <a:gd name="adj" fmla="val 2254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955280" y="22860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response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955280" y="274320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get 12 casual leave days per year, and up to 5 unused days can carry over.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955280" y="4343400"/>
            <a:ext cx="3383280" cy="54864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955280" y="43434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HR_Policy.pdf, p.4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8640" y="5623560"/>
            <a:ext cx="11064240" cy="54864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77240" y="562356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RAG the model would guess a number. With RAG it reads your policy first.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WHY RAG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RAG beats fine-tuning in most cases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566160" y="169164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0" y="169164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9164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169164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Aspect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566160" y="169164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566160" y="16916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680960" y="169164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1691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48640" y="2331720"/>
            <a:ext cx="11064240" cy="530352"/>
          </a:xfrm>
          <a:prstGeom prst="roundRect">
            <a:avLst>
              <a:gd name="adj" fmla="val 1379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331720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knowledge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749040" y="2331720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index in minutes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2331720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to add facts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2953512"/>
            <a:ext cx="11064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295351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3749040" y="2953512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Cheap: embed + store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863840" y="2953512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GPUs, data prep, evals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575304"/>
            <a:ext cx="11064240" cy="530352"/>
          </a:xfrm>
          <a:prstGeom prst="roundRect">
            <a:avLst>
              <a:gd name="adj" fmla="val 1379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3575304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3749040" y="3575304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to the source chunk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3575304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show where it learned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48640" y="4197096"/>
            <a:ext cx="11064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197096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749040" y="4197096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docs per user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863840" y="4197096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baked into weights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48640" y="4818888"/>
            <a:ext cx="11064240" cy="530352"/>
          </a:xfrm>
          <a:prstGeom prst="roundRect">
            <a:avLst>
              <a:gd name="adj" fmla="val 1379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4818888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3749040" y="4818888"/>
            <a:ext cx="3749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in retrieved text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7863840" y="4818888"/>
            <a:ext cx="3657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guesses confidently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12308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5577840"/>
            <a:ext cx="10607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for style, tone or format. Use RAG for knowledge that changes or needs proof.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 ·  WHY RAG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Latency trade-off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459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adds steps before the first token. Typical per-request time (illustrative):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148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 query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017520" y="2194560"/>
            <a:ext cx="365760" cy="365760"/>
          </a:xfrm>
          <a:prstGeom prst="roundRect">
            <a:avLst>
              <a:gd name="adj" fmla="val 20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20440" y="21488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8072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017520" y="2852928"/>
            <a:ext cx="548640" cy="365760"/>
          </a:xfrm>
          <a:prstGeom prst="roundRect">
            <a:avLst>
              <a:gd name="adj" fmla="val 20000"/>
            </a:avLst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03320" y="280720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ms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46557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Re-rank (optional)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017520" y="3511296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17720" y="34655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ms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12394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generation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017520" y="4169664"/>
            <a:ext cx="694944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0104120" y="412394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89204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1520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context = slower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31520" y="53949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prompts raise cost and time to first token.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97680" y="489204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480560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retrieval = better recall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480560" y="53949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K and re-ranking help quality but add delay.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046720" y="489204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0" y="5029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0B14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to cut latency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8229600" y="539496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frequent queries, stream the answer, use a smaller model.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 ·  PROMPTING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 engineering for RAG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852160" cy="4480560"/>
          </a:xfrm>
          <a:prstGeom prst="roundRect">
            <a:avLst>
              <a:gd name="adj" fmla="val 1633"/>
            </a:avLst>
          </a:prstGeom>
          <a:solidFill>
            <a:srgbClr val="0B1437"/>
          </a:solidFill>
          <a:ln w="12700">
            <a:solidFill>
              <a:srgbClr val="0B143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874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5303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SYSTEM: 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 ONLY from the context. If it is not there, say “I don’t know.” Cite sources as [1], [2].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[1] HR_Policy.pdf: Casual leave is 12 days/year.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[2] HR_Policy.pdf: Max 5 days carry over.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QUESTION: </a:t>
            </a: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How many casual leave days do I get?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766560" y="1691640"/>
            <a:ext cx="484632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95160" y="1874520"/>
            <a:ext cx="457200" cy="45720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951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18745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injection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995160" y="242316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retrieved chunks in a labelled CONTEXT block, ordered by relevance.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766560" y="3246120"/>
            <a:ext cx="484632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95160" y="3429000"/>
            <a:ext cx="457200" cy="457200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9516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34290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 citation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995160" y="397764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each chunk and ask for [1], [2] tags so answers can be checked.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66560" y="4800600"/>
            <a:ext cx="4846320" cy="1371600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995160" y="4983480"/>
            <a:ext cx="457200" cy="45720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9516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635240" y="49834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grounding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6995160" y="5532120"/>
            <a:ext cx="4434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the model to use only the context and to admit when it is missing.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·  FAILURE MODES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RAG fails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202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920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overflow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5176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chunks exceed the context window, so key text is cut off.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72200" y="169164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0" y="19202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1920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Irrelevant retrieval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265176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returns similar-looking but wrong chunks, so the answer is off-topic.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2062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508760" y="4206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Hallucinated synthesis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77240" y="493776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mixes chunks into a claim no source actually makes.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172200" y="397764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42062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0" y="4206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4206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Over-stuffed prompts</a:t>
            </a:r>
            <a:endParaRPr lang="en-US" sz="20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93776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 context buries the answer; the model misses details in the middle.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84048"/>
            <a:ext cx="3200400" cy="274320"/>
          </a:xfrm>
          <a:prstGeom prst="roundRect">
            <a:avLst>
              <a:gd name="adj" fmla="val 50000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3840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 ·  FAILURE MODES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74980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Fixes that work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1109167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9202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1920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Re-ranking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60604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20, let a cross-encoder re-score, keep the best 3–5.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1089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with: Irrelevant retrieval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6916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19202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1920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19202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Query rewriting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60604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the LLM expand or clarify the question before searching.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31089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with: Irrelevant retrieval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37490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39776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39776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Smaller chunks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66344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focused passages so each hit is precise and fits the window.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with: Overflow · stuffed prompts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374904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0" y="39776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0" y="3977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397764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14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search</a:t>
            </a:r>
            <a:endParaRPr lang="en-US" sz="2000" dirty="0"/>
          </a:p>
        </p:txBody>
      </p:sp>
      <p:sp>
        <p:nvSpPr>
          <p:cNvPr id="28" name="Text 26"/>
          <p:cNvSpPr txBox="1"/>
          <p:nvPr/>
        </p:nvSpPr>
        <p:spPr>
          <a:xfrm>
            <a:off x="6400800" y="4663440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keyword (BM25) with vector search to catch exact terms.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51663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with: Irrelevant retrieval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594360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5943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fixes hallucinated synthesis: better context in, plus the “answer only from context” rule.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945</Words>
  <Application>Microsoft Office PowerPoint</Application>
  <PresentationFormat>Widescreen</PresentationFormat>
  <Paragraphs>161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Sujan H G</cp:lastModifiedBy>
  <cp:revision>4</cp:revision>
  <dcterms:created xsi:type="dcterms:W3CDTF">2026-09-29T10:12:00Z</dcterms:created>
  <dcterms:modified xsi:type="dcterms:W3CDTF">2026-10-13T12:51:46Z</dcterms:modified>
</cp:coreProperties>
</file>