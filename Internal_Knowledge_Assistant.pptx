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4CE8ABF-005A-81C9-20CC-1C702F851E1A}">
          <p14:sldIdLst>
            <p14:sldId id="256"/>
          </p14:sldIdLst>
        </p14:section>
        <p14:section name="Agenda" id="{782D99D0-39EC-3B3C-ED33-04B5F6374054}">
          <p14:sldIdLst>
            <p14:sldId id="257"/>
          </p14:sldIdLst>
        </p14:section>
        <p14:section name="Overview" id="{D840BC28-8039-775B-52F4-6686A98EE0C7}">
          <p14:sldIdLst>
            <p14:sldId id="258"/>
            <p14:sldId id="259"/>
            <p14:sldId id="260"/>
          </p14:sldIdLst>
        </p14:section>
        <p14:section name="Architecture" id="{79F79DF4-D530-B52F-20D9-8093C2295D65}">
          <p14:sldIdLst>
            <p14:sldId id="261"/>
          </p14:sldIdLst>
        </p14:section>
        <p14:section name="Pipeline" id="{99CF5033-256C-8E65-3626-EFE5ADAF5F92}">
          <p14:sldIdLst>
            <p14:sldId id="262"/>
            <p14:sldId id="263"/>
            <p14:sldId id="264"/>
            <p14:sldId id="265"/>
            <p14:sldId id="266"/>
          </p14:sldIdLst>
        </p14:section>
        <p14:section name="Quality" id="{DFC0A1C5-DF6C-C2DE-F984-7C1551750786}">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2896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explains our capstone project: an Internal Knowledge Assistant that answers questions from company PDFs using a local LLM and Retrieval-Augmented Generation (RAG).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blocks: the overview, the system architecture, the step-by-step pipeline, and how we check quality.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knowledge is spread over many PDFs. Searching by hand is slow, and a plain LLM may invent answers. Our objectives respond directly to those problems.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means Retrieval-Augmented Generation. Instead of letting the model answer from memory, we first retrieve the relevant text from our documents and give it to the model. Think of an open-book exam.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locally. Python ties the pipeline together, Ollama runs the Qwen3 8B model, nomic-embed-text creates embeddings, and ChromaDB stores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offline ingestion flow, done once: PDFs become chunks, then vectors, then stored in ChromaDB. Middle row is the online flow, run on every question. Bottom strip lists the supporting controls: refusal, audit logging and evaluation.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turns PDFs into small, searchable chunks. We keep the document name and page number with every chunk so answers can cite their source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keeps each piece small but meaningful. An embedding model turns each chunk, and later the question, into a vector of numbers. Similar meaning gives nearby vectors, so we can find related text even when the wording differs.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ChromaDB holds each chunk's vector together with its text, source document and page. At question time we embed the question, find the closest vectors, keep only the top results that pass the distance threshold, and hand them to the LLM.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system. We check whether the retrieved chunks are relevant enough. If yes, we build a prompt with the question and context, generate an answer with Qwen3 8B, and return it with citations. If not, we refuse instead of guessing. These controls reduce unsupported answers but cannot guarantee every answer is correct.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settings of the system. Values with an asterisk came from the earlier configuration and should be confirmed in the final code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 logs record what happened for each request, which helps us investigate wrong answers. We can also time embedding, retrieval and generation separately to find bottlenecks.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three metrics, each run by separate standalone Python scripts. Faithfulness checks support from the context. Answer relevancy checks the answer addresses the question. Context precision checks ranking of the retrieved chunks.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questions were prepared for evaluation. Insert the measured average scores once the evaluation scripts have finished. Then summarise: the project shows a full end-to-end RAG workflow.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43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rtlCol="0"/>
          <a:lstStyle>
            <a:lvl1pPr marL="0" indent="0" algn="l">
              <a:buNone/>
              <a:defRPr lang="en-US" sz="3200" b="1" dirty="0">
                <a:solidFill>
                  <a:srgbClr val="0B1437"/>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1234440"/>
            <a:ext cx="5486400" cy="365760"/>
          </a:xfrm>
          <a:prstGeom prst="rect">
            <a:avLst/>
          </a:prstGeom>
          <a:noFill/>
          <a:ln/>
        </p:spPr>
        <p:txBody>
          <a:bodyPr wrap="square" lIns="0" tIns="0" rIns="0" bIns="0" rtlCol="0" anchor="t"/>
          <a:lstStyle/>
          <a:p>
            <a:pPr marL="0" indent="0">
              <a:buNone/>
            </a:pPr>
            <a:r>
              <a:rPr lang="en-US" sz="1400" b="1" kern="0" spc="300" dirty="0">
                <a:solidFill>
                  <a:srgbClr val="F59E0B"/>
                </a:solidFill>
              </a:rPr>
              <a:t>CAPSTONE PROJECT</a:t>
            </a:r>
            <a:endParaRPr lang="en-US" sz="1400" dirty="0"/>
          </a:p>
        </p:txBody>
      </p:sp>
      <p:sp>
        <p:nvSpPr>
          <p:cNvPr id="4" name="Text 1"/>
          <p:cNvSpPr txBox="1"/>
          <p:nvPr/>
        </p:nvSpPr>
        <p:spPr>
          <a:xfrm>
            <a:off x="731520" y="1920240"/>
            <a:ext cx="5852160" cy="3017520"/>
          </a:xfrm>
          <a:prstGeom prst="rect">
            <a:avLst/>
          </a:prstGeom>
          <a:noFill/>
          <a:ln/>
        </p:spPr>
        <p:txBody>
          <a:bodyPr wrap="square" lIns="0" tIns="0" rIns="0" bIns="0" rtlCol="0" anchor="t"/>
          <a:lstStyle/>
          <a:p>
            <a:pPr marL="0" indent="0">
              <a:lnSpc>
                <a:spcPct val="95000"/>
              </a:lnSpc>
              <a:buNone/>
            </a:pPr>
            <a:r>
              <a:rPr lang="en-US" sz="5800" b="1" dirty="0">
                <a:solidFill>
                  <a:srgbClr val="FFFFFF"/>
                </a:solidFill>
                <a:latin typeface="Cambria" pitchFamily="34" charset="0"/>
                <a:ea typeface="Cambria" pitchFamily="34" charset="-122"/>
                <a:cs typeface="Cambria" pitchFamily="34" charset="-120"/>
              </a:rPr>
              <a:t>Internal</a:t>
            </a:r>
            <a:endParaRPr lang="en-US" sz="5800" dirty="0"/>
          </a:p>
          <a:p>
            <a:pPr marL="0" indent="0">
              <a:lnSpc>
                <a:spcPct val="95000"/>
              </a:lnSpc>
              <a:buNone/>
            </a:pPr>
            <a:r>
              <a:rPr lang="en-US" sz="5800" b="1" dirty="0">
                <a:solidFill>
                  <a:srgbClr val="FFFFFF"/>
                </a:solidFill>
                <a:latin typeface="Cambria" pitchFamily="34" charset="0"/>
                <a:ea typeface="Cambria" pitchFamily="34" charset="-122"/>
                <a:cs typeface="Cambria" pitchFamily="34" charset="-120"/>
              </a:rPr>
              <a:t>Knowledge</a:t>
            </a:r>
            <a:endParaRPr lang="en-US" sz="5800" dirty="0"/>
          </a:p>
          <a:p>
            <a:pPr marL="0" indent="0">
              <a:lnSpc>
                <a:spcPct val="95000"/>
              </a:lnSpc>
              <a:buNone/>
            </a:pPr>
            <a:r>
              <a:rPr lang="en-US" sz="5800" b="1" dirty="0">
                <a:solidFill>
                  <a:srgbClr val="FFFFFF"/>
                </a:solidFill>
                <a:latin typeface="Cambria" pitchFamily="34" charset="0"/>
                <a:ea typeface="Cambria" pitchFamily="34" charset="-122"/>
                <a:cs typeface="Cambria" pitchFamily="34" charset="-120"/>
              </a:rPr>
              <a:t>Assistant</a:t>
            </a:r>
            <a:endParaRPr lang="en-US" sz="5800" dirty="0"/>
          </a:p>
        </p:txBody>
      </p:sp>
      <p:sp>
        <p:nvSpPr>
          <p:cNvPr id="5" name="Text 2"/>
          <p:cNvSpPr txBox="1"/>
          <p:nvPr/>
        </p:nvSpPr>
        <p:spPr>
          <a:xfrm>
            <a:off x="731520" y="5120640"/>
            <a:ext cx="5669280" cy="457200"/>
          </a:xfrm>
          <a:prstGeom prst="rect">
            <a:avLst/>
          </a:prstGeom>
          <a:noFill/>
          <a:ln/>
        </p:spPr>
        <p:txBody>
          <a:bodyPr wrap="square" lIns="0" tIns="0" rIns="0" bIns="0" rtlCol="0" anchor="t"/>
          <a:lstStyle/>
          <a:p>
            <a:pPr marL="0" indent="0">
              <a:buNone/>
            </a:pPr>
            <a:r>
              <a:rPr lang="en-US" sz="1800" dirty="0">
                <a:solidFill>
                  <a:srgbClr val="94A3B8"/>
                </a:solidFill>
              </a:rPr>
              <a:t>A local RAG system for company documents</a:t>
            </a:r>
            <a:endParaRPr lang="en-US" sz="1800" dirty="0"/>
          </a:p>
        </p:txBody>
      </p:sp>
      <p:sp>
        <p:nvSpPr>
          <p:cNvPr id="6" name="Text 3"/>
          <p:cNvSpPr txBox="1"/>
          <p:nvPr/>
        </p:nvSpPr>
        <p:spPr>
          <a:xfrm>
            <a:off x="6675120" y="2606040"/>
            <a:ext cx="2286000" cy="274320"/>
          </a:xfrm>
          <a:prstGeom prst="rect">
            <a:avLst/>
          </a:prstGeom>
          <a:noFill/>
          <a:ln/>
        </p:spPr>
        <p:txBody>
          <a:bodyPr wrap="square" lIns="0" tIns="0" rIns="0" bIns="0" rtlCol="0" anchor="t"/>
          <a:lstStyle/>
          <a:p>
            <a:pPr marL="0" indent="0">
              <a:buNone/>
            </a:pPr>
            <a:r>
              <a:rPr lang="en-US" sz="1300" dirty="0">
                <a:solidFill>
                  <a:srgbClr val="94A3B8"/>
                </a:solidFill>
              </a:rPr>
              <a:t>your input</a:t>
            </a:r>
            <a:endParaRPr lang="en-US" sz="1300" dirty="0"/>
          </a:p>
        </p:txBody>
      </p:sp>
      <p:sp>
        <p:nvSpPr>
          <p:cNvPr id="7" name="Text 4"/>
          <p:cNvSpPr txBox="1"/>
          <p:nvPr/>
        </p:nvSpPr>
        <p:spPr>
          <a:xfrm>
            <a:off x="10058400" y="2606040"/>
            <a:ext cx="1737360" cy="274320"/>
          </a:xfrm>
          <a:prstGeom prst="rect">
            <a:avLst/>
          </a:prstGeom>
          <a:noFill/>
          <a:ln/>
        </p:spPr>
        <p:txBody>
          <a:bodyPr wrap="square" lIns="0" tIns="0" rIns="0" bIns="0" rtlCol="0" anchor="t"/>
          <a:lstStyle/>
          <a:p>
            <a:pPr marL="0" indent="0">
              <a:buNone/>
            </a:pPr>
            <a:r>
              <a:rPr lang="en-US" sz="1300" b="1" dirty="0">
                <a:solidFill>
                  <a:srgbClr val="F59E0B"/>
                </a:solidFill>
              </a:rPr>
              <a:t>grounded output</a:t>
            </a:r>
            <a:endParaRPr lang="en-US" sz="1300" dirty="0"/>
          </a:p>
        </p:txBody>
      </p:sp>
      <p:sp>
        <p:nvSpPr>
          <p:cNvPr id="8" name="Box"/>
          <p:cNvSpPr/>
          <p:nvPr/>
        </p:nvSpPr>
        <p:spPr>
          <a:xfrm>
            <a:off x="6675120" y="2926080"/>
            <a:ext cx="1051560" cy="685800"/>
          </a:xfrm>
          <a:prstGeom prst="roundRect">
            <a:avLst>
              <a:gd name="adj" fmla="val 13333"/>
            </a:avLst>
          </a:prstGeom>
          <a:solidFill>
            <a:srgbClr val="16224F"/>
          </a:solidFill>
          <a:ln w="12700">
            <a:solidFill>
              <a:srgbClr val="334155"/>
            </a:solidFill>
          </a:ln>
        </p:spPr>
        <p:txBody>
          <a:bodyPr wrap="square" lIns="50800" tIns="50800" rIns="50800" bIns="50800" rtlCol="0" anchor="ctr"/>
          <a:lstStyle/>
          <a:p>
            <a:pPr marL="0" indent="0" algn="ctr">
              <a:buNone/>
            </a:pPr>
            <a:r>
              <a:rPr lang="en-US" sz="1500" dirty="0">
                <a:solidFill>
                  <a:srgbClr val="FFFFFF"/>
                </a:solidFill>
              </a:rPr>
              <a:t>Question</a:t>
            </a:r>
            <a:endParaRPr lang="en-US" sz="1500" dirty="0"/>
          </a:p>
        </p:txBody>
      </p:sp>
      <p:sp>
        <p:nvSpPr>
          <p:cNvPr id="9" name="Box"/>
          <p:cNvSpPr/>
          <p:nvPr/>
        </p:nvSpPr>
        <p:spPr>
          <a:xfrm>
            <a:off x="7818120" y="2926080"/>
            <a:ext cx="1051560" cy="685800"/>
          </a:xfrm>
          <a:prstGeom prst="roundRect">
            <a:avLst>
              <a:gd name="adj" fmla="val 13333"/>
            </a:avLst>
          </a:prstGeom>
          <a:solidFill>
            <a:srgbClr val="16224F"/>
          </a:solidFill>
          <a:ln w="12700">
            <a:solidFill>
              <a:srgbClr val="334155"/>
            </a:solidFill>
          </a:ln>
        </p:spPr>
        <p:txBody>
          <a:bodyPr wrap="square" lIns="50800" tIns="50800" rIns="50800" bIns="50800" rtlCol="0" anchor="ctr"/>
          <a:lstStyle/>
          <a:p>
            <a:pPr marL="0" indent="0" algn="ctr">
              <a:buNone/>
            </a:pPr>
            <a:r>
              <a:rPr lang="en-US" sz="1500" dirty="0">
                <a:solidFill>
                  <a:srgbClr val="FFFFFF"/>
                </a:solidFill>
              </a:rPr>
              <a:t>Retrieve</a:t>
            </a:r>
            <a:endParaRPr lang="en-US" sz="1500" dirty="0"/>
          </a:p>
        </p:txBody>
      </p:sp>
      <p:sp>
        <p:nvSpPr>
          <p:cNvPr id="10" name="Box"/>
          <p:cNvSpPr/>
          <p:nvPr/>
        </p:nvSpPr>
        <p:spPr>
          <a:xfrm>
            <a:off x="8961120" y="2926080"/>
            <a:ext cx="1051560" cy="685800"/>
          </a:xfrm>
          <a:prstGeom prst="roundRect">
            <a:avLst>
              <a:gd name="adj" fmla="val 13333"/>
            </a:avLst>
          </a:prstGeom>
          <a:solidFill>
            <a:srgbClr val="16224F"/>
          </a:solidFill>
          <a:ln w="12700">
            <a:solidFill>
              <a:srgbClr val="334155"/>
            </a:solidFill>
          </a:ln>
        </p:spPr>
        <p:txBody>
          <a:bodyPr wrap="square" lIns="50800" tIns="50800" rIns="50800" bIns="50800" rtlCol="0" anchor="ctr"/>
          <a:lstStyle/>
          <a:p>
            <a:pPr marL="0" indent="0" algn="ctr">
              <a:buNone/>
            </a:pPr>
            <a:r>
              <a:rPr lang="en-US" sz="1500" dirty="0">
                <a:solidFill>
                  <a:srgbClr val="FFFFFF"/>
                </a:solidFill>
              </a:rPr>
              <a:t>Prompt</a:t>
            </a:r>
            <a:endParaRPr lang="en-US" sz="1500" dirty="0"/>
          </a:p>
        </p:txBody>
      </p:sp>
      <p:sp>
        <p:nvSpPr>
          <p:cNvPr id="11" name="Connector"/>
          <p:cNvSpPr/>
          <p:nvPr/>
        </p:nvSpPr>
        <p:spPr>
          <a:xfrm>
            <a:off x="10040112" y="3273552"/>
            <a:ext cx="274320" cy="0"/>
          </a:xfrm>
          <a:prstGeom prst="line">
            <a:avLst/>
          </a:prstGeom>
          <a:noFill/>
          <a:ln w="22225">
            <a:solidFill>
              <a:srgbClr val="94A3B8"/>
            </a:solidFill>
            <a:prstDash val="solid"/>
            <a:tailEnd type="triangle"/>
          </a:ln>
        </p:spPr>
      </p:sp>
      <p:sp>
        <p:nvSpPr>
          <p:cNvPr id="12" name="Box"/>
          <p:cNvSpPr/>
          <p:nvPr/>
        </p:nvSpPr>
        <p:spPr>
          <a:xfrm>
            <a:off x="10332720" y="2926080"/>
            <a:ext cx="1325880" cy="685800"/>
          </a:xfrm>
          <a:prstGeom prst="roundRect">
            <a:avLst>
              <a:gd name="adj" fmla="val 13333"/>
            </a:avLst>
          </a:prstGeom>
          <a:solidFill>
            <a:srgbClr val="F59E0B"/>
          </a:solidFill>
          <a:ln w="12700">
            <a:solidFill>
              <a:srgbClr val="F59E0B"/>
            </a:solidFill>
          </a:ln>
        </p:spPr>
        <p:txBody>
          <a:bodyPr wrap="square" lIns="50800" tIns="50800" rIns="50800" bIns="50800" rtlCol="0" anchor="ctr"/>
          <a:lstStyle/>
          <a:p>
            <a:pPr marL="0" indent="0" algn="ctr">
              <a:buNone/>
            </a:pPr>
            <a:r>
              <a:rPr lang="en-US" sz="1800" b="1" dirty="0">
                <a:solidFill>
                  <a:srgbClr val="0B1437"/>
                </a:solidFill>
              </a:rPr>
              <a:t>Answer</a:t>
            </a:r>
            <a:endParaRPr lang="en-US" sz="1800" dirty="0"/>
          </a:p>
        </p:txBody>
      </p:sp>
      <p:sp>
        <p:nvSpPr>
          <p:cNvPr id="13" name="Text 10"/>
          <p:cNvSpPr txBox="1"/>
          <p:nvPr/>
        </p:nvSpPr>
        <p:spPr>
          <a:xfrm>
            <a:off x="6675120" y="3931920"/>
            <a:ext cx="4937760" cy="365760"/>
          </a:xfrm>
          <a:prstGeom prst="rect">
            <a:avLst/>
          </a:prstGeom>
          <a:noFill/>
          <a:ln/>
        </p:spPr>
        <p:txBody>
          <a:bodyPr wrap="square" lIns="0" tIns="0" rIns="0" bIns="0" rtlCol="0" anchor="t"/>
          <a:lstStyle/>
          <a:p>
            <a:pPr marL="0" indent="0">
              <a:buNone/>
            </a:pPr>
            <a:r>
              <a:rPr lang="en-US" sz="1400" dirty="0">
                <a:solidFill>
                  <a:srgbClr val="94A3B8"/>
                </a:solidFill>
              </a:rPr>
              <a:t>answers grounded in your own documents, with sources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What we will cover</a:t>
            </a:r>
            <a:endParaRPr lang="en-US" sz="3200" dirty="0"/>
          </a:p>
        </p:txBody>
      </p:sp>
      <p:sp>
        <p:nvSpPr>
          <p:cNvPr id="4" name="Agenda card 1"/>
          <p:cNvSpPr/>
          <p:nvPr/>
        </p:nvSpPr>
        <p:spPr>
          <a:xfrm>
            <a:off x="548640" y="1783080"/>
            <a:ext cx="2514600" cy="3931920"/>
          </a:xfrm>
          <a:prstGeom prst="roundRect">
            <a:avLst>
              <a:gd name="adj" fmla="val 4364"/>
            </a:avLst>
          </a:prstGeom>
          <a:solidFill>
            <a:srgbClr val="0369A1"/>
          </a:solidFill>
          <a:ln w="12700">
            <a:solidFill>
              <a:srgbClr val="0369A1"/>
            </a:solidFill>
            <a:prstDash val="solid"/>
          </a:ln>
        </p:spPr>
      </p:sp>
      <p:sp>
        <p:nvSpPr>
          <p:cNvPr id="5" name="Text 2"/>
          <p:cNvSpPr txBox="1"/>
          <p:nvPr/>
        </p:nvSpPr>
        <p:spPr>
          <a:xfrm>
            <a:off x="777240" y="1920240"/>
            <a:ext cx="914400" cy="82296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1</a:t>
            </a:r>
            <a:endParaRPr lang="en-US" sz="4400" dirty="0"/>
          </a:p>
        </p:txBody>
      </p:sp>
      <p:sp>
        <p:nvSpPr>
          <p:cNvPr id="6" name="Text 3"/>
          <p:cNvSpPr txBox="1"/>
          <p:nvPr/>
        </p:nvSpPr>
        <p:spPr>
          <a:xfrm>
            <a:off x="777240" y="2788920"/>
            <a:ext cx="2103120" cy="457200"/>
          </a:xfrm>
          <a:prstGeom prst="rect">
            <a:avLst/>
          </a:prstGeom>
          <a:noFill/>
          <a:ln/>
        </p:spPr>
        <p:txBody>
          <a:bodyPr wrap="square" lIns="0" tIns="0" rIns="0" bIns="0" rtlCol="0" anchor="t"/>
          <a:lstStyle/>
          <a:p>
            <a:pPr marL="0" indent="0">
              <a:buNone/>
            </a:pPr>
            <a:r>
              <a:rPr lang="en-US" sz="2000" b="1" dirty="0">
                <a:solidFill>
                  <a:srgbClr val="FFFFFF"/>
                </a:solidFill>
              </a:rPr>
              <a:t>Overview</a:t>
            </a:r>
            <a:endParaRPr lang="en-US" sz="2000" dirty="0"/>
          </a:p>
        </p:txBody>
      </p:sp>
      <p:sp>
        <p:nvSpPr>
          <p:cNvPr id="7" name="Text 4"/>
          <p:cNvSpPr txBox="1"/>
          <p:nvPr/>
        </p:nvSpPr>
        <p:spPr>
          <a:xfrm>
            <a:off x="777240" y="3337560"/>
            <a:ext cx="214884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rPr>
              <a:t>Problem and goals</a:t>
            </a:r>
            <a:endParaRPr lang="en-US" sz="1400" dirty="0"/>
          </a:p>
          <a:p>
            <a:pPr marL="342900" indent="-342900">
              <a:spcAft>
                <a:spcPts val="600"/>
              </a:spcAft>
              <a:buSzPct val="100000"/>
              <a:buChar char="•"/>
            </a:pPr>
            <a:r>
              <a:rPr lang="en-US" sz="1400" dirty="0">
                <a:solidFill>
                  <a:srgbClr val="FFFFFF"/>
                </a:solidFill>
              </a:rPr>
              <a:t>What is RAG?</a:t>
            </a:r>
            <a:endParaRPr lang="en-US" sz="1400" dirty="0"/>
          </a:p>
          <a:p>
            <a:pPr marL="342900" indent="-342900">
              <a:spcAft>
                <a:spcPts val="600"/>
              </a:spcAft>
              <a:buSzPct val="100000"/>
              <a:buChar char="•"/>
            </a:pPr>
            <a:r>
              <a:rPr lang="en-US" sz="1400" dirty="0">
                <a:solidFill>
                  <a:srgbClr val="FFFFFF"/>
                </a:solidFill>
              </a:rPr>
              <a:t>Technology stack</a:t>
            </a:r>
            <a:endParaRPr lang="en-US" sz="1400" dirty="0"/>
          </a:p>
        </p:txBody>
      </p:sp>
      <p:sp>
        <p:nvSpPr>
          <p:cNvPr id="8" name="Connector"/>
          <p:cNvSpPr/>
          <p:nvPr/>
        </p:nvSpPr>
        <p:spPr>
          <a:xfrm>
            <a:off x="3063240" y="3749040"/>
            <a:ext cx="341071" cy="0"/>
          </a:xfrm>
          <a:prstGeom prst="line">
            <a:avLst/>
          </a:prstGeom>
          <a:noFill/>
          <a:ln w="22225">
            <a:solidFill>
              <a:srgbClr val="64748B"/>
            </a:solidFill>
            <a:prstDash val="solid"/>
            <a:tailEnd type="triangle"/>
          </a:ln>
        </p:spPr>
      </p:sp>
      <p:sp>
        <p:nvSpPr>
          <p:cNvPr id="9" name="Agenda card 2"/>
          <p:cNvSpPr/>
          <p:nvPr/>
        </p:nvSpPr>
        <p:spPr>
          <a:xfrm>
            <a:off x="3404311" y="1783080"/>
            <a:ext cx="2514600" cy="3931920"/>
          </a:xfrm>
          <a:prstGeom prst="roundRect">
            <a:avLst>
              <a:gd name="adj" fmla="val 4364"/>
            </a:avLst>
          </a:prstGeom>
          <a:solidFill>
            <a:srgbClr val="6D28D9"/>
          </a:solidFill>
          <a:ln w="12700">
            <a:solidFill>
              <a:srgbClr val="6D28D9"/>
            </a:solidFill>
            <a:prstDash val="solid"/>
          </a:ln>
        </p:spPr>
      </p:sp>
      <p:sp>
        <p:nvSpPr>
          <p:cNvPr id="10" name="Text 7"/>
          <p:cNvSpPr txBox="1"/>
          <p:nvPr/>
        </p:nvSpPr>
        <p:spPr>
          <a:xfrm>
            <a:off x="3632911" y="1920240"/>
            <a:ext cx="914400" cy="82296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2</a:t>
            </a:r>
            <a:endParaRPr lang="en-US" sz="4400" dirty="0"/>
          </a:p>
        </p:txBody>
      </p:sp>
      <p:sp>
        <p:nvSpPr>
          <p:cNvPr id="11" name="Text 8"/>
          <p:cNvSpPr txBox="1"/>
          <p:nvPr/>
        </p:nvSpPr>
        <p:spPr>
          <a:xfrm>
            <a:off x="3632911" y="2788920"/>
            <a:ext cx="2103120" cy="457200"/>
          </a:xfrm>
          <a:prstGeom prst="rect">
            <a:avLst/>
          </a:prstGeom>
          <a:noFill/>
          <a:ln/>
        </p:spPr>
        <p:txBody>
          <a:bodyPr wrap="square" lIns="0" tIns="0" rIns="0" bIns="0" rtlCol="0" anchor="t"/>
          <a:lstStyle/>
          <a:p>
            <a:pPr marL="0" indent="0">
              <a:buNone/>
            </a:pPr>
            <a:r>
              <a:rPr lang="en-US" sz="2000" b="1" dirty="0">
                <a:solidFill>
                  <a:srgbClr val="FFFFFF"/>
                </a:solidFill>
              </a:rPr>
              <a:t>Architecture</a:t>
            </a:r>
            <a:endParaRPr lang="en-US" sz="2000" dirty="0"/>
          </a:p>
        </p:txBody>
      </p:sp>
      <p:sp>
        <p:nvSpPr>
          <p:cNvPr id="12" name="Text 9"/>
          <p:cNvSpPr txBox="1"/>
          <p:nvPr/>
        </p:nvSpPr>
        <p:spPr>
          <a:xfrm>
            <a:off x="3632911" y="3337560"/>
            <a:ext cx="214884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rPr>
              <a:t>Offline ingestion flow</a:t>
            </a:r>
            <a:endParaRPr lang="en-US" sz="1400" dirty="0"/>
          </a:p>
          <a:p>
            <a:pPr marL="342900" indent="-342900">
              <a:spcAft>
                <a:spcPts val="600"/>
              </a:spcAft>
              <a:buSzPct val="100000"/>
              <a:buChar char="•"/>
            </a:pPr>
            <a:r>
              <a:rPr lang="en-US" sz="1400" dirty="0">
                <a:solidFill>
                  <a:srgbClr val="FFFFFF"/>
                </a:solidFill>
              </a:rPr>
              <a:t>Online query flow</a:t>
            </a:r>
            <a:endParaRPr lang="en-US" sz="1400" dirty="0"/>
          </a:p>
          <a:p>
            <a:pPr marL="342900" indent="-342900">
              <a:spcAft>
                <a:spcPts val="600"/>
              </a:spcAft>
              <a:buSzPct val="100000"/>
              <a:buChar char="•"/>
            </a:pPr>
            <a:r>
              <a:rPr lang="en-US" sz="1400" dirty="0">
                <a:solidFill>
                  <a:srgbClr val="FFFFFF"/>
                </a:solidFill>
              </a:rPr>
              <a:t>Supporting controls</a:t>
            </a:r>
            <a:endParaRPr lang="en-US" sz="1400" dirty="0"/>
          </a:p>
        </p:txBody>
      </p:sp>
      <p:sp>
        <p:nvSpPr>
          <p:cNvPr id="13" name="Connector"/>
          <p:cNvSpPr/>
          <p:nvPr/>
        </p:nvSpPr>
        <p:spPr>
          <a:xfrm>
            <a:off x="5918911" y="3749040"/>
            <a:ext cx="341071" cy="0"/>
          </a:xfrm>
          <a:prstGeom prst="line">
            <a:avLst/>
          </a:prstGeom>
          <a:noFill/>
          <a:ln w="22225">
            <a:solidFill>
              <a:srgbClr val="64748B"/>
            </a:solidFill>
            <a:prstDash val="solid"/>
            <a:tailEnd type="triangle"/>
          </a:ln>
        </p:spPr>
      </p:sp>
      <p:sp>
        <p:nvSpPr>
          <p:cNvPr id="14" name="Agenda card 3"/>
          <p:cNvSpPr/>
          <p:nvPr/>
        </p:nvSpPr>
        <p:spPr>
          <a:xfrm>
            <a:off x="6259982" y="1783080"/>
            <a:ext cx="2514600" cy="3931920"/>
          </a:xfrm>
          <a:prstGeom prst="roundRect">
            <a:avLst>
              <a:gd name="adj" fmla="val 4364"/>
            </a:avLst>
          </a:prstGeom>
          <a:solidFill>
            <a:srgbClr val="047857"/>
          </a:solidFill>
          <a:ln w="12700">
            <a:solidFill>
              <a:srgbClr val="047857"/>
            </a:solidFill>
            <a:prstDash val="solid"/>
          </a:ln>
        </p:spPr>
      </p:sp>
      <p:sp>
        <p:nvSpPr>
          <p:cNvPr id="15" name="Text 12"/>
          <p:cNvSpPr txBox="1"/>
          <p:nvPr/>
        </p:nvSpPr>
        <p:spPr>
          <a:xfrm>
            <a:off x="6488582" y="1920240"/>
            <a:ext cx="914400" cy="82296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3</a:t>
            </a:r>
            <a:endParaRPr lang="en-US" sz="4400" dirty="0"/>
          </a:p>
        </p:txBody>
      </p:sp>
      <p:sp>
        <p:nvSpPr>
          <p:cNvPr id="16" name="Text 13"/>
          <p:cNvSpPr txBox="1"/>
          <p:nvPr/>
        </p:nvSpPr>
        <p:spPr>
          <a:xfrm>
            <a:off x="6488582" y="2788920"/>
            <a:ext cx="2103120" cy="457200"/>
          </a:xfrm>
          <a:prstGeom prst="rect">
            <a:avLst/>
          </a:prstGeom>
          <a:noFill/>
          <a:ln/>
        </p:spPr>
        <p:txBody>
          <a:bodyPr wrap="square" lIns="0" tIns="0" rIns="0" bIns="0" rtlCol="0" anchor="t"/>
          <a:lstStyle/>
          <a:p>
            <a:pPr marL="0" indent="0">
              <a:buNone/>
            </a:pPr>
            <a:r>
              <a:rPr lang="en-US" sz="2000" b="1" dirty="0">
                <a:solidFill>
                  <a:srgbClr val="FFFFFF"/>
                </a:solidFill>
              </a:rPr>
              <a:t>Pipeline</a:t>
            </a:r>
            <a:endParaRPr lang="en-US" sz="2000" dirty="0"/>
          </a:p>
        </p:txBody>
      </p:sp>
      <p:sp>
        <p:nvSpPr>
          <p:cNvPr id="17" name="Text 14"/>
          <p:cNvSpPr txBox="1"/>
          <p:nvPr/>
        </p:nvSpPr>
        <p:spPr>
          <a:xfrm>
            <a:off x="6488582" y="3337560"/>
            <a:ext cx="214884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rPr>
              <a:t>Ingestion and chunking</a:t>
            </a:r>
            <a:endParaRPr lang="en-US" sz="1400" dirty="0"/>
          </a:p>
          <a:p>
            <a:pPr marL="342900" indent="-342900">
              <a:spcAft>
                <a:spcPts val="600"/>
              </a:spcAft>
              <a:buSzPct val="100000"/>
              <a:buChar char="•"/>
            </a:pPr>
            <a:r>
              <a:rPr lang="en-US" sz="1400" dirty="0">
                <a:solidFill>
                  <a:srgbClr val="FFFFFF"/>
                </a:solidFill>
              </a:rPr>
              <a:t>Embeddings</a:t>
            </a:r>
            <a:endParaRPr lang="en-US" sz="1400" dirty="0"/>
          </a:p>
          <a:p>
            <a:pPr marL="342900" indent="-342900">
              <a:spcAft>
                <a:spcPts val="600"/>
              </a:spcAft>
              <a:buSzPct val="100000"/>
              <a:buChar char="•"/>
            </a:pPr>
            <a:r>
              <a:rPr lang="en-US" sz="1400" dirty="0">
                <a:solidFill>
                  <a:srgbClr val="FFFFFF"/>
                </a:solidFill>
              </a:rPr>
              <a:t>ChromaDB retrieval</a:t>
            </a:r>
            <a:endParaRPr lang="en-US" sz="1400" dirty="0"/>
          </a:p>
          <a:p>
            <a:pPr marL="342900" indent="-342900">
              <a:spcAft>
                <a:spcPts val="600"/>
              </a:spcAft>
              <a:buSzPct val="100000"/>
              <a:buChar char="•"/>
            </a:pPr>
            <a:r>
              <a:rPr lang="en-US" sz="1400" dirty="0">
                <a:solidFill>
                  <a:srgbClr val="FFFFFF"/>
                </a:solidFill>
              </a:rPr>
              <a:t>Refusal and citations</a:t>
            </a:r>
            <a:endParaRPr lang="en-US" sz="1400" dirty="0"/>
          </a:p>
        </p:txBody>
      </p:sp>
      <p:sp>
        <p:nvSpPr>
          <p:cNvPr id="18" name="Connector"/>
          <p:cNvSpPr/>
          <p:nvPr/>
        </p:nvSpPr>
        <p:spPr>
          <a:xfrm>
            <a:off x="8774582" y="3749040"/>
            <a:ext cx="341071" cy="0"/>
          </a:xfrm>
          <a:prstGeom prst="line">
            <a:avLst/>
          </a:prstGeom>
          <a:noFill/>
          <a:ln w="22225">
            <a:solidFill>
              <a:srgbClr val="64748B"/>
            </a:solidFill>
            <a:prstDash val="solid"/>
            <a:tailEnd type="triangle"/>
          </a:ln>
        </p:spPr>
      </p:sp>
      <p:sp>
        <p:nvSpPr>
          <p:cNvPr id="19" name="Agenda card 4"/>
          <p:cNvSpPr/>
          <p:nvPr/>
        </p:nvSpPr>
        <p:spPr>
          <a:xfrm>
            <a:off x="9115654" y="1783080"/>
            <a:ext cx="2514600" cy="3931920"/>
          </a:xfrm>
          <a:prstGeom prst="roundRect">
            <a:avLst>
              <a:gd name="adj" fmla="val 4364"/>
            </a:avLst>
          </a:prstGeom>
          <a:solidFill>
            <a:srgbClr val="B45309"/>
          </a:solidFill>
          <a:ln w="12700">
            <a:solidFill>
              <a:srgbClr val="B45309"/>
            </a:solidFill>
            <a:prstDash val="solid"/>
          </a:ln>
        </p:spPr>
      </p:sp>
      <p:sp>
        <p:nvSpPr>
          <p:cNvPr id="20" name="Text 17"/>
          <p:cNvSpPr txBox="1"/>
          <p:nvPr/>
        </p:nvSpPr>
        <p:spPr>
          <a:xfrm>
            <a:off x="9344254" y="1920240"/>
            <a:ext cx="914400" cy="822960"/>
          </a:xfrm>
          <a:prstGeom prst="rect">
            <a:avLst/>
          </a:prstGeom>
          <a:noFill/>
          <a:ln/>
        </p:spPr>
        <p:txBody>
          <a:bodyPr wrap="square" lIns="0" tIns="0" rIns="0" bIns="0" rtlCol="0" anchor="t"/>
          <a:lstStyle/>
          <a:p>
            <a:pPr marL="0" indent="0">
              <a:buNone/>
            </a:pPr>
            <a:r>
              <a:rPr lang="en-US" sz="4400" b="1" dirty="0">
                <a:solidFill>
                  <a:srgbClr val="FDE68A"/>
                </a:solidFill>
                <a:latin typeface="Cambria" pitchFamily="34" charset="0"/>
                <a:ea typeface="Cambria" pitchFamily="34" charset="-122"/>
                <a:cs typeface="Cambria" pitchFamily="34" charset="-120"/>
              </a:rPr>
              <a:t>4</a:t>
            </a:r>
            <a:endParaRPr lang="en-US" sz="4400" dirty="0"/>
          </a:p>
        </p:txBody>
      </p:sp>
      <p:sp>
        <p:nvSpPr>
          <p:cNvPr id="21" name="Text 18"/>
          <p:cNvSpPr txBox="1"/>
          <p:nvPr/>
        </p:nvSpPr>
        <p:spPr>
          <a:xfrm>
            <a:off x="9344254" y="2788920"/>
            <a:ext cx="2103120" cy="457200"/>
          </a:xfrm>
          <a:prstGeom prst="rect">
            <a:avLst/>
          </a:prstGeom>
          <a:noFill/>
          <a:ln/>
        </p:spPr>
        <p:txBody>
          <a:bodyPr wrap="square" lIns="0" tIns="0" rIns="0" bIns="0" rtlCol="0" anchor="t"/>
          <a:lstStyle/>
          <a:p>
            <a:pPr marL="0" indent="0">
              <a:buNone/>
            </a:pPr>
            <a:r>
              <a:rPr lang="en-US" sz="2000" b="1" dirty="0">
                <a:solidFill>
                  <a:srgbClr val="FFFFFF"/>
                </a:solidFill>
              </a:rPr>
              <a:t>Quality</a:t>
            </a:r>
            <a:endParaRPr lang="en-US" sz="2000" dirty="0"/>
          </a:p>
        </p:txBody>
      </p:sp>
      <p:sp>
        <p:nvSpPr>
          <p:cNvPr id="22" name="Text 19"/>
          <p:cNvSpPr txBox="1"/>
          <p:nvPr/>
        </p:nvSpPr>
        <p:spPr>
          <a:xfrm>
            <a:off x="9344254" y="3337560"/>
            <a:ext cx="214884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rPr>
              <a:t>Audit logging</a:t>
            </a:r>
            <a:endParaRPr lang="en-US" sz="1400" dirty="0"/>
          </a:p>
          <a:p>
            <a:pPr marL="342900" indent="-342900">
              <a:spcAft>
                <a:spcPts val="600"/>
              </a:spcAft>
              <a:buSzPct val="100000"/>
              <a:buChar char="•"/>
            </a:pPr>
            <a:r>
              <a:rPr lang="en-US" sz="1400" dirty="0">
                <a:solidFill>
                  <a:srgbClr val="FFFFFF"/>
                </a:solidFill>
              </a:rPr>
              <a:t>Three evaluation metrics</a:t>
            </a:r>
            <a:endParaRPr lang="en-US" sz="1400" dirty="0"/>
          </a:p>
          <a:p>
            <a:pPr marL="342900" indent="-342900">
              <a:spcAft>
                <a:spcPts val="600"/>
              </a:spcAft>
              <a:buSzPct val="100000"/>
              <a:buChar char="•"/>
            </a:pPr>
            <a:r>
              <a:rPr lang="en-US" sz="1400" dirty="0">
                <a:solidFill>
                  <a:srgbClr val="FFFFFF"/>
                </a:solidFill>
              </a:rPr>
              <a:t>Results and next steps</a:t>
            </a:r>
            <a:endParaRPr lang="en-US" sz="1400" dirty="0"/>
          </a:p>
        </p:txBody>
      </p:sp>
      <p:sp>
        <p:nvSpPr>
          <p:cNvPr id="23" name="Text 20"/>
          <p:cNvSpPr txBox="1"/>
          <p:nvPr/>
        </p:nvSpPr>
        <p:spPr>
          <a:xfrm>
            <a:off x="548640" y="5943600"/>
            <a:ext cx="11064240" cy="365760"/>
          </a:xfrm>
          <a:prstGeom prst="rect">
            <a:avLst/>
          </a:prstGeom>
          <a:noFill/>
          <a:ln/>
        </p:spPr>
        <p:txBody>
          <a:bodyPr wrap="square" lIns="0" tIns="0" rIns="0" bIns="0" rtlCol="0" anchor="t"/>
          <a:lstStyle/>
          <a:p>
            <a:pPr marL="0" indent="0">
              <a:buNone/>
            </a:pPr>
            <a:r>
              <a:rPr lang="en-US" sz="1500" dirty="0">
                <a:solidFill>
                  <a:srgbClr val="64748B"/>
                </a:solidFill>
              </a:rPr>
              <a:t>One question, followed all the way through the system: PDFs in, grounded answer out.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ection pill"/>
          <p:cNvSpPr/>
          <p:nvPr/>
        </p:nvSpPr>
        <p:spPr>
          <a:xfrm>
            <a:off x="548640" y="384048"/>
            <a:ext cx="2107692" cy="274320"/>
          </a:xfrm>
          <a:prstGeom prst="roundRect">
            <a:avLst>
              <a:gd name="adj" fmla="val 50000"/>
            </a:avLst>
          </a:prstGeom>
          <a:solidFill>
            <a:srgbClr val="0369A1"/>
          </a:solidFill>
          <a:ln/>
        </p:spPr>
        <p:txBody>
          <a:bodyPr wrap="square" lIns="0" tIns="0" rIns="0" bIns="0" rtlCol="0" anchor="ctr"/>
          <a:lstStyle/>
          <a:p>
            <a:pPr marL="0" indent="0" algn="ctr">
              <a:buNone/>
            </a:pPr>
            <a:r>
              <a:rPr lang="en-US" sz="1100" b="1" kern="0" spc="100" dirty="0">
                <a:solidFill>
                  <a:srgbClr val="FFFFFF"/>
                </a:solidFill>
              </a:rPr>
              <a:t>PART 1  ·  OVERVIEW</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The problem and our objectives</a:t>
            </a:r>
            <a:endParaRPr lang="en-US" sz="3200" dirty="0"/>
          </a:p>
        </p:txBody>
      </p:sp>
      <p:sp>
        <p:nvSpPr>
          <p:cNvPr id="5" name="Text 2"/>
          <p:cNvSpPr txBox="1"/>
          <p:nvPr/>
        </p:nvSpPr>
        <p:spPr>
          <a:xfrm>
            <a:off x="548640" y="1783080"/>
            <a:ext cx="5120640" cy="365760"/>
          </a:xfrm>
          <a:prstGeom prst="rect">
            <a:avLst/>
          </a:prstGeom>
          <a:noFill/>
          <a:ln/>
        </p:spPr>
        <p:txBody>
          <a:bodyPr wrap="square" lIns="0" tIns="0" rIns="0" bIns="0" rtlCol="0" anchor="t"/>
          <a:lstStyle/>
          <a:p>
            <a:pPr marL="0" indent="0">
              <a:buNone/>
            </a:pPr>
            <a:r>
              <a:rPr lang="en-US" sz="2000" b="1" dirty="0">
                <a:solidFill>
                  <a:srgbClr val="0B1437"/>
                </a:solidFill>
              </a:rPr>
              <a:t>The problem</a:t>
            </a:r>
            <a:endParaRPr lang="en-US" sz="2000" dirty="0"/>
          </a:p>
        </p:txBody>
      </p:sp>
      <p:sp>
        <p:nvSpPr>
          <p:cNvPr id="6" name="Problem card"/>
          <p:cNvSpPr/>
          <p:nvPr/>
        </p:nvSpPr>
        <p:spPr>
          <a:xfrm>
            <a:off x="548640" y="2286000"/>
            <a:ext cx="5120640" cy="1143000"/>
          </a:xfrm>
          <a:prstGeom prst="roundRect">
            <a:avLst>
              <a:gd name="adj" fmla="val 8000"/>
            </a:avLst>
          </a:prstGeom>
          <a:solidFill>
            <a:srgbClr val="F1F5F9"/>
          </a:solidFill>
          <a:ln w="12700">
            <a:solidFill>
              <a:srgbClr val="CBD5E1"/>
            </a:solidFill>
            <a:prstDash val="solid"/>
          </a:ln>
        </p:spPr>
      </p:sp>
      <p:sp>
        <p:nvSpPr>
          <p:cNvPr id="7" name="Text 4"/>
          <p:cNvSpPr txBox="1"/>
          <p:nvPr/>
        </p:nvSpPr>
        <p:spPr>
          <a:xfrm>
            <a:off x="777240" y="2441448"/>
            <a:ext cx="4663440" cy="320040"/>
          </a:xfrm>
          <a:prstGeom prst="rect">
            <a:avLst/>
          </a:prstGeom>
          <a:noFill/>
          <a:ln/>
        </p:spPr>
        <p:txBody>
          <a:bodyPr wrap="square" lIns="0" tIns="0" rIns="0" bIns="0" rtlCol="0" anchor="t"/>
          <a:lstStyle/>
          <a:p>
            <a:pPr marL="0" indent="0">
              <a:buNone/>
            </a:pPr>
            <a:r>
              <a:rPr lang="en-US" sz="1800" b="1" dirty="0">
                <a:solidFill>
                  <a:srgbClr val="0B1437"/>
                </a:solidFill>
              </a:rPr>
              <a:t>Scattered information</a:t>
            </a:r>
            <a:endParaRPr lang="en-US" sz="1800" dirty="0"/>
          </a:p>
        </p:txBody>
      </p:sp>
      <p:sp>
        <p:nvSpPr>
          <p:cNvPr id="8" name="Text 5"/>
          <p:cNvSpPr txBox="1"/>
          <p:nvPr/>
        </p:nvSpPr>
        <p:spPr>
          <a:xfrm>
            <a:off x="777240" y="2852928"/>
            <a:ext cx="4663440" cy="457200"/>
          </a:xfrm>
          <a:prstGeom prst="rect">
            <a:avLst/>
          </a:prstGeom>
          <a:noFill/>
          <a:ln/>
        </p:spPr>
        <p:txBody>
          <a:bodyPr wrap="square" lIns="0" tIns="0" rIns="0" bIns="0" rtlCol="0" anchor="t"/>
          <a:lstStyle/>
          <a:p>
            <a:pPr marL="0" indent="0">
              <a:buNone/>
            </a:pPr>
            <a:r>
              <a:rPr lang="en-US" sz="1500" dirty="0">
                <a:solidFill>
                  <a:srgbClr val="1E293B"/>
                </a:solidFill>
              </a:rPr>
              <a:t>Company knowledge sits across multiple PDF documents.</a:t>
            </a:r>
            <a:endParaRPr lang="en-US" sz="1500" dirty="0"/>
          </a:p>
        </p:txBody>
      </p:sp>
      <p:sp>
        <p:nvSpPr>
          <p:cNvPr id="9" name="Problem card"/>
          <p:cNvSpPr/>
          <p:nvPr/>
        </p:nvSpPr>
        <p:spPr>
          <a:xfrm>
            <a:off x="548640" y="3566160"/>
            <a:ext cx="5120640" cy="1143000"/>
          </a:xfrm>
          <a:prstGeom prst="roundRect">
            <a:avLst>
              <a:gd name="adj" fmla="val 8000"/>
            </a:avLst>
          </a:prstGeom>
          <a:solidFill>
            <a:srgbClr val="F1F5F9"/>
          </a:solidFill>
          <a:ln w="12700">
            <a:solidFill>
              <a:srgbClr val="CBD5E1"/>
            </a:solidFill>
            <a:prstDash val="solid"/>
          </a:ln>
        </p:spPr>
      </p:sp>
      <p:sp>
        <p:nvSpPr>
          <p:cNvPr id="10" name="Text 7"/>
          <p:cNvSpPr txBox="1"/>
          <p:nvPr/>
        </p:nvSpPr>
        <p:spPr>
          <a:xfrm>
            <a:off x="777240" y="3721608"/>
            <a:ext cx="4663440" cy="320040"/>
          </a:xfrm>
          <a:prstGeom prst="rect">
            <a:avLst/>
          </a:prstGeom>
          <a:noFill/>
          <a:ln/>
        </p:spPr>
        <p:txBody>
          <a:bodyPr wrap="square" lIns="0" tIns="0" rIns="0" bIns="0" rtlCol="0" anchor="t"/>
          <a:lstStyle/>
          <a:p>
            <a:pPr marL="0" indent="0">
              <a:buNone/>
            </a:pPr>
            <a:r>
              <a:rPr lang="en-US" sz="1800" b="1" dirty="0">
                <a:solidFill>
                  <a:srgbClr val="0B1437"/>
                </a:solidFill>
              </a:rPr>
              <a:t>Slow manual search</a:t>
            </a:r>
            <a:endParaRPr lang="en-US" sz="1800" dirty="0"/>
          </a:p>
        </p:txBody>
      </p:sp>
      <p:sp>
        <p:nvSpPr>
          <p:cNvPr id="11" name="Text 8"/>
          <p:cNvSpPr txBox="1"/>
          <p:nvPr/>
        </p:nvSpPr>
        <p:spPr>
          <a:xfrm>
            <a:off x="777240" y="4133088"/>
            <a:ext cx="4663440" cy="457200"/>
          </a:xfrm>
          <a:prstGeom prst="rect">
            <a:avLst/>
          </a:prstGeom>
          <a:noFill/>
          <a:ln/>
        </p:spPr>
        <p:txBody>
          <a:bodyPr wrap="square" lIns="0" tIns="0" rIns="0" bIns="0" rtlCol="0" anchor="t"/>
          <a:lstStyle/>
          <a:p>
            <a:pPr marL="0" indent="0">
              <a:buNone/>
            </a:pPr>
            <a:r>
              <a:rPr lang="en-US" sz="1500" dirty="0">
                <a:solidFill>
                  <a:srgbClr val="1E293B"/>
                </a:solidFill>
              </a:rPr>
              <a:t>Finding one answer means opening and reading many files.</a:t>
            </a:r>
            <a:endParaRPr lang="en-US" sz="1500" dirty="0"/>
          </a:p>
        </p:txBody>
      </p:sp>
      <p:sp>
        <p:nvSpPr>
          <p:cNvPr id="12" name="Problem card"/>
          <p:cNvSpPr/>
          <p:nvPr/>
        </p:nvSpPr>
        <p:spPr>
          <a:xfrm>
            <a:off x="548640" y="4846320"/>
            <a:ext cx="5120640" cy="1143000"/>
          </a:xfrm>
          <a:prstGeom prst="roundRect">
            <a:avLst>
              <a:gd name="adj" fmla="val 8000"/>
            </a:avLst>
          </a:prstGeom>
          <a:solidFill>
            <a:srgbClr val="F1F5F9"/>
          </a:solidFill>
          <a:ln w="12700">
            <a:solidFill>
              <a:srgbClr val="CBD5E1"/>
            </a:solidFill>
            <a:prstDash val="solid"/>
          </a:ln>
        </p:spPr>
      </p:sp>
      <p:sp>
        <p:nvSpPr>
          <p:cNvPr id="13" name="Text 10"/>
          <p:cNvSpPr txBox="1"/>
          <p:nvPr/>
        </p:nvSpPr>
        <p:spPr>
          <a:xfrm>
            <a:off x="777240" y="5001768"/>
            <a:ext cx="4663440" cy="320040"/>
          </a:xfrm>
          <a:prstGeom prst="rect">
            <a:avLst/>
          </a:prstGeom>
          <a:noFill/>
          <a:ln/>
        </p:spPr>
        <p:txBody>
          <a:bodyPr wrap="square" lIns="0" tIns="0" rIns="0" bIns="0" rtlCol="0" anchor="t"/>
          <a:lstStyle/>
          <a:p>
            <a:pPr marL="0" indent="0">
              <a:buNone/>
            </a:pPr>
            <a:r>
              <a:rPr lang="en-US" sz="1800" b="1" dirty="0">
                <a:solidFill>
                  <a:srgbClr val="0B1437"/>
                </a:solidFill>
              </a:rPr>
              <a:t>Unsupported answers</a:t>
            </a:r>
            <a:endParaRPr lang="en-US" sz="1800" dirty="0"/>
          </a:p>
        </p:txBody>
      </p:sp>
      <p:sp>
        <p:nvSpPr>
          <p:cNvPr id="14" name="Text 11"/>
          <p:cNvSpPr txBox="1"/>
          <p:nvPr/>
        </p:nvSpPr>
        <p:spPr>
          <a:xfrm>
            <a:off x="777240" y="5413248"/>
            <a:ext cx="4663440" cy="457200"/>
          </a:xfrm>
          <a:prstGeom prst="rect">
            <a:avLst/>
          </a:prstGeom>
          <a:noFill/>
          <a:ln/>
        </p:spPr>
        <p:txBody>
          <a:bodyPr wrap="square" lIns="0" tIns="0" rIns="0" bIns="0" rtlCol="0" anchor="t"/>
          <a:lstStyle/>
          <a:p>
            <a:pPr marL="0" indent="0">
              <a:buNone/>
            </a:pPr>
            <a:r>
              <a:rPr lang="en-US" sz="1500" dirty="0">
                <a:solidFill>
                  <a:srgbClr val="1E293B"/>
                </a:solidFill>
              </a:rPr>
              <a:t>An LLM may invent details when no evidence is available.</a:t>
            </a:r>
            <a:endParaRPr lang="en-US" sz="1500" dirty="0"/>
          </a:p>
        </p:txBody>
      </p:sp>
      <p:sp>
        <p:nvSpPr>
          <p:cNvPr id="15" name="Text 12"/>
          <p:cNvSpPr txBox="1"/>
          <p:nvPr/>
        </p:nvSpPr>
        <p:spPr>
          <a:xfrm>
            <a:off x="6126480" y="1783080"/>
            <a:ext cx="5486400" cy="365760"/>
          </a:xfrm>
          <a:prstGeom prst="rect">
            <a:avLst/>
          </a:prstGeom>
          <a:noFill/>
          <a:ln/>
        </p:spPr>
        <p:txBody>
          <a:bodyPr wrap="square" lIns="0" tIns="0" rIns="0" bIns="0" rtlCol="0" anchor="t"/>
          <a:lstStyle/>
          <a:p>
            <a:pPr marL="0" indent="0">
              <a:buNone/>
            </a:pPr>
            <a:r>
              <a:rPr lang="en-US" sz="2000" b="1" dirty="0">
                <a:solidFill>
                  <a:srgbClr val="0B1437"/>
                </a:solidFill>
              </a:rPr>
              <a:t>Objectives</a:t>
            </a:r>
            <a:endParaRPr lang="en-US" sz="2000" dirty="0"/>
          </a:p>
        </p:txBody>
      </p:sp>
      <p:sp>
        <p:nvSpPr>
          <p:cNvPr id="16" name="Number"/>
          <p:cNvSpPr/>
          <p:nvPr/>
        </p:nvSpPr>
        <p:spPr>
          <a:xfrm>
            <a:off x="6126480" y="2359152"/>
            <a:ext cx="365760" cy="365760"/>
          </a:xfrm>
          <a:prstGeom prst="ellipse">
            <a:avLst/>
          </a:prstGeom>
          <a:solidFill>
            <a:srgbClr val="0369A1"/>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7" name="Text 14"/>
          <p:cNvSpPr txBox="1"/>
          <p:nvPr/>
        </p:nvSpPr>
        <p:spPr>
          <a:xfrm>
            <a:off x="6675120" y="2286000"/>
            <a:ext cx="4937760" cy="502920"/>
          </a:xfrm>
          <a:prstGeom prst="rect">
            <a:avLst/>
          </a:prstGeom>
          <a:noFill/>
          <a:ln/>
        </p:spPr>
        <p:txBody>
          <a:bodyPr wrap="square" lIns="0" tIns="0" rIns="0" bIns="0" rtlCol="0" anchor="ctr"/>
          <a:lstStyle/>
          <a:p>
            <a:pPr marL="0" indent="0">
              <a:buNone/>
            </a:pPr>
            <a:r>
              <a:rPr lang="en-US" sz="1600" dirty="0">
                <a:solidFill>
                  <a:srgbClr val="1E293B"/>
                </a:solidFill>
              </a:rPr>
              <a:t>Search company information in natural language</a:t>
            </a:r>
            <a:endParaRPr lang="en-US" sz="1600" dirty="0"/>
          </a:p>
        </p:txBody>
      </p:sp>
      <p:sp>
        <p:nvSpPr>
          <p:cNvPr id="18" name="Number"/>
          <p:cNvSpPr/>
          <p:nvPr/>
        </p:nvSpPr>
        <p:spPr>
          <a:xfrm>
            <a:off x="6126480" y="2999232"/>
            <a:ext cx="365760" cy="365760"/>
          </a:xfrm>
          <a:prstGeom prst="ellipse">
            <a:avLst/>
          </a:prstGeom>
          <a:solidFill>
            <a:srgbClr val="0369A1"/>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9" name="Text 16"/>
          <p:cNvSpPr txBox="1"/>
          <p:nvPr/>
        </p:nvSpPr>
        <p:spPr>
          <a:xfrm>
            <a:off x="6675120" y="2926080"/>
            <a:ext cx="4937760" cy="502920"/>
          </a:xfrm>
          <a:prstGeom prst="rect">
            <a:avLst/>
          </a:prstGeom>
          <a:noFill/>
          <a:ln/>
        </p:spPr>
        <p:txBody>
          <a:bodyPr wrap="square" lIns="0" tIns="0" rIns="0" bIns="0" rtlCol="0" anchor="ctr"/>
          <a:lstStyle/>
          <a:p>
            <a:pPr marL="0" indent="0">
              <a:buNone/>
            </a:pPr>
            <a:r>
              <a:rPr lang="en-US" sz="1600" dirty="0">
                <a:solidFill>
                  <a:srgbClr val="1E293B"/>
                </a:solidFill>
              </a:rPr>
              <a:t>Retrieve relevant content from the PDF documents</a:t>
            </a:r>
            <a:endParaRPr lang="en-US" sz="1600" dirty="0"/>
          </a:p>
        </p:txBody>
      </p:sp>
      <p:sp>
        <p:nvSpPr>
          <p:cNvPr id="20" name="Number"/>
          <p:cNvSpPr/>
          <p:nvPr/>
        </p:nvSpPr>
        <p:spPr>
          <a:xfrm>
            <a:off x="6126480" y="3639312"/>
            <a:ext cx="365760" cy="365760"/>
          </a:xfrm>
          <a:prstGeom prst="ellipse">
            <a:avLst/>
          </a:prstGeom>
          <a:solidFill>
            <a:srgbClr val="0369A1"/>
          </a:solid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1" name="Text 18"/>
          <p:cNvSpPr txBox="1"/>
          <p:nvPr/>
        </p:nvSpPr>
        <p:spPr>
          <a:xfrm>
            <a:off x="6675120" y="3566160"/>
            <a:ext cx="4937760" cy="502920"/>
          </a:xfrm>
          <a:prstGeom prst="rect">
            <a:avLst/>
          </a:prstGeom>
          <a:noFill/>
          <a:ln/>
        </p:spPr>
        <p:txBody>
          <a:bodyPr wrap="square" lIns="0" tIns="0" rIns="0" bIns="0" rtlCol="0" anchor="ctr"/>
          <a:lstStyle/>
          <a:p>
            <a:pPr marL="0" indent="0">
              <a:buNone/>
            </a:pPr>
            <a:r>
              <a:rPr lang="en-US" sz="1600" dirty="0">
                <a:solidFill>
                  <a:srgbClr val="1E293B"/>
                </a:solidFill>
              </a:rPr>
              <a:t>Generate answers with a locally hosted LLM</a:t>
            </a:r>
            <a:endParaRPr lang="en-US" sz="1600" dirty="0"/>
          </a:p>
        </p:txBody>
      </p:sp>
      <p:sp>
        <p:nvSpPr>
          <p:cNvPr id="22" name="Number"/>
          <p:cNvSpPr/>
          <p:nvPr/>
        </p:nvSpPr>
        <p:spPr>
          <a:xfrm>
            <a:off x="6126480" y="4279392"/>
            <a:ext cx="365760" cy="365760"/>
          </a:xfrm>
          <a:prstGeom prst="ellipse">
            <a:avLst/>
          </a:prstGeom>
          <a:solidFill>
            <a:srgbClr val="0369A1"/>
          </a:solid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3" name="Text 20"/>
          <p:cNvSpPr txBox="1"/>
          <p:nvPr/>
        </p:nvSpPr>
        <p:spPr>
          <a:xfrm>
            <a:off x="6675120" y="4206240"/>
            <a:ext cx="4937760" cy="502920"/>
          </a:xfrm>
          <a:prstGeom prst="rect">
            <a:avLst/>
          </a:prstGeom>
          <a:noFill/>
          <a:ln/>
        </p:spPr>
        <p:txBody>
          <a:bodyPr wrap="square" lIns="0" tIns="0" rIns="0" bIns="0" rtlCol="0" anchor="ctr"/>
          <a:lstStyle/>
          <a:p>
            <a:pPr marL="0" indent="0">
              <a:buNone/>
            </a:pPr>
            <a:r>
              <a:rPr lang="en-US" sz="1600" dirty="0">
                <a:solidFill>
                  <a:srgbClr val="1E293B"/>
                </a:solidFill>
              </a:rPr>
              <a:t>Cut unsupported answers with grounding and refusals</a:t>
            </a:r>
            <a:endParaRPr lang="en-US" sz="1600" dirty="0"/>
          </a:p>
        </p:txBody>
      </p:sp>
      <p:sp>
        <p:nvSpPr>
          <p:cNvPr id="24" name="Number"/>
          <p:cNvSpPr/>
          <p:nvPr/>
        </p:nvSpPr>
        <p:spPr>
          <a:xfrm>
            <a:off x="6126480" y="4919472"/>
            <a:ext cx="365760" cy="365760"/>
          </a:xfrm>
          <a:prstGeom prst="ellipse">
            <a:avLst/>
          </a:prstGeom>
          <a:solidFill>
            <a:srgbClr val="0369A1"/>
          </a:solid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5" name="Text 22"/>
          <p:cNvSpPr txBox="1"/>
          <p:nvPr/>
        </p:nvSpPr>
        <p:spPr>
          <a:xfrm>
            <a:off x="6675120" y="4846320"/>
            <a:ext cx="4937760" cy="502920"/>
          </a:xfrm>
          <a:prstGeom prst="rect">
            <a:avLst/>
          </a:prstGeom>
          <a:noFill/>
          <a:ln/>
        </p:spPr>
        <p:txBody>
          <a:bodyPr wrap="square" lIns="0" tIns="0" rIns="0" bIns="0" rtlCol="0" anchor="ctr"/>
          <a:lstStyle/>
          <a:p>
            <a:pPr marL="0" indent="0">
              <a:buNone/>
            </a:pPr>
            <a:r>
              <a:rPr lang="en-US" sz="1600" dirty="0">
                <a:solidFill>
                  <a:srgbClr val="1E293B"/>
                </a:solidFill>
              </a:rPr>
              <a:t>Keep audit logs of requests and responses</a:t>
            </a:r>
            <a:endParaRPr lang="en-US" sz="1600" dirty="0"/>
          </a:p>
        </p:txBody>
      </p:sp>
      <p:sp>
        <p:nvSpPr>
          <p:cNvPr id="26" name="Number"/>
          <p:cNvSpPr/>
          <p:nvPr/>
        </p:nvSpPr>
        <p:spPr>
          <a:xfrm>
            <a:off x="6126480" y="5559552"/>
            <a:ext cx="365760" cy="365760"/>
          </a:xfrm>
          <a:prstGeom prst="ellipse">
            <a:avLst/>
          </a:prstGeom>
          <a:solidFill>
            <a:srgbClr val="0369A1"/>
          </a:solid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27" name="Text 24"/>
          <p:cNvSpPr txBox="1"/>
          <p:nvPr/>
        </p:nvSpPr>
        <p:spPr>
          <a:xfrm>
            <a:off x="6675120" y="5486400"/>
            <a:ext cx="4937760" cy="502920"/>
          </a:xfrm>
          <a:prstGeom prst="rect">
            <a:avLst/>
          </a:prstGeom>
          <a:noFill/>
          <a:ln/>
        </p:spPr>
        <p:txBody>
          <a:bodyPr wrap="square" lIns="0" tIns="0" rIns="0" bIns="0" rtlCol="0" anchor="ctr"/>
          <a:lstStyle/>
          <a:p>
            <a:pPr marL="0" indent="0">
              <a:buNone/>
            </a:pPr>
            <a:r>
              <a:rPr lang="en-US" sz="1600" dirty="0">
                <a:solidFill>
                  <a:srgbClr val="1E293B"/>
                </a:solidFill>
              </a:rPr>
              <a:t>Measure answer and retrieval quality with metrics</a:t>
            </a:r>
            <a:endParaRPr lang="en-US" sz="1600" dirty="0"/>
          </a:p>
        </p:txBody>
      </p:sp>
      <p:sp>
        <p:nvSpPr>
          <p:cNvPr id="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ection pill"/>
          <p:cNvSpPr/>
          <p:nvPr/>
        </p:nvSpPr>
        <p:spPr>
          <a:xfrm>
            <a:off x="548640" y="384048"/>
            <a:ext cx="2107692" cy="274320"/>
          </a:xfrm>
          <a:prstGeom prst="roundRect">
            <a:avLst>
              <a:gd name="adj" fmla="val 50000"/>
            </a:avLst>
          </a:prstGeom>
          <a:solidFill>
            <a:srgbClr val="0369A1"/>
          </a:solidFill>
          <a:ln/>
        </p:spPr>
        <p:txBody>
          <a:bodyPr wrap="square" lIns="0" tIns="0" rIns="0" bIns="0" rtlCol="0" anchor="ctr"/>
          <a:lstStyle/>
          <a:p>
            <a:pPr marL="0" indent="0" algn="ctr">
              <a:buNone/>
            </a:pPr>
            <a:r>
              <a:rPr lang="en-US" sz="1100" b="1" kern="0" spc="100" dirty="0">
                <a:solidFill>
                  <a:srgbClr val="FFFFFF"/>
                </a:solidFill>
              </a:rPr>
              <a:t>PART 1  ·  OVERVIEW</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What is RAG?</a:t>
            </a:r>
            <a:endParaRPr lang="en-US" sz="3200" dirty="0"/>
          </a:p>
        </p:txBody>
      </p:sp>
      <p:sp>
        <p:nvSpPr>
          <p:cNvPr id="5" name="Text 2"/>
          <p:cNvSpPr txBox="1"/>
          <p:nvPr/>
        </p:nvSpPr>
        <p:spPr>
          <a:xfrm>
            <a:off x="548640" y="1554480"/>
            <a:ext cx="11064240" cy="365760"/>
          </a:xfrm>
          <a:prstGeom prst="rect">
            <a:avLst/>
          </a:prstGeom>
          <a:noFill/>
          <a:ln/>
        </p:spPr>
        <p:txBody>
          <a:bodyPr wrap="square" lIns="0" tIns="0" rIns="0" bIns="0" rtlCol="0" anchor="t"/>
          <a:lstStyle/>
          <a:p>
            <a:pPr marL="0" indent="0">
              <a:buNone/>
            </a:pPr>
            <a:r>
              <a:rPr lang="en-US" sz="1700" dirty="0">
                <a:solidFill>
                  <a:srgbClr val="64748B"/>
                </a:solidFill>
              </a:rPr>
              <a:t>Retrieval-Augmented Generation: look up the facts first, then write the answer.</a:t>
            </a:r>
            <a:endParaRPr lang="en-US" sz="1700" dirty="0"/>
          </a:p>
        </p:txBody>
      </p:sp>
      <p:sp>
        <p:nvSpPr>
          <p:cNvPr id="6" name="RAG step Question"/>
          <p:cNvSpPr/>
          <p:nvPr/>
        </p:nvSpPr>
        <p:spPr>
          <a:xfrm>
            <a:off x="548640" y="2148840"/>
            <a:ext cx="1920240" cy="1188720"/>
          </a:xfrm>
          <a:prstGeom prst="roundRect">
            <a:avLst>
              <a:gd name="adj" fmla="val 7692"/>
            </a:avLst>
          </a:prstGeom>
          <a:solidFill>
            <a:srgbClr val="E0F2FE"/>
          </a:solidFill>
          <a:ln w="12700">
            <a:solidFill>
              <a:srgbClr val="0EA5E9"/>
            </a:solidFill>
          </a:ln>
        </p:spPr>
        <p:txBody>
          <a:bodyPr wrap="square" lIns="50800" tIns="50800" rIns="50800" bIns="50800" rtlCol="0" anchor="ctr"/>
          <a:lstStyle/>
          <a:p>
            <a:pPr marL="0" indent="0" algn="ctr">
              <a:buNone/>
            </a:pPr>
            <a:r>
              <a:rPr lang="en-US" sz="1800" b="1" dirty="0">
                <a:solidFill>
                  <a:srgbClr val="1E293B"/>
                </a:solidFill>
              </a:rPr>
              <a:t>Question</a:t>
            </a:r>
            <a:endParaRPr lang="en-US" sz="1400" dirty="0"/>
          </a:p>
          <a:p>
            <a:pPr marL="0" indent="0" algn="ctr">
              <a:buNone/>
            </a:pPr>
            <a:r>
              <a:rPr lang="en-US" sz="1400" dirty="0">
                <a:solidFill>
                  <a:srgbClr val="1E293B"/>
                </a:solidFill>
              </a:rPr>
              <a:t>the user asks</a:t>
            </a:r>
            <a:endParaRPr lang="en-US" sz="1400" dirty="0"/>
          </a:p>
        </p:txBody>
      </p:sp>
      <p:sp>
        <p:nvSpPr>
          <p:cNvPr id="7" name="Connector"/>
          <p:cNvSpPr/>
          <p:nvPr/>
        </p:nvSpPr>
        <p:spPr>
          <a:xfrm>
            <a:off x="2468880" y="2743200"/>
            <a:ext cx="411480" cy="0"/>
          </a:xfrm>
          <a:prstGeom prst="line">
            <a:avLst/>
          </a:prstGeom>
          <a:noFill/>
          <a:ln w="22225">
            <a:solidFill>
              <a:srgbClr val="64748B"/>
            </a:solidFill>
            <a:prstDash val="solid"/>
            <a:tailEnd type="triangle"/>
          </a:ln>
        </p:spPr>
      </p:sp>
      <p:sp>
        <p:nvSpPr>
          <p:cNvPr id="8" name="RAG step Retrieve"/>
          <p:cNvSpPr/>
          <p:nvPr/>
        </p:nvSpPr>
        <p:spPr>
          <a:xfrm>
            <a:off x="2880360" y="2148840"/>
            <a:ext cx="1920240" cy="1188720"/>
          </a:xfrm>
          <a:prstGeom prst="roundRect">
            <a:avLst>
              <a:gd name="adj" fmla="val 7692"/>
            </a:avLst>
          </a:prstGeom>
          <a:solidFill>
            <a:srgbClr val="F1F5F9"/>
          </a:solidFill>
          <a:ln w="12700">
            <a:solidFill>
              <a:srgbClr val="CBD5E1"/>
            </a:solidFill>
          </a:ln>
        </p:spPr>
        <p:txBody>
          <a:bodyPr wrap="square" lIns="50800" tIns="50800" rIns="50800" bIns="50800" rtlCol="0" anchor="ctr"/>
          <a:lstStyle/>
          <a:p>
            <a:pPr marL="0" indent="0" algn="ctr">
              <a:buNone/>
            </a:pPr>
            <a:r>
              <a:rPr lang="en-US" sz="1800" b="1" dirty="0">
                <a:solidFill>
                  <a:srgbClr val="1E293B"/>
                </a:solidFill>
              </a:rPr>
              <a:t>Retrieve</a:t>
            </a:r>
            <a:endParaRPr lang="en-US" sz="1400" dirty="0"/>
          </a:p>
          <a:p>
            <a:pPr marL="0" indent="0" algn="ctr">
              <a:buNone/>
            </a:pPr>
            <a:r>
              <a:rPr lang="en-US" sz="1400" dirty="0">
                <a:solidFill>
                  <a:srgbClr val="1E293B"/>
                </a:solidFill>
              </a:rPr>
              <a:t>find relevant chunks</a:t>
            </a:r>
            <a:endParaRPr lang="en-US" sz="1400" dirty="0"/>
          </a:p>
        </p:txBody>
      </p:sp>
      <p:sp>
        <p:nvSpPr>
          <p:cNvPr id="9" name="Connector"/>
          <p:cNvSpPr/>
          <p:nvPr/>
        </p:nvSpPr>
        <p:spPr>
          <a:xfrm>
            <a:off x="4800600" y="2743200"/>
            <a:ext cx="411480" cy="0"/>
          </a:xfrm>
          <a:prstGeom prst="line">
            <a:avLst/>
          </a:prstGeom>
          <a:noFill/>
          <a:ln w="22225">
            <a:solidFill>
              <a:srgbClr val="64748B"/>
            </a:solidFill>
            <a:prstDash val="solid"/>
            <a:tailEnd type="triangle"/>
          </a:ln>
        </p:spPr>
      </p:sp>
      <p:sp>
        <p:nvSpPr>
          <p:cNvPr id="10" name="RAG step Augment"/>
          <p:cNvSpPr/>
          <p:nvPr/>
        </p:nvSpPr>
        <p:spPr>
          <a:xfrm>
            <a:off x="5212080" y="2148840"/>
            <a:ext cx="1920240" cy="1188720"/>
          </a:xfrm>
          <a:prstGeom prst="roundRect">
            <a:avLst>
              <a:gd name="adj" fmla="val 7692"/>
            </a:avLst>
          </a:prstGeom>
          <a:solidFill>
            <a:srgbClr val="F1F5F9"/>
          </a:solidFill>
          <a:ln w="12700">
            <a:solidFill>
              <a:srgbClr val="CBD5E1"/>
            </a:solidFill>
          </a:ln>
        </p:spPr>
        <p:txBody>
          <a:bodyPr wrap="square" lIns="50800" tIns="50800" rIns="50800" bIns="50800" rtlCol="0" anchor="ctr"/>
          <a:lstStyle/>
          <a:p>
            <a:pPr marL="0" indent="0" algn="ctr">
              <a:buNone/>
            </a:pPr>
            <a:r>
              <a:rPr lang="en-US" sz="1800" b="1" dirty="0">
                <a:solidFill>
                  <a:srgbClr val="1E293B"/>
                </a:solidFill>
              </a:rPr>
              <a:t>Augment</a:t>
            </a:r>
            <a:endParaRPr lang="en-US" sz="1400" dirty="0"/>
          </a:p>
          <a:p>
            <a:pPr marL="0" indent="0" algn="ctr">
              <a:buNone/>
            </a:pPr>
            <a:r>
              <a:rPr lang="en-US" sz="1400" dirty="0">
                <a:solidFill>
                  <a:srgbClr val="1E293B"/>
                </a:solidFill>
              </a:rPr>
              <a:t>add chunks to the prompt</a:t>
            </a:r>
            <a:endParaRPr lang="en-US" sz="1400" dirty="0"/>
          </a:p>
        </p:txBody>
      </p:sp>
      <p:sp>
        <p:nvSpPr>
          <p:cNvPr id="11" name="Connector"/>
          <p:cNvSpPr/>
          <p:nvPr/>
        </p:nvSpPr>
        <p:spPr>
          <a:xfrm>
            <a:off x="7132320" y="2743200"/>
            <a:ext cx="411480" cy="0"/>
          </a:xfrm>
          <a:prstGeom prst="line">
            <a:avLst/>
          </a:prstGeom>
          <a:noFill/>
          <a:ln w="22225">
            <a:solidFill>
              <a:srgbClr val="64748B"/>
            </a:solidFill>
            <a:prstDash val="solid"/>
            <a:tailEnd type="triangle"/>
          </a:ln>
        </p:spPr>
      </p:sp>
      <p:sp>
        <p:nvSpPr>
          <p:cNvPr id="12" name="RAG step Generate"/>
          <p:cNvSpPr/>
          <p:nvPr/>
        </p:nvSpPr>
        <p:spPr>
          <a:xfrm>
            <a:off x="7543800" y="2148840"/>
            <a:ext cx="1920240" cy="1188720"/>
          </a:xfrm>
          <a:prstGeom prst="roundRect">
            <a:avLst>
              <a:gd name="adj" fmla="val 7692"/>
            </a:avLst>
          </a:prstGeom>
          <a:solidFill>
            <a:srgbClr val="0B1437"/>
          </a:solidFill>
          <a:ln w="12700">
            <a:solidFill>
              <a:srgbClr val="0B1437"/>
            </a:solidFill>
          </a:ln>
        </p:spPr>
        <p:txBody>
          <a:bodyPr wrap="square" lIns="50800" tIns="50800" rIns="50800" bIns="50800" rtlCol="0" anchor="ctr"/>
          <a:lstStyle/>
          <a:p>
            <a:pPr marL="0" indent="0" algn="ctr">
              <a:buNone/>
            </a:pPr>
            <a:r>
              <a:rPr lang="en-US" sz="1800" b="1" dirty="0">
                <a:solidFill>
                  <a:srgbClr val="FFFFFF"/>
                </a:solidFill>
              </a:rPr>
              <a:t>Generate</a:t>
            </a:r>
            <a:endParaRPr lang="en-US" sz="1400" dirty="0"/>
          </a:p>
          <a:p>
            <a:pPr marL="0" indent="0" algn="ctr">
              <a:buNone/>
            </a:pPr>
            <a:r>
              <a:rPr lang="en-US" sz="1400" dirty="0">
                <a:solidFill>
                  <a:srgbClr val="FFFFFF"/>
                </a:solidFill>
              </a:rPr>
              <a:t>the LLM writes the answer</a:t>
            </a:r>
            <a:endParaRPr lang="en-US" sz="1400" dirty="0"/>
          </a:p>
        </p:txBody>
      </p:sp>
      <p:sp>
        <p:nvSpPr>
          <p:cNvPr id="13" name="Connector"/>
          <p:cNvSpPr/>
          <p:nvPr/>
        </p:nvSpPr>
        <p:spPr>
          <a:xfrm>
            <a:off x="9464040" y="2743200"/>
            <a:ext cx="411480" cy="0"/>
          </a:xfrm>
          <a:prstGeom prst="line">
            <a:avLst/>
          </a:prstGeom>
          <a:noFill/>
          <a:ln w="22225">
            <a:solidFill>
              <a:srgbClr val="64748B"/>
            </a:solidFill>
            <a:prstDash val="solid"/>
            <a:tailEnd type="triangle"/>
          </a:ln>
        </p:spPr>
      </p:sp>
      <p:sp>
        <p:nvSpPr>
          <p:cNvPr id="14" name="RAG step Answer"/>
          <p:cNvSpPr/>
          <p:nvPr/>
        </p:nvSpPr>
        <p:spPr>
          <a:xfrm>
            <a:off x="9875520" y="2148840"/>
            <a:ext cx="1920240" cy="1188720"/>
          </a:xfrm>
          <a:prstGeom prst="roundRect">
            <a:avLst>
              <a:gd name="adj" fmla="val 7692"/>
            </a:avLst>
          </a:prstGeom>
          <a:solidFill>
            <a:srgbClr val="F59E0B"/>
          </a:solidFill>
          <a:ln w="12700">
            <a:solidFill>
              <a:srgbClr val="F59E0B"/>
            </a:solidFill>
          </a:ln>
        </p:spPr>
        <p:txBody>
          <a:bodyPr wrap="square" lIns="50800" tIns="50800" rIns="50800" bIns="50800" rtlCol="0" anchor="ctr"/>
          <a:lstStyle/>
          <a:p>
            <a:pPr marL="0" indent="0" algn="ctr">
              <a:buNone/>
            </a:pPr>
            <a:r>
              <a:rPr lang="en-US" sz="1800" b="1" dirty="0">
                <a:solidFill>
                  <a:srgbClr val="0B1437"/>
                </a:solidFill>
              </a:rPr>
              <a:t>Answer</a:t>
            </a:r>
            <a:endParaRPr lang="en-US" sz="1400" dirty="0"/>
          </a:p>
          <a:p>
            <a:pPr marL="0" indent="0" algn="ctr">
              <a:buNone/>
            </a:pPr>
            <a:r>
              <a:rPr lang="en-US" sz="1400" dirty="0">
                <a:solidFill>
                  <a:srgbClr val="0B1437"/>
                </a:solidFill>
              </a:rPr>
              <a:t>grounded, with sources</a:t>
            </a:r>
            <a:endParaRPr lang="en-US" sz="1400" dirty="0"/>
          </a:p>
        </p:txBody>
      </p:sp>
      <p:sp>
        <p:nvSpPr>
          <p:cNvPr id="15" name="Without RAG"/>
          <p:cNvSpPr/>
          <p:nvPr/>
        </p:nvSpPr>
        <p:spPr>
          <a:xfrm>
            <a:off x="548640" y="3657600"/>
            <a:ext cx="5394960" cy="1828800"/>
          </a:xfrm>
          <a:prstGeom prst="roundRect">
            <a:avLst>
              <a:gd name="adj" fmla="val 5000"/>
            </a:avLst>
          </a:prstGeom>
          <a:solidFill>
            <a:srgbClr val="F1F5F9"/>
          </a:solidFill>
          <a:ln w="12700">
            <a:solidFill>
              <a:srgbClr val="CBD5E1"/>
            </a:solidFill>
            <a:prstDash val="solid"/>
          </a:ln>
        </p:spPr>
      </p:sp>
      <p:sp>
        <p:nvSpPr>
          <p:cNvPr id="16" name="Text 13"/>
          <p:cNvSpPr txBox="1"/>
          <p:nvPr/>
        </p:nvSpPr>
        <p:spPr>
          <a:xfrm>
            <a:off x="777240" y="3794760"/>
            <a:ext cx="4937760" cy="365760"/>
          </a:xfrm>
          <a:prstGeom prst="rect">
            <a:avLst/>
          </a:prstGeom>
          <a:noFill/>
          <a:ln/>
        </p:spPr>
        <p:txBody>
          <a:bodyPr wrap="square" lIns="0" tIns="0" rIns="0" bIns="0" rtlCol="0" anchor="t"/>
          <a:lstStyle/>
          <a:p>
            <a:pPr marL="0" indent="0">
              <a:buNone/>
            </a:pPr>
            <a:r>
              <a:rPr lang="en-US" sz="1800" b="1" dirty="0">
                <a:solidFill>
                  <a:srgbClr val="0B1437"/>
                </a:solidFill>
              </a:rPr>
              <a:t>Without RAG</a:t>
            </a:r>
            <a:endParaRPr lang="en-US" sz="1800" dirty="0"/>
          </a:p>
        </p:txBody>
      </p:sp>
      <p:sp>
        <p:nvSpPr>
          <p:cNvPr id="17" name="Text 14"/>
          <p:cNvSpPr txBox="1"/>
          <p:nvPr/>
        </p:nvSpPr>
        <p:spPr>
          <a:xfrm>
            <a:off x="777240" y="4251960"/>
            <a:ext cx="4937760" cy="1143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93B"/>
                </a:solidFill>
              </a:rPr>
              <a:t>The model answers from memory only</a:t>
            </a:r>
            <a:endParaRPr lang="en-US" sz="1500" dirty="0"/>
          </a:p>
          <a:p>
            <a:pPr marL="342900" indent="-342900">
              <a:spcAft>
                <a:spcPts val="800"/>
              </a:spcAft>
              <a:buSzPct val="100000"/>
              <a:buChar char="•"/>
            </a:pPr>
            <a:r>
              <a:rPr lang="en-US" sz="1500" dirty="0">
                <a:solidFill>
                  <a:srgbClr val="1E293B"/>
                </a:solidFill>
              </a:rPr>
              <a:t>It can guess or invent details</a:t>
            </a:r>
            <a:endParaRPr lang="en-US" sz="1500" dirty="0"/>
          </a:p>
          <a:p>
            <a:pPr marL="342900" indent="-342900">
              <a:spcAft>
                <a:spcPts val="800"/>
              </a:spcAft>
              <a:buSzPct val="100000"/>
              <a:buChar char="•"/>
            </a:pPr>
            <a:r>
              <a:rPr lang="en-US" sz="1500" dirty="0">
                <a:solidFill>
                  <a:srgbClr val="1E293B"/>
                </a:solidFill>
              </a:rPr>
              <a:t>No way to see where an answer came from</a:t>
            </a:r>
            <a:endParaRPr lang="en-US" sz="1500" dirty="0"/>
          </a:p>
        </p:txBody>
      </p:sp>
      <p:sp>
        <p:nvSpPr>
          <p:cNvPr id="18" name="With RAG"/>
          <p:cNvSpPr/>
          <p:nvPr/>
        </p:nvSpPr>
        <p:spPr>
          <a:xfrm>
            <a:off x="6217920" y="3657600"/>
            <a:ext cx="5394960" cy="1828800"/>
          </a:xfrm>
          <a:prstGeom prst="roundRect">
            <a:avLst>
              <a:gd name="adj" fmla="val 5000"/>
            </a:avLst>
          </a:prstGeom>
          <a:solidFill>
            <a:srgbClr val="FEF3C7"/>
          </a:solidFill>
          <a:ln w="12700">
            <a:solidFill>
              <a:srgbClr val="F59E0B"/>
            </a:solidFill>
            <a:prstDash val="solid"/>
          </a:ln>
        </p:spPr>
      </p:sp>
      <p:sp>
        <p:nvSpPr>
          <p:cNvPr id="19" name="Text 16"/>
          <p:cNvSpPr txBox="1"/>
          <p:nvPr/>
        </p:nvSpPr>
        <p:spPr>
          <a:xfrm>
            <a:off x="6446520" y="3794760"/>
            <a:ext cx="4937760" cy="365760"/>
          </a:xfrm>
          <a:prstGeom prst="rect">
            <a:avLst/>
          </a:prstGeom>
          <a:noFill/>
          <a:ln/>
        </p:spPr>
        <p:txBody>
          <a:bodyPr wrap="square" lIns="0" tIns="0" rIns="0" bIns="0" rtlCol="0" anchor="t"/>
          <a:lstStyle/>
          <a:p>
            <a:pPr marL="0" indent="0">
              <a:buNone/>
            </a:pPr>
            <a:r>
              <a:rPr lang="en-US" sz="1800" b="1" dirty="0">
                <a:solidFill>
                  <a:srgbClr val="0B1437"/>
                </a:solidFill>
              </a:rPr>
              <a:t>With RAG</a:t>
            </a:r>
            <a:endParaRPr lang="en-US" sz="1800" dirty="0"/>
          </a:p>
        </p:txBody>
      </p:sp>
      <p:sp>
        <p:nvSpPr>
          <p:cNvPr id="20" name="Text 17"/>
          <p:cNvSpPr txBox="1"/>
          <p:nvPr/>
        </p:nvSpPr>
        <p:spPr>
          <a:xfrm>
            <a:off x="6446520" y="4251960"/>
            <a:ext cx="4937760" cy="1143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93B"/>
                </a:solidFill>
              </a:rPr>
              <a:t>The model answers from retrieved documents</a:t>
            </a:r>
            <a:endParaRPr lang="en-US" sz="1500" dirty="0"/>
          </a:p>
          <a:p>
            <a:pPr marL="342900" indent="-342900">
              <a:spcAft>
                <a:spcPts val="800"/>
              </a:spcAft>
              <a:buSzPct val="100000"/>
              <a:buChar char="•"/>
            </a:pPr>
            <a:r>
              <a:rPr lang="en-US" sz="1500" dirty="0">
                <a:solidFill>
                  <a:srgbClr val="1E293B"/>
                </a:solidFill>
              </a:rPr>
              <a:t>Answers can cite their sources</a:t>
            </a:r>
            <a:endParaRPr lang="en-US" sz="1500" dirty="0"/>
          </a:p>
          <a:p>
            <a:pPr marL="342900" indent="-342900">
              <a:spcAft>
                <a:spcPts val="800"/>
              </a:spcAft>
              <a:buSzPct val="100000"/>
              <a:buChar char="•"/>
            </a:pPr>
            <a:r>
              <a:rPr lang="en-US" sz="1500" dirty="0">
                <a:solidFill>
                  <a:srgbClr val="1E293B"/>
                </a:solidFill>
              </a:rPr>
              <a:t>It can refuse when evidence is missing</a:t>
            </a:r>
            <a:endParaRPr lang="en-US" sz="1500" dirty="0"/>
          </a:p>
        </p:txBody>
      </p:sp>
      <p:sp>
        <p:nvSpPr>
          <p:cNvPr id="21" name="Callout"/>
          <p:cNvSpPr/>
          <p:nvPr/>
        </p:nvSpPr>
        <p:spPr>
          <a:xfrm>
            <a:off x="548640" y="5715000"/>
            <a:ext cx="11064240" cy="548640"/>
          </a:xfrm>
          <a:prstGeom prst="roundRect">
            <a:avLst>
              <a:gd name="adj" fmla="val 16667"/>
            </a:avLst>
          </a:prstGeom>
          <a:solidFill>
            <a:srgbClr val="E0F2FE"/>
          </a:solidFill>
          <a:ln w="12700">
            <a:solidFill>
              <a:srgbClr val="0EA5E9"/>
            </a:solidFill>
            <a:prstDash val="solid"/>
          </a:ln>
        </p:spPr>
      </p:sp>
      <p:sp>
        <p:nvSpPr>
          <p:cNvPr id="22" name="Text 19"/>
          <p:cNvSpPr txBox="1"/>
          <p:nvPr/>
        </p:nvSpPr>
        <p:spPr>
          <a:xfrm>
            <a:off x="777240" y="5715000"/>
            <a:ext cx="10607040" cy="548640"/>
          </a:xfrm>
          <a:prstGeom prst="rect">
            <a:avLst/>
          </a:prstGeom>
          <a:noFill/>
          <a:ln/>
        </p:spPr>
        <p:txBody>
          <a:bodyPr wrap="square" lIns="0" tIns="0" rIns="0" bIns="0" rtlCol="0" anchor="ctr"/>
          <a:lstStyle/>
          <a:p>
            <a:pPr marL="0" indent="0">
              <a:buNone/>
            </a:pPr>
            <a:r>
              <a:rPr lang="en-US" sz="1500" b="1" dirty="0">
                <a:solidFill>
                  <a:srgbClr val="1E293B"/>
                </a:solidFill>
              </a:rPr>
              <a:t>Think of it as:  </a:t>
            </a:r>
            <a:r>
              <a:rPr lang="en-US" sz="1500" dirty="0">
                <a:solidFill>
                  <a:srgbClr val="1E293B"/>
                </a:solidFill>
              </a:rPr>
              <a:t>an open-book exam. The model reads the right pages before it answers.</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ection pill"/>
          <p:cNvSpPr/>
          <p:nvPr/>
        </p:nvSpPr>
        <p:spPr>
          <a:xfrm>
            <a:off x="548640" y="384048"/>
            <a:ext cx="2107692" cy="274320"/>
          </a:xfrm>
          <a:prstGeom prst="roundRect">
            <a:avLst>
              <a:gd name="adj" fmla="val 50000"/>
            </a:avLst>
          </a:prstGeom>
          <a:solidFill>
            <a:srgbClr val="0369A1"/>
          </a:solidFill>
          <a:ln/>
        </p:spPr>
        <p:txBody>
          <a:bodyPr wrap="square" lIns="0" tIns="0" rIns="0" bIns="0" rtlCol="0" anchor="ctr"/>
          <a:lstStyle/>
          <a:p>
            <a:pPr marL="0" indent="0" algn="ctr">
              <a:buNone/>
            </a:pPr>
            <a:r>
              <a:rPr lang="en-US" sz="1100" b="1" kern="0" spc="100" dirty="0">
                <a:solidFill>
                  <a:srgbClr val="FFFFFF"/>
                </a:solidFill>
              </a:rPr>
              <a:t>PART 1  ·  OVERVIEW</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Technology stack</a:t>
            </a:r>
            <a:endParaRPr lang="en-US" sz="3200" dirty="0"/>
          </a:p>
        </p:txBody>
      </p:sp>
      <p:sp>
        <p:nvSpPr>
          <p:cNvPr id="5" name="Tech card Python"/>
          <p:cNvSpPr/>
          <p:nvPr/>
        </p:nvSpPr>
        <p:spPr>
          <a:xfrm>
            <a:off x="548640" y="1783080"/>
            <a:ext cx="2606040" cy="2697480"/>
          </a:xfrm>
          <a:prstGeom prst="roundRect">
            <a:avLst>
              <a:gd name="adj" fmla="val 3509"/>
            </a:avLst>
          </a:prstGeom>
          <a:solidFill>
            <a:srgbClr val="F1F5F9"/>
          </a:solidFill>
          <a:ln w="12700">
            <a:solidFill>
              <a:srgbClr val="CBD5E1"/>
            </a:solidFill>
            <a:prstDash val="solid"/>
          </a:ln>
        </p:spPr>
      </p:sp>
      <p:sp>
        <p:nvSpPr>
          <p:cNvPr id="6" name="Tag"/>
          <p:cNvSpPr/>
          <p:nvPr/>
        </p:nvSpPr>
        <p:spPr>
          <a:xfrm>
            <a:off x="777240" y="2011680"/>
            <a:ext cx="1130198" cy="274320"/>
          </a:xfrm>
          <a:prstGeom prst="roundRect">
            <a:avLst>
              <a:gd name="adj" fmla="val 50000"/>
            </a:avLst>
          </a:prstGeom>
          <a:solidFill>
            <a:srgbClr val="0369A1"/>
          </a:solidFill>
          <a:ln/>
        </p:spPr>
        <p:txBody>
          <a:bodyPr wrap="square" lIns="0" tIns="0" rIns="0" bIns="0" rtlCol="0" anchor="ctr"/>
          <a:lstStyle/>
          <a:p>
            <a:pPr marL="0" indent="0" algn="ctr">
              <a:buNone/>
            </a:pPr>
            <a:r>
              <a:rPr lang="en-US" sz="1100" b="1" kern="0" spc="100" dirty="0">
                <a:solidFill>
                  <a:srgbClr val="FFFFFF"/>
                </a:solidFill>
              </a:rPr>
              <a:t>LANGUAGE</a:t>
            </a:r>
            <a:endParaRPr lang="en-US" sz="1100" dirty="0"/>
          </a:p>
        </p:txBody>
      </p:sp>
      <p:sp>
        <p:nvSpPr>
          <p:cNvPr id="7" name="Text 4"/>
          <p:cNvSpPr txBox="1"/>
          <p:nvPr/>
        </p:nvSpPr>
        <p:spPr>
          <a:xfrm>
            <a:off x="777240" y="2514600"/>
            <a:ext cx="2194560" cy="685800"/>
          </a:xfrm>
          <a:prstGeom prst="rect">
            <a:avLst/>
          </a:prstGeom>
          <a:noFill/>
          <a:ln/>
        </p:spPr>
        <p:txBody>
          <a:bodyPr wrap="square" lIns="0" tIns="0" rIns="0" bIns="0" rtlCol="0" anchor="t"/>
          <a:lstStyle/>
          <a:p>
            <a:pPr marL="0" indent="0">
              <a:buNone/>
            </a:pPr>
            <a:r>
              <a:rPr lang="en-US" sz="2000" b="1" dirty="0">
                <a:solidFill>
                  <a:srgbClr val="0B1437"/>
                </a:solidFill>
                <a:latin typeface="Cambria" pitchFamily="34" charset="0"/>
                <a:ea typeface="Cambria" pitchFamily="34" charset="-122"/>
                <a:cs typeface="Cambria" pitchFamily="34" charset="-120"/>
              </a:rPr>
              <a:t>Python</a:t>
            </a:r>
            <a:endParaRPr lang="en-US" sz="2000" dirty="0"/>
          </a:p>
        </p:txBody>
      </p:sp>
      <p:sp>
        <p:nvSpPr>
          <p:cNvPr id="8" name="Text 5"/>
          <p:cNvSpPr txBox="1"/>
          <p:nvPr/>
        </p:nvSpPr>
        <p:spPr>
          <a:xfrm>
            <a:off x="777240" y="3246120"/>
            <a:ext cx="2194560" cy="1097280"/>
          </a:xfrm>
          <a:prstGeom prst="rect">
            <a:avLst/>
          </a:prstGeom>
          <a:noFill/>
          <a:ln/>
        </p:spPr>
        <p:txBody>
          <a:bodyPr wrap="square" lIns="0" tIns="0" rIns="0" bIns="0" rtlCol="0" anchor="t"/>
          <a:lstStyle/>
          <a:p>
            <a:pPr marL="0" indent="0">
              <a:buNone/>
            </a:pPr>
            <a:r>
              <a:rPr lang="en-US" sz="1500" dirty="0">
                <a:solidFill>
                  <a:srgbClr val="1E293B"/>
                </a:solidFill>
              </a:rPr>
              <a:t>Main language. Connects every step of the pipeline.</a:t>
            </a:r>
            <a:endParaRPr lang="en-US" sz="1500" dirty="0"/>
          </a:p>
        </p:txBody>
      </p:sp>
      <p:sp>
        <p:nvSpPr>
          <p:cNvPr id="9" name="Tech card Ollama + Qwen3:8b"/>
          <p:cNvSpPr/>
          <p:nvPr/>
        </p:nvSpPr>
        <p:spPr>
          <a:xfrm>
            <a:off x="3376879" y="1783080"/>
            <a:ext cx="2606040" cy="2697480"/>
          </a:xfrm>
          <a:prstGeom prst="roundRect">
            <a:avLst>
              <a:gd name="adj" fmla="val 3509"/>
            </a:avLst>
          </a:prstGeom>
          <a:solidFill>
            <a:srgbClr val="F1F5F9"/>
          </a:solidFill>
          <a:ln w="12700">
            <a:solidFill>
              <a:srgbClr val="CBD5E1"/>
            </a:solidFill>
            <a:prstDash val="solid"/>
          </a:ln>
        </p:spPr>
      </p:sp>
      <p:sp>
        <p:nvSpPr>
          <p:cNvPr id="10" name="Tag"/>
          <p:cNvSpPr/>
          <p:nvPr/>
        </p:nvSpPr>
        <p:spPr>
          <a:xfrm>
            <a:off x="3605479" y="2011680"/>
            <a:ext cx="1214323" cy="274320"/>
          </a:xfrm>
          <a:prstGeom prst="roundRect">
            <a:avLst>
              <a:gd name="adj" fmla="val 50000"/>
            </a:avLst>
          </a:prstGeom>
          <a:solidFill>
            <a:srgbClr val="6D28D9"/>
          </a:solidFill>
          <a:ln/>
        </p:spPr>
        <p:txBody>
          <a:bodyPr wrap="square" lIns="0" tIns="0" rIns="0" bIns="0" rtlCol="0" anchor="ctr"/>
          <a:lstStyle/>
          <a:p>
            <a:pPr marL="0" indent="0" algn="ctr">
              <a:buNone/>
            </a:pPr>
            <a:r>
              <a:rPr lang="en-US" sz="1100" b="1" kern="0" spc="100" dirty="0">
                <a:solidFill>
                  <a:srgbClr val="FFFFFF"/>
                </a:solidFill>
              </a:rPr>
              <a:t>LOCAL LLM</a:t>
            </a:r>
            <a:endParaRPr lang="en-US" sz="1100" dirty="0"/>
          </a:p>
        </p:txBody>
      </p:sp>
      <p:sp>
        <p:nvSpPr>
          <p:cNvPr id="11" name="Text 8"/>
          <p:cNvSpPr txBox="1"/>
          <p:nvPr/>
        </p:nvSpPr>
        <p:spPr>
          <a:xfrm>
            <a:off x="3605479" y="2514600"/>
            <a:ext cx="2194560" cy="685800"/>
          </a:xfrm>
          <a:prstGeom prst="rect">
            <a:avLst/>
          </a:prstGeom>
          <a:noFill/>
          <a:ln/>
        </p:spPr>
        <p:txBody>
          <a:bodyPr wrap="square" lIns="0" tIns="0" rIns="0" bIns="0" rtlCol="0" anchor="t"/>
          <a:lstStyle/>
          <a:p>
            <a:pPr marL="0" indent="0">
              <a:buNone/>
            </a:pPr>
            <a:r>
              <a:rPr lang="en-US" sz="2000" b="1" dirty="0">
                <a:solidFill>
                  <a:srgbClr val="0B1437"/>
                </a:solidFill>
                <a:latin typeface="Cambria" pitchFamily="34" charset="0"/>
                <a:ea typeface="Cambria" pitchFamily="34" charset="-122"/>
                <a:cs typeface="Cambria" pitchFamily="34" charset="-120"/>
              </a:rPr>
              <a:t>Ollama + Qwen3:8b</a:t>
            </a:r>
            <a:endParaRPr lang="en-US" sz="2000" dirty="0"/>
          </a:p>
        </p:txBody>
      </p:sp>
      <p:sp>
        <p:nvSpPr>
          <p:cNvPr id="12" name="Text 9"/>
          <p:cNvSpPr txBox="1"/>
          <p:nvPr/>
        </p:nvSpPr>
        <p:spPr>
          <a:xfrm>
            <a:off x="3605479" y="3246120"/>
            <a:ext cx="2194560" cy="1097280"/>
          </a:xfrm>
          <a:prstGeom prst="rect">
            <a:avLst/>
          </a:prstGeom>
          <a:noFill/>
          <a:ln/>
        </p:spPr>
        <p:txBody>
          <a:bodyPr wrap="square" lIns="0" tIns="0" rIns="0" bIns="0" rtlCol="0" anchor="t"/>
          <a:lstStyle/>
          <a:p>
            <a:pPr marL="0" indent="0">
              <a:buNone/>
            </a:pPr>
            <a:r>
              <a:rPr lang="en-US" sz="1500" dirty="0">
                <a:solidFill>
                  <a:srgbClr val="1E293B"/>
                </a:solidFill>
              </a:rPr>
              <a:t>Runs the language model on our own machine to write answers.</a:t>
            </a:r>
            <a:endParaRPr lang="en-US" sz="1500" dirty="0"/>
          </a:p>
        </p:txBody>
      </p:sp>
      <p:sp>
        <p:nvSpPr>
          <p:cNvPr id="13" name="Tech card nomic-embed-text"/>
          <p:cNvSpPr/>
          <p:nvPr/>
        </p:nvSpPr>
        <p:spPr>
          <a:xfrm>
            <a:off x="6205118" y="1783080"/>
            <a:ext cx="2606040" cy="2697480"/>
          </a:xfrm>
          <a:prstGeom prst="roundRect">
            <a:avLst>
              <a:gd name="adj" fmla="val 3509"/>
            </a:avLst>
          </a:prstGeom>
          <a:solidFill>
            <a:srgbClr val="F1F5F9"/>
          </a:solidFill>
          <a:ln w="12700">
            <a:solidFill>
              <a:srgbClr val="CBD5E1"/>
            </a:solidFill>
            <a:prstDash val="solid"/>
          </a:ln>
        </p:spPr>
      </p:sp>
      <p:sp>
        <p:nvSpPr>
          <p:cNvPr id="14" name="Tag"/>
          <p:cNvSpPr/>
          <p:nvPr/>
        </p:nvSpPr>
        <p:spPr>
          <a:xfrm>
            <a:off x="6433718" y="2011680"/>
            <a:ext cx="1298448" cy="274320"/>
          </a:xfrm>
          <a:prstGeom prst="roundRect">
            <a:avLst>
              <a:gd name="adj" fmla="val 50000"/>
            </a:avLst>
          </a:prstGeom>
          <a:solidFill>
            <a:srgbClr val="047857"/>
          </a:solidFill>
          <a:ln/>
        </p:spPr>
        <p:txBody>
          <a:bodyPr wrap="square" lIns="0" tIns="0" rIns="0" bIns="0" rtlCol="0" anchor="ctr"/>
          <a:lstStyle/>
          <a:p>
            <a:pPr marL="0" indent="0" algn="ctr">
              <a:buNone/>
            </a:pPr>
            <a:r>
              <a:rPr lang="en-US" sz="1100" b="1" kern="0" spc="100" dirty="0">
                <a:solidFill>
                  <a:srgbClr val="FFFFFF"/>
                </a:solidFill>
              </a:rPr>
              <a:t>EMBEDDINGS</a:t>
            </a:r>
            <a:endParaRPr lang="en-US" sz="1100" dirty="0"/>
          </a:p>
        </p:txBody>
      </p:sp>
      <p:sp>
        <p:nvSpPr>
          <p:cNvPr id="15" name="Text 12"/>
          <p:cNvSpPr txBox="1"/>
          <p:nvPr/>
        </p:nvSpPr>
        <p:spPr>
          <a:xfrm>
            <a:off x="6433718" y="2514600"/>
            <a:ext cx="2194560" cy="685800"/>
          </a:xfrm>
          <a:prstGeom prst="rect">
            <a:avLst/>
          </a:prstGeom>
          <a:noFill/>
          <a:ln/>
        </p:spPr>
        <p:txBody>
          <a:bodyPr wrap="square" lIns="0" tIns="0" rIns="0" bIns="0" rtlCol="0" anchor="t"/>
          <a:lstStyle/>
          <a:p>
            <a:pPr marL="0" indent="0">
              <a:buNone/>
            </a:pPr>
            <a:r>
              <a:rPr lang="en-US" sz="2000" b="1" dirty="0">
                <a:solidFill>
                  <a:srgbClr val="0B1437"/>
                </a:solidFill>
                <a:latin typeface="Cambria" pitchFamily="34" charset="0"/>
                <a:ea typeface="Cambria" pitchFamily="34" charset="-122"/>
                <a:cs typeface="Cambria" pitchFamily="34" charset="-120"/>
              </a:rPr>
              <a:t>nomic-embed-text</a:t>
            </a:r>
            <a:endParaRPr lang="en-US" sz="2000" dirty="0"/>
          </a:p>
        </p:txBody>
      </p:sp>
      <p:sp>
        <p:nvSpPr>
          <p:cNvPr id="16" name="Text 13"/>
          <p:cNvSpPr txBox="1"/>
          <p:nvPr/>
        </p:nvSpPr>
        <p:spPr>
          <a:xfrm>
            <a:off x="6433718" y="3246120"/>
            <a:ext cx="2194560" cy="1097280"/>
          </a:xfrm>
          <a:prstGeom prst="rect">
            <a:avLst/>
          </a:prstGeom>
          <a:noFill/>
          <a:ln/>
        </p:spPr>
        <p:txBody>
          <a:bodyPr wrap="square" lIns="0" tIns="0" rIns="0" bIns="0" rtlCol="0" anchor="t"/>
          <a:lstStyle/>
          <a:p>
            <a:pPr marL="0" indent="0">
              <a:buNone/>
            </a:pPr>
            <a:r>
              <a:rPr lang="en-US" sz="1500" dirty="0">
                <a:solidFill>
                  <a:srgbClr val="1E293B"/>
                </a:solidFill>
              </a:rPr>
              <a:t>Turns document chunks and questions into vectors.</a:t>
            </a:r>
            <a:endParaRPr lang="en-US" sz="1500" dirty="0"/>
          </a:p>
        </p:txBody>
      </p:sp>
      <p:sp>
        <p:nvSpPr>
          <p:cNvPr id="17" name="Tech card ChromaDB"/>
          <p:cNvSpPr/>
          <p:nvPr/>
        </p:nvSpPr>
        <p:spPr>
          <a:xfrm>
            <a:off x="9033358" y="1783080"/>
            <a:ext cx="2606040" cy="2697480"/>
          </a:xfrm>
          <a:prstGeom prst="roundRect">
            <a:avLst>
              <a:gd name="adj" fmla="val 3509"/>
            </a:avLst>
          </a:prstGeom>
          <a:solidFill>
            <a:srgbClr val="F1F5F9"/>
          </a:solidFill>
          <a:ln w="12700">
            <a:solidFill>
              <a:srgbClr val="CBD5E1"/>
            </a:solidFill>
            <a:prstDash val="solid"/>
          </a:ln>
        </p:spPr>
      </p:sp>
      <p:sp>
        <p:nvSpPr>
          <p:cNvPr id="18" name="Tag"/>
          <p:cNvSpPr/>
          <p:nvPr/>
        </p:nvSpPr>
        <p:spPr>
          <a:xfrm>
            <a:off x="9261958" y="2011680"/>
            <a:ext cx="1719072" cy="274320"/>
          </a:xfrm>
          <a:prstGeom prst="roundRect">
            <a:avLst>
              <a:gd name="adj" fmla="val 50000"/>
            </a:avLst>
          </a:prstGeom>
          <a:solidFill>
            <a:srgbClr val="B45309"/>
          </a:solidFill>
          <a:ln/>
        </p:spPr>
        <p:txBody>
          <a:bodyPr wrap="square" lIns="0" tIns="0" rIns="0" bIns="0" rtlCol="0" anchor="ctr"/>
          <a:lstStyle/>
          <a:p>
            <a:pPr marL="0" indent="0" algn="ctr">
              <a:buNone/>
            </a:pPr>
            <a:r>
              <a:rPr lang="en-US" sz="1100" b="1" kern="0" spc="100" dirty="0">
                <a:solidFill>
                  <a:srgbClr val="FFFFFF"/>
                </a:solidFill>
              </a:rPr>
              <a:t>VECTOR DATABASE</a:t>
            </a:r>
            <a:endParaRPr lang="en-US" sz="1100" dirty="0"/>
          </a:p>
        </p:txBody>
      </p:sp>
      <p:sp>
        <p:nvSpPr>
          <p:cNvPr id="19" name="Text 16"/>
          <p:cNvSpPr txBox="1"/>
          <p:nvPr/>
        </p:nvSpPr>
        <p:spPr>
          <a:xfrm>
            <a:off x="9261958" y="2514600"/>
            <a:ext cx="2194560" cy="685800"/>
          </a:xfrm>
          <a:prstGeom prst="rect">
            <a:avLst/>
          </a:prstGeom>
          <a:noFill/>
          <a:ln/>
        </p:spPr>
        <p:txBody>
          <a:bodyPr wrap="square" lIns="0" tIns="0" rIns="0" bIns="0" rtlCol="0" anchor="t"/>
          <a:lstStyle/>
          <a:p>
            <a:pPr marL="0" indent="0">
              <a:buNone/>
            </a:pPr>
            <a:r>
              <a:rPr lang="en-US" sz="2000" b="1" dirty="0">
                <a:solidFill>
                  <a:srgbClr val="0B1437"/>
                </a:solidFill>
                <a:latin typeface="Cambria" pitchFamily="34" charset="0"/>
                <a:ea typeface="Cambria" pitchFamily="34" charset="-122"/>
                <a:cs typeface="Cambria" pitchFamily="34" charset="-120"/>
              </a:rPr>
              <a:t>ChromaDB</a:t>
            </a:r>
            <a:endParaRPr lang="en-US" sz="2000" dirty="0"/>
          </a:p>
        </p:txBody>
      </p:sp>
      <p:sp>
        <p:nvSpPr>
          <p:cNvPr id="20" name="Text 17"/>
          <p:cNvSpPr txBox="1"/>
          <p:nvPr/>
        </p:nvSpPr>
        <p:spPr>
          <a:xfrm>
            <a:off x="9261958" y="3246120"/>
            <a:ext cx="2194560" cy="1097280"/>
          </a:xfrm>
          <a:prstGeom prst="rect">
            <a:avLst/>
          </a:prstGeom>
          <a:noFill/>
          <a:ln/>
        </p:spPr>
        <p:txBody>
          <a:bodyPr wrap="square" lIns="0" tIns="0" rIns="0" bIns="0" rtlCol="0" anchor="t"/>
          <a:lstStyle/>
          <a:p>
            <a:pPr marL="0" indent="0">
              <a:buNone/>
            </a:pPr>
            <a:r>
              <a:rPr lang="en-US" sz="1500" dirty="0">
                <a:solidFill>
                  <a:srgbClr val="1E293B"/>
                </a:solidFill>
              </a:rPr>
              <a:t>Stores vectors, chunk text and metadata for search.</a:t>
            </a:r>
            <a:endParaRPr lang="en-US" sz="1500" dirty="0"/>
          </a:p>
        </p:txBody>
      </p:sp>
      <p:sp>
        <p:nvSpPr>
          <p:cNvPr id="21" name="Text 18"/>
          <p:cNvSpPr txBox="1"/>
          <p:nvPr/>
        </p:nvSpPr>
        <p:spPr>
          <a:xfrm>
            <a:off x="548640" y="4754880"/>
            <a:ext cx="5486400" cy="365760"/>
          </a:xfrm>
          <a:prstGeom prst="rect">
            <a:avLst/>
          </a:prstGeom>
          <a:noFill/>
          <a:ln/>
        </p:spPr>
        <p:txBody>
          <a:bodyPr wrap="square" lIns="0" tIns="0" rIns="0" bIns="0" rtlCol="0" anchor="t"/>
          <a:lstStyle/>
          <a:p>
            <a:pPr marL="0" indent="0">
              <a:buNone/>
            </a:pPr>
            <a:r>
              <a:rPr lang="en-US" sz="2000" b="1" dirty="0">
                <a:solidFill>
                  <a:srgbClr val="0B1437"/>
                </a:solidFill>
              </a:rPr>
              <a:t>Key features</a:t>
            </a:r>
            <a:endParaRPr lang="en-US" sz="2000" dirty="0"/>
          </a:p>
        </p:txBody>
      </p:sp>
      <p:sp>
        <p:nvSpPr>
          <p:cNvPr id="22" name="Box"/>
          <p:cNvSpPr/>
          <p:nvPr/>
        </p:nvSpPr>
        <p:spPr>
          <a:xfrm>
            <a:off x="548640" y="5257800"/>
            <a:ext cx="2075688" cy="594360"/>
          </a:xfrm>
          <a:prstGeom prst="roundRect">
            <a:avLst>
              <a:gd name="adj" fmla="val 15385"/>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369A1"/>
                </a:solidFill>
              </a:rPr>
              <a:t>Semantic search</a:t>
            </a:r>
            <a:endParaRPr lang="en-US" sz="1500" dirty="0"/>
          </a:p>
        </p:txBody>
      </p:sp>
      <p:sp>
        <p:nvSpPr>
          <p:cNvPr id="23" name="Box"/>
          <p:cNvSpPr/>
          <p:nvPr/>
        </p:nvSpPr>
        <p:spPr>
          <a:xfrm>
            <a:off x="2807208" y="5257800"/>
            <a:ext cx="2075688" cy="594360"/>
          </a:xfrm>
          <a:prstGeom prst="roundRect">
            <a:avLst>
              <a:gd name="adj" fmla="val 15385"/>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369A1"/>
                </a:solidFill>
              </a:rPr>
              <a:t>Grounded answers</a:t>
            </a:r>
            <a:endParaRPr lang="en-US" sz="1500" dirty="0"/>
          </a:p>
        </p:txBody>
      </p:sp>
      <p:sp>
        <p:nvSpPr>
          <p:cNvPr id="24" name="Box"/>
          <p:cNvSpPr/>
          <p:nvPr/>
        </p:nvSpPr>
        <p:spPr>
          <a:xfrm>
            <a:off x="5065776" y="5257800"/>
            <a:ext cx="2075688" cy="594360"/>
          </a:xfrm>
          <a:prstGeom prst="roundRect">
            <a:avLst>
              <a:gd name="adj" fmla="val 15385"/>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369A1"/>
                </a:solidFill>
              </a:rPr>
              <a:t>Source citations</a:t>
            </a:r>
            <a:endParaRPr lang="en-US" sz="1500" dirty="0"/>
          </a:p>
        </p:txBody>
      </p:sp>
      <p:sp>
        <p:nvSpPr>
          <p:cNvPr id="25" name="Box"/>
          <p:cNvSpPr/>
          <p:nvPr/>
        </p:nvSpPr>
        <p:spPr>
          <a:xfrm>
            <a:off x="7324344" y="5257800"/>
            <a:ext cx="2075688" cy="594360"/>
          </a:xfrm>
          <a:prstGeom prst="roundRect">
            <a:avLst>
              <a:gd name="adj" fmla="val 15385"/>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369A1"/>
                </a:solidFill>
              </a:rPr>
              <a:t>Refusal if unsure</a:t>
            </a:r>
            <a:endParaRPr lang="en-US" sz="1500" dirty="0"/>
          </a:p>
        </p:txBody>
      </p:sp>
      <p:sp>
        <p:nvSpPr>
          <p:cNvPr id="26" name="Box"/>
          <p:cNvSpPr/>
          <p:nvPr/>
        </p:nvSpPr>
        <p:spPr>
          <a:xfrm>
            <a:off x="9582912" y="5257800"/>
            <a:ext cx="2075688" cy="594360"/>
          </a:xfrm>
          <a:prstGeom prst="roundRect">
            <a:avLst>
              <a:gd name="adj" fmla="val 15385"/>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369A1"/>
                </a:solidFill>
              </a:rPr>
              <a:t>Audit logging</a:t>
            </a:r>
            <a:endParaRPr lang="en-US" sz="1500" dirty="0"/>
          </a:p>
        </p:txBody>
      </p:sp>
      <p:sp>
        <p:nvSpPr>
          <p:cNvPr id="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ection pill"/>
          <p:cNvSpPr/>
          <p:nvPr/>
        </p:nvSpPr>
        <p:spPr>
          <a:xfrm>
            <a:off x="548640" y="384048"/>
            <a:ext cx="2455164" cy="274320"/>
          </a:xfrm>
          <a:prstGeom prst="roundRect">
            <a:avLst>
              <a:gd name="adj" fmla="val 50000"/>
            </a:avLst>
          </a:prstGeom>
          <a:solidFill>
            <a:srgbClr val="6D28D9"/>
          </a:solidFill>
          <a:ln/>
        </p:spPr>
        <p:txBody>
          <a:bodyPr wrap="square" lIns="0" tIns="0" rIns="0" bIns="0" rtlCol="0" anchor="ctr"/>
          <a:lstStyle/>
          <a:p>
            <a:pPr marL="0" indent="0" algn="ctr">
              <a:buNone/>
            </a:pPr>
            <a:r>
              <a:rPr lang="en-US" sz="1100" b="1" kern="0" spc="100" dirty="0">
                <a:solidFill>
                  <a:srgbClr val="FFFFFF"/>
                </a:solidFill>
              </a:rPr>
              <a:t>PART 2  ·  ARCHITECTURE</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System architecture</a:t>
            </a:r>
            <a:endParaRPr lang="en-US" sz="3200" dirty="0"/>
          </a:p>
        </p:txBody>
      </p:sp>
      <p:sp>
        <p:nvSpPr>
          <p:cNvPr id="5" name="Text 2"/>
          <p:cNvSpPr txBox="1"/>
          <p:nvPr/>
        </p:nvSpPr>
        <p:spPr>
          <a:xfrm>
            <a:off x="548640" y="1572768"/>
            <a:ext cx="5486400" cy="274320"/>
          </a:xfrm>
          <a:prstGeom prst="rect">
            <a:avLst/>
          </a:prstGeom>
          <a:noFill/>
          <a:ln/>
        </p:spPr>
        <p:txBody>
          <a:bodyPr wrap="square" lIns="0" tIns="0" rIns="0" bIns="0" rtlCol="0" anchor="t"/>
          <a:lstStyle/>
          <a:p>
            <a:pPr marL="0" indent="0">
              <a:buNone/>
            </a:pPr>
            <a:r>
              <a:rPr lang="en-US" sz="1200" b="1" kern="0" spc="200" dirty="0">
                <a:solidFill>
                  <a:srgbClr val="047857"/>
                </a:solidFill>
              </a:rPr>
              <a:t>OFFLINE  ·  INGESTION (run once)</a:t>
            </a:r>
            <a:endParaRPr lang="en-US" sz="1200" dirty="0"/>
          </a:p>
        </p:txBody>
      </p:sp>
      <p:sp>
        <p:nvSpPr>
          <p:cNvPr id="6" name="Box"/>
          <p:cNvSpPr/>
          <p:nvPr/>
        </p:nvSpPr>
        <p:spPr>
          <a:xfrm>
            <a:off x="731520" y="1920240"/>
            <a:ext cx="1783080" cy="914400"/>
          </a:xfrm>
          <a:prstGeom prst="roundRect">
            <a:avLst>
              <a:gd name="adj" fmla="val 10000"/>
            </a:avLst>
          </a:prstGeom>
          <a:solidFill>
            <a:srgbClr val="D1FAE5"/>
          </a:solidFill>
          <a:ln w="12700">
            <a:solidFill>
              <a:srgbClr val="047857"/>
            </a:solidFill>
          </a:ln>
        </p:spPr>
        <p:txBody>
          <a:bodyPr wrap="square" lIns="50800" tIns="50800" rIns="50800" bIns="50800" rtlCol="0" anchor="ctr"/>
          <a:lstStyle/>
          <a:p>
            <a:pPr marL="0" indent="0" algn="ctr">
              <a:buNone/>
            </a:pPr>
            <a:r>
              <a:rPr lang="en-US" sz="1400" b="1" dirty="0">
                <a:solidFill>
                  <a:srgbClr val="0B1437"/>
                </a:solidFill>
              </a:rPr>
              <a:t>10 company PDFs</a:t>
            </a:r>
            <a:endParaRPr lang="en-US" sz="1400" dirty="0"/>
          </a:p>
        </p:txBody>
      </p:sp>
      <p:sp>
        <p:nvSpPr>
          <p:cNvPr id="7" name="Connector"/>
          <p:cNvSpPr/>
          <p:nvPr/>
        </p:nvSpPr>
        <p:spPr>
          <a:xfrm>
            <a:off x="2514600" y="2377440"/>
            <a:ext cx="457200" cy="0"/>
          </a:xfrm>
          <a:prstGeom prst="line">
            <a:avLst/>
          </a:prstGeom>
          <a:noFill/>
          <a:ln w="22225">
            <a:solidFill>
              <a:srgbClr val="64748B"/>
            </a:solidFill>
            <a:prstDash val="solid"/>
            <a:tailEnd type="triangle"/>
          </a:ln>
        </p:spPr>
      </p:sp>
      <p:sp>
        <p:nvSpPr>
          <p:cNvPr id="8" name="Box"/>
          <p:cNvSpPr/>
          <p:nvPr/>
        </p:nvSpPr>
        <p:spPr>
          <a:xfrm>
            <a:off x="2971800" y="1920240"/>
            <a:ext cx="1783080" cy="914400"/>
          </a:xfrm>
          <a:prstGeom prst="roundRect">
            <a:avLst>
              <a:gd name="adj" fmla="val 10000"/>
            </a:avLst>
          </a:prstGeom>
          <a:solidFill>
            <a:srgbClr val="D1FAE5"/>
          </a:solidFill>
          <a:ln w="12700">
            <a:solidFill>
              <a:srgbClr val="047857"/>
            </a:solidFill>
          </a:ln>
        </p:spPr>
        <p:txBody>
          <a:bodyPr wrap="square" lIns="50800" tIns="50800" rIns="50800" bIns="50800" rtlCol="0" anchor="ctr"/>
          <a:lstStyle/>
          <a:p>
            <a:pPr marL="0" indent="0" algn="ctr">
              <a:buNone/>
            </a:pPr>
            <a:r>
              <a:rPr lang="en-US" sz="1400" b="1" dirty="0">
                <a:solidFill>
                  <a:srgbClr val="0B1437"/>
                </a:solidFill>
              </a:rPr>
              <a:t>PDF text extraction</a:t>
            </a:r>
            <a:endParaRPr lang="en-US" sz="1400" dirty="0"/>
          </a:p>
        </p:txBody>
      </p:sp>
      <p:sp>
        <p:nvSpPr>
          <p:cNvPr id="9" name="Connector"/>
          <p:cNvSpPr/>
          <p:nvPr/>
        </p:nvSpPr>
        <p:spPr>
          <a:xfrm>
            <a:off x="4754880" y="2377440"/>
            <a:ext cx="457200" cy="0"/>
          </a:xfrm>
          <a:prstGeom prst="line">
            <a:avLst/>
          </a:prstGeom>
          <a:noFill/>
          <a:ln w="22225">
            <a:solidFill>
              <a:srgbClr val="64748B"/>
            </a:solidFill>
            <a:prstDash val="solid"/>
            <a:tailEnd type="triangle"/>
          </a:ln>
        </p:spPr>
      </p:sp>
      <p:sp>
        <p:nvSpPr>
          <p:cNvPr id="10" name="Box"/>
          <p:cNvSpPr/>
          <p:nvPr/>
        </p:nvSpPr>
        <p:spPr>
          <a:xfrm>
            <a:off x="5212080" y="1920240"/>
            <a:ext cx="1783080" cy="914400"/>
          </a:xfrm>
          <a:prstGeom prst="roundRect">
            <a:avLst>
              <a:gd name="adj" fmla="val 10000"/>
            </a:avLst>
          </a:prstGeom>
          <a:solidFill>
            <a:srgbClr val="D1FAE5"/>
          </a:solidFill>
          <a:ln w="12700">
            <a:solidFill>
              <a:srgbClr val="047857"/>
            </a:solidFill>
          </a:ln>
        </p:spPr>
        <p:txBody>
          <a:bodyPr wrap="square" lIns="50800" tIns="50800" rIns="50800" bIns="50800" rtlCol="0" anchor="ctr"/>
          <a:lstStyle/>
          <a:p>
            <a:pPr marL="0" indent="0" algn="ctr">
              <a:buNone/>
            </a:pPr>
            <a:r>
              <a:rPr lang="en-US" sz="1400" b="1" dirty="0">
                <a:solidFill>
                  <a:srgbClr val="0B1437"/>
                </a:solidFill>
              </a:rPr>
              <a:t>Chunking</a:t>
            </a:r>
            <a:endParaRPr lang="en-US" sz="1400" dirty="0"/>
          </a:p>
        </p:txBody>
      </p:sp>
      <p:sp>
        <p:nvSpPr>
          <p:cNvPr id="11" name="Connector"/>
          <p:cNvSpPr/>
          <p:nvPr/>
        </p:nvSpPr>
        <p:spPr>
          <a:xfrm>
            <a:off x="6995160" y="2377440"/>
            <a:ext cx="457200" cy="0"/>
          </a:xfrm>
          <a:prstGeom prst="line">
            <a:avLst/>
          </a:prstGeom>
          <a:noFill/>
          <a:ln w="22225">
            <a:solidFill>
              <a:srgbClr val="64748B"/>
            </a:solidFill>
            <a:prstDash val="solid"/>
            <a:tailEnd type="triangle"/>
          </a:ln>
        </p:spPr>
      </p:sp>
      <p:sp>
        <p:nvSpPr>
          <p:cNvPr id="12" name="Box"/>
          <p:cNvSpPr/>
          <p:nvPr/>
        </p:nvSpPr>
        <p:spPr>
          <a:xfrm>
            <a:off x="7452360" y="1920240"/>
            <a:ext cx="1783080" cy="914400"/>
          </a:xfrm>
          <a:prstGeom prst="roundRect">
            <a:avLst>
              <a:gd name="adj" fmla="val 10000"/>
            </a:avLst>
          </a:prstGeom>
          <a:solidFill>
            <a:srgbClr val="D1FAE5"/>
          </a:solidFill>
          <a:ln w="12700">
            <a:solidFill>
              <a:srgbClr val="047857"/>
            </a:solidFill>
          </a:ln>
        </p:spPr>
        <p:txBody>
          <a:bodyPr wrap="square" lIns="50800" tIns="50800" rIns="50800" bIns="50800" rtlCol="0" anchor="ctr"/>
          <a:lstStyle/>
          <a:p>
            <a:pPr marL="0" indent="0" algn="ctr">
              <a:buNone/>
            </a:pPr>
            <a:r>
              <a:rPr lang="en-US" sz="1400" b="1" dirty="0">
                <a:solidFill>
                  <a:srgbClr val="0B1437"/>
                </a:solidFill>
              </a:rPr>
              <a:t>Embeddings</a:t>
            </a:r>
            <a:endParaRPr lang="en-US" sz="1400" dirty="0"/>
          </a:p>
          <a:p>
            <a:pPr marL="0" indent="0" algn="ctr">
              <a:buNone/>
            </a:pPr>
            <a:r>
              <a:rPr lang="en-US" sz="1400" b="1" dirty="0">
                <a:solidFill>
                  <a:srgbClr val="0B1437"/>
                </a:solidFill>
              </a:rPr>
              <a:t>(nomic-embed-text)</a:t>
            </a:r>
            <a:endParaRPr lang="en-US" sz="1400" dirty="0"/>
          </a:p>
        </p:txBody>
      </p:sp>
      <p:sp>
        <p:nvSpPr>
          <p:cNvPr id="13" name="Connector"/>
          <p:cNvSpPr/>
          <p:nvPr/>
        </p:nvSpPr>
        <p:spPr>
          <a:xfrm>
            <a:off x="9235440" y="2377440"/>
            <a:ext cx="457200" cy="0"/>
          </a:xfrm>
          <a:prstGeom prst="line">
            <a:avLst/>
          </a:prstGeom>
          <a:noFill/>
          <a:ln w="22225">
            <a:solidFill>
              <a:srgbClr val="64748B"/>
            </a:solidFill>
            <a:prstDash val="solid"/>
            <a:tailEnd type="triangle"/>
          </a:ln>
        </p:spPr>
      </p:sp>
      <p:sp>
        <p:nvSpPr>
          <p:cNvPr id="14" name="Box"/>
          <p:cNvSpPr/>
          <p:nvPr/>
        </p:nvSpPr>
        <p:spPr>
          <a:xfrm>
            <a:off x="9692640" y="1920240"/>
            <a:ext cx="1783080" cy="914400"/>
          </a:xfrm>
          <a:prstGeom prst="roundRect">
            <a:avLst>
              <a:gd name="adj" fmla="val 10000"/>
            </a:avLst>
          </a:prstGeom>
          <a:solidFill>
            <a:srgbClr val="FEF3C7"/>
          </a:solidFill>
          <a:ln w="19050">
            <a:solidFill>
              <a:srgbClr val="F59E0B"/>
            </a:solidFill>
          </a:ln>
        </p:spPr>
        <p:txBody>
          <a:bodyPr wrap="square" lIns="50800" tIns="50800" rIns="50800" bIns="50800" rtlCol="0" anchor="ctr"/>
          <a:lstStyle/>
          <a:p>
            <a:pPr marL="0" indent="0" algn="ctr">
              <a:buNone/>
            </a:pPr>
            <a:r>
              <a:rPr lang="en-US" sz="1400" b="1" dirty="0">
                <a:solidFill>
                  <a:srgbClr val="0B1437"/>
                </a:solidFill>
              </a:rPr>
              <a:t>ChromaDB</a:t>
            </a:r>
            <a:endParaRPr lang="en-US" sz="1400" dirty="0"/>
          </a:p>
          <a:p>
            <a:pPr marL="0" indent="0" algn="ctr">
              <a:buNone/>
            </a:pPr>
            <a:r>
              <a:rPr lang="en-US" sz="1400" b="1" dirty="0">
                <a:solidFill>
                  <a:srgbClr val="0B1437"/>
                </a:solidFill>
              </a:rPr>
              <a:t>vector store</a:t>
            </a:r>
            <a:endParaRPr lang="en-US" sz="1400" dirty="0"/>
          </a:p>
        </p:txBody>
      </p:sp>
      <p:sp>
        <p:nvSpPr>
          <p:cNvPr id="15" name="Connector"/>
          <p:cNvSpPr/>
          <p:nvPr/>
        </p:nvSpPr>
        <p:spPr>
          <a:xfrm>
            <a:off x="10584180" y="2834640"/>
            <a:ext cx="0" cy="365760"/>
          </a:xfrm>
          <a:prstGeom prst="line">
            <a:avLst/>
          </a:prstGeom>
          <a:noFill/>
          <a:ln w="22225">
            <a:solidFill>
              <a:srgbClr val="6D28D9"/>
            </a:solidFill>
            <a:prstDash val="dash"/>
          </a:ln>
        </p:spPr>
      </p:sp>
      <p:sp>
        <p:nvSpPr>
          <p:cNvPr id="16" name="Connector"/>
          <p:cNvSpPr/>
          <p:nvPr/>
        </p:nvSpPr>
        <p:spPr>
          <a:xfrm>
            <a:off x="5120640" y="3200400"/>
            <a:ext cx="5463540" cy="0"/>
          </a:xfrm>
          <a:prstGeom prst="line">
            <a:avLst/>
          </a:prstGeom>
          <a:noFill/>
          <a:ln w="22225">
            <a:solidFill>
              <a:srgbClr val="6D28D9"/>
            </a:solidFill>
            <a:prstDash val="dash"/>
          </a:ln>
        </p:spPr>
      </p:sp>
      <p:sp>
        <p:nvSpPr>
          <p:cNvPr id="17" name="Connector"/>
          <p:cNvSpPr/>
          <p:nvPr/>
        </p:nvSpPr>
        <p:spPr>
          <a:xfrm>
            <a:off x="5120640" y="3200400"/>
            <a:ext cx="0" cy="594360"/>
          </a:xfrm>
          <a:prstGeom prst="line">
            <a:avLst/>
          </a:prstGeom>
          <a:noFill/>
          <a:ln w="22225">
            <a:solidFill>
              <a:srgbClr val="6D28D9"/>
            </a:solidFill>
            <a:prstDash val="dash"/>
            <a:tailEnd type="triangle"/>
          </a:ln>
        </p:spPr>
      </p:sp>
      <p:sp>
        <p:nvSpPr>
          <p:cNvPr id="18" name="Text 15"/>
          <p:cNvSpPr txBox="1"/>
          <p:nvPr/>
        </p:nvSpPr>
        <p:spPr>
          <a:xfrm>
            <a:off x="5486400" y="3255264"/>
            <a:ext cx="4937760" cy="256032"/>
          </a:xfrm>
          <a:prstGeom prst="rect">
            <a:avLst/>
          </a:prstGeom>
          <a:noFill/>
          <a:ln/>
        </p:spPr>
        <p:txBody>
          <a:bodyPr wrap="square" lIns="0" tIns="0" rIns="0" bIns="0" rtlCol="0" anchor="t"/>
          <a:lstStyle/>
          <a:p>
            <a:pPr marL="0" indent="0">
              <a:buNone/>
            </a:pPr>
            <a:r>
              <a:rPr lang="en-US" sz="1200" i="1" dirty="0">
                <a:solidFill>
                  <a:srgbClr val="6D28D9"/>
                </a:solidFill>
              </a:rPr>
              <a:t>stored vectors are searched for every question</a:t>
            </a:r>
            <a:endParaRPr lang="en-US" sz="1200" dirty="0"/>
          </a:p>
        </p:txBody>
      </p:sp>
      <p:sp>
        <p:nvSpPr>
          <p:cNvPr id="19" name="Text 16"/>
          <p:cNvSpPr txBox="1"/>
          <p:nvPr/>
        </p:nvSpPr>
        <p:spPr>
          <a:xfrm>
            <a:off x="548640" y="3520440"/>
            <a:ext cx="4572000" cy="274320"/>
          </a:xfrm>
          <a:prstGeom prst="rect">
            <a:avLst/>
          </a:prstGeom>
          <a:noFill/>
          <a:ln/>
        </p:spPr>
        <p:txBody>
          <a:bodyPr wrap="square" lIns="0" tIns="0" rIns="0" bIns="0" rtlCol="0" anchor="t"/>
          <a:lstStyle/>
          <a:p>
            <a:pPr marL="0" indent="0">
              <a:buNone/>
            </a:pPr>
            <a:r>
              <a:rPr lang="en-US" sz="1200" b="1" kern="0" spc="200" dirty="0">
                <a:solidFill>
                  <a:srgbClr val="0369A1"/>
                </a:solidFill>
              </a:rPr>
              <a:t>ONLINE  ·  QUERY (every question)</a:t>
            </a:r>
            <a:endParaRPr lang="en-US" sz="1200" dirty="0"/>
          </a:p>
        </p:txBody>
      </p:sp>
      <p:sp>
        <p:nvSpPr>
          <p:cNvPr id="20" name="Box"/>
          <p:cNvSpPr/>
          <p:nvPr/>
        </p:nvSpPr>
        <p:spPr>
          <a:xfrm>
            <a:off x="548640" y="3840480"/>
            <a:ext cx="1463040" cy="914400"/>
          </a:xfrm>
          <a:prstGeom prst="roundRect">
            <a:avLst>
              <a:gd name="adj" fmla="val 10000"/>
            </a:avLst>
          </a:prstGeom>
          <a:solidFill>
            <a:srgbClr val="E0F2FE"/>
          </a:solidFill>
          <a:ln w="12700">
            <a:solidFill>
              <a:srgbClr val="0EA5E9"/>
            </a:solidFill>
          </a:ln>
        </p:spPr>
        <p:txBody>
          <a:bodyPr wrap="square" lIns="50800" tIns="50800" rIns="50800" bIns="50800" rtlCol="0" anchor="ctr"/>
          <a:lstStyle/>
          <a:p>
            <a:pPr marL="0" indent="0" algn="ctr">
              <a:buNone/>
            </a:pPr>
            <a:r>
              <a:rPr lang="en-US" sz="1400" b="1" dirty="0">
                <a:solidFill>
                  <a:srgbClr val="0B1437"/>
                </a:solidFill>
              </a:rPr>
              <a:t>User question</a:t>
            </a:r>
            <a:endParaRPr lang="en-US" sz="1400" dirty="0"/>
          </a:p>
        </p:txBody>
      </p:sp>
      <p:sp>
        <p:nvSpPr>
          <p:cNvPr id="21" name="Connector"/>
          <p:cNvSpPr/>
          <p:nvPr/>
        </p:nvSpPr>
        <p:spPr>
          <a:xfrm>
            <a:off x="2011680" y="4297680"/>
            <a:ext cx="457200" cy="0"/>
          </a:xfrm>
          <a:prstGeom prst="line">
            <a:avLst/>
          </a:prstGeom>
          <a:noFill/>
          <a:ln w="22225">
            <a:solidFill>
              <a:srgbClr val="64748B"/>
            </a:solidFill>
            <a:prstDash val="solid"/>
            <a:tailEnd type="triangle"/>
          </a:ln>
        </p:spPr>
      </p:sp>
      <p:sp>
        <p:nvSpPr>
          <p:cNvPr id="22" name="Box"/>
          <p:cNvSpPr/>
          <p:nvPr/>
        </p:nvSpPr>
        <p:spPr>
          <a:xfrm>
            <a:off x="2468880" y="3840480"/>
            <a:ext cx="1463040" cy="914400"/>
          </a:xfrm>
          <a:prstGeom prst="roundRect">
            <a:avLst>
              <a:gd name="adj" fmla="val 10000"/>
            </a:avLst>
          </a:prstGeom>
          <a:solidFill>
            <a:srgbClr val="E0F2FE"/>
          </a:solidFill>
          <a:ln w="12700">
            <a:solidFill>
              <a:srgbClr val="0EA5E9"/>
            </a:solidFill>
          </a:ln>
        </p:spPr>
        <p:txBody>
          <a:bodyPr wrap="square" lIns="50800" tIns="50800" rIns="50800" bIns="50800" rtlCol="0" anchor="ctr"/>
          <a:lstStyle/>
          <a:p>
            <a:pPr marL="0" indent="0" algn="ctr">
              <a:buNone/>
            </a:pPr>
            <a:r>
              <a:rPr lang="en-US" sz="1400" b="1" dirty="0">
                <a:solidFill>
                  <a:srgbClr val="0B1437"/>
                </a:solidFill>
              </a:rPr>
              <a:t>Query embedding</a:t>
            </a:r>
            <a:endParaRPr lang="en-US" sz="1400" dirty="0"/>
          </a:p>
        </p:txBody>
      </p:sp>
      <p:sp>
        <p:nvSpPr>
          <p:cNvPr id="23" name="Connector"/>
          <p:cNvSpPr/>
          <p:nvPr/>
        </p:nvSpPr>
        <p:spPr>
          <a:xfrm>
            <a:off x="3931920" y="4297680"/>
            <a:ext cx="457200" cy="0"/>
          </a:xfrm>
          <a:prstGeom prst="line">
            <a:avLst/>
          </a:prstGeom>
          <a:noFill/>
          <a:ln w="22225">
            <a:solidFill>
              <a:srgbClr val="64748B"/>
            </a:solidFill>
            <a:prstDash val="solid"/>
            <a:tailEnd type="triangle"/>
          </a:ln>
        </p:spPr>
      </p:sp>
      <p:sp>
        <p:nvSpPr>
          <p:cNvPr id="24" name="Box"/>
          <p:cNvSpPr/>
          <p:nvPr/>
        </p:nvSpPr>
        <p:spPr>
          <a:xfrm>
            <a:off x="4389120" y="3840480"/>
            <a:ext cx="1463040" cy="914400"/>
          </a:xfrm>
          <a:prstGeom prst="roundRect">
            <a:avLst>
              <a:gd name="adj" fmla="val 10000"/>
            </a:avLst>
          </a:prstGeom>
          <a:solidFill>
            <a:srgbClr val="E0F2FE"/>
          </a:solidFill>
          <a:ln w="12700">
            <a:solidFill>
              <a:srgbClr val="0EA5E9"/>
            </a:solidFill>
          </a:ln>
        </p:spPr>
        <p:txBody>
          <a:bodyPr wrap="square" lIns="50800" tIns="50800" rIns="50800" bIns="50800" rtlCol="0" anchor="ctr"/>
          <a:lstStyle/>
          <a:p>
            <a:pPr marL="0" indent="0" algn="ctr">
              <a:buNone/>
            </a:pPr>
            <a:r>
              <a:rPr lang="en-US" sz="1400" b="1" dirty="0">
                <a:solidFill>
                  <a:srgbClr val="0B1437"/>
                </a:solidFill>
              </a:rPr>
              <a:t>Similarity search</a:t>
            </a:r>
            <a:endParaRPr lang="en-US" sz="1400" dirty="0"/>
          </a:p>
        </p:txBody>
      </p:sp>
      <p:sp>
        <p:nvSpPr>
          <p:cNvPr id="25" name="Connector"/>
          <p:cNvSpPr/>
          <p:nvPr/>
        </p:nvSpPr>
        <p:spPr>
          <a:xfrm>
            <a:off x="5852160" y="4297680"/>
            <a:ext cx="457200" cy="0"/>
          </a:xfrm>
          <a:prstGeom prst="line">
            <a:avLst/>
          </a:prstGeom>
          <a:noFill/>
          <a:ln w="22225">
            <a:solidFill>
              <a:srgbClr val="64748B"/>
            </a:solidFill>
            <a:prstDash val="solid"/>
            <a:tailEnd type="triangle"/>
          </a:ln>
        </p:spPr>
      </p:sp>
      <p:sp>
        <p:nvSpPr>
          <p:cNvPr id="26" name="Box"/>
          <p:cNvSpPr/>
          <p:nvPr/>
        </p:nvSpPr>
        <p:spPr>
          <a:xfrm>
            <a:off x="6309360" y="3840480"/>
            <a:ext cx="1463040" cy="914400"/>
          </a:xfrm>
          <a:prstGeom prst="roundRect">
            <a:avLst>
              <a:gd name="adj" fmla="val 10000"/>
            </a:avLst>
          </a:prstGeom>
          <a:solidFill>
            <a:srgbClr val="E0F2FE"/>
          </a:solidFill>
          <a:ln w="12700">
            <a:solidFill>
              <a:srgbClr val="0EA5E9"/>
            </a:solidFill>
          </a:ln>
        </p:spPr>
        <p:txBody>
          <a:bodyPr wrap="square" lIns="50800" tIns="50800" rIns="50800" bIns="50800" rtlCol="0" anchor="ctr"/>
          <a:lstStyle/>
          <a:p>
            <a:pPr marL="0" indent="0" algn="ctr">
              <a:buNone/>
            </a:pPr>
            <a:r>
              <a:rPr lang="en-US" sz="1400" b="1" dirty="0">
                <a:solidFill>
                  <a:srgbClr val="0B1437"/>
                </a:solidFill>
              </a:rPr>
              <a:t>Context validation</a:t>
            </a:r>
            <a:endParaRPr lang="en-US" sz="1400" dirty="0"/>
          </a:p>
        </p:txBody>
      </p:sp>
      <p:sp>
        <p:nvSpPr>
          <p:cNvPr id="27" name="Connector"/>
          <p:cNvSpPr/>
          <p:nvPr/>
        </p:nvSpPr>
        <p:spPr>
          <a:xfrm>
            <a:off x="7772400" y="4297680"/>
            <a:ext cx="457200" cy="0"/>
          </a:xfrm>
          <a:prstGeom prst="line">
            <a:avLst/>
          </a:prstGeom>
          <a:noFill/>
          <a:ln w="22225">
            <a:solidFill>
              <a:srgbClr val="64748B"/>
            </a:solidFill>
            <a:prstDash val="solid"/>
            <a:tailEnd type="triangle"/>
          </a:ln>
        </p:spPr>
      </p:sp>
      <p:sp>
        <p:nvSpPr>
          <p:cNvPr id="28" name="Box"/>
          <p:cNvSpPr/>
          <p:nvPr/>
        </p:nvSpPr>
        <p:spPr>
          <a:xfrm>
            <a:off x="8229600" y="3840480"/>
            <a:ext cx="1463040" cy="914400"/>
          </a:xfrm>
          <a:prstGeom prst="roundRect">
            <a:avLst>
              <a:gd name="adj" fmla="val 10000"/>
            </a:avLst>
          </a:prstGeom>
          <a:solidFill>
            <a:srgbClr val="0B1437"/>
          </a:solidFill>
          <a:ln w="12700">
            <a:solidFill>
              <a:srgbClr val="0B1437"/>
            </a:solidFill>
          </a:ln>
        </p:spPr>
        <p:txBody>
          <a:bodyPr wrap="square" lIns="50800" tIns="50800" rIns="50800" bIns="50800" rtlCol="0" anchor="ctr"/>
          <a:lstStyle/>
          <a:p>
            <a:pPr marL="0" indent="0" algn="ctr">
              <a:buNone/>
            </a:pPr>
            <a:r>
              <a:rPr lang="en-US" sz="1400" b="1" dirty="0">
                <a:solidFill>
                  <a:srgbClr val="FFFFFF"/>
                </a:solidFill>
              </a:rPr>
              <a:t>Qwen3:8b</a:t>
            </a:r>
            <a:endParaRPr lang="en-US" sz="1400" dirty="0"/>
          </a:p>
          <a:p>
            <a:pPr marL="0" indent="0" algn="ctr">
              <a:buNone/>
            </a:pPr>
            <a:r>
              <a:rPr lang="en-US" sz="1400" b="1" dirty="0">
                <a:solidFill>
                  <a:srgbClr val="FFFFFF"/>
                </a:solidFill>
              </a:rPr>
              <a:t>via Ollama</a:t>
            </a:r>
            <a:endParaRPr lang="en-US" sz="1400" dirty="0"/>
          </a:p>
        </p:txBody>
      </p:sp>
      <p:sp>
        <p:nvSpPr>
          <p:cNvPr id="29" name="Connector"/>
          <p:cNvSpPr/>
          <p:nvPr/>
        </p:nvSpPr>
        <p:spPr>
          <a:xfrm>
            <a:off x="9692640" y="4297680"/>
            <a:ext cx="457200" cy="0"/>
          </a:xfrm>
          <a:prstGeom prst="line">
            <a:avLst/>
          </a:prstGeom>
          <a:noFill/>
          <a:ln w="22225">
            <a:solidFill>
              <a:srgbClr val="64748B"/>
            </a:solidFill>
            <a:prstDash val="solid"/>
            <a:tailEnd type="triangle"/>
          </a:ln>
        </p:spPr>
      </p:sp>
      <p:sp>
        <p:nvSpPr>
          <p:cNvPr id="30" name="Box"/>
          <p:cNvSpPr/>
          <p:nvPr/>
        </p:nvSpPr>
        <p:spPr>
          <a:xfrm>
            <a:off x="10149840" y="3840480"/>
            <a:ext cx="1463040" cy="914400"/>
          </a:xfrm>
          <a:prstGeom prst="roundRect">
            <a:avLst>
              <a:gd name="adj" fmla="val 10000"/>
            </a:avLst>
          </a:prstGeom>
          <a:solidFill>
            <a:srgbClr val="F59E0B"/>
          </a:solidFill>
          <a:ln w="12700">
            <a:solidFill>
              <a:srgbClr val="F59E0B"/>
            </a:solidFill>
          </a:ln>
        </p:spPr>
        <p:txBody>
          <a:bodyPr wrap="square" lIns="50800" tIns="50800" rIns="50800" bIns="50800" rtlCol="0" anchor="ctr"/>
          <a:lstStyle/>
          <a:p>
            <a:pPr marL="0" indent="0" algn="ctr">
              <a:buNone/>
            </a:pPr>
            <a:r>
              <a:rPr lang="en-US" sz="1400" b="1" dirty="0">
                <a:solidFill>
                  <a:srgbClr val="0B1437"/>
                </a:solidFill>
              </a:rPr>
              <a:t>Answer +</a:t>
            </a:r>
            <a:endParaRPr lang="en-US" sz="1400" dirty="0"/>
          </a:p>
          <a:p>
            <a:pPr marL="0" indent="0" algn="ctr">
              <a:buNone/>
            </a:pPr>
            <a:r>
              <a:rPr lang="en-US" sz="1400" b="1" dirty="0">
                <a:solidFill>
                  <a:srgbClr val="0B1437"/>
                </a:solidFill>
              </a:rPr>
              <a:t>citations</a:t>
            </a:r>
            <a:endParaRPr lang="en-US" sz="1400" dirty="0"/>
          </a:p>
        </p:txBody>
      </p:sp>
      <p:sp>
        <p:nvSpPr>
          <p:cNvPr id="31" name="Text 28"/>
          <p:cNvSpPr txBox="1"/>
          <p:nvPr/>
        </p:nvSpPr>
        <p:spPr>
          <a:xfrm>
            <a:off x="548640" y="5120640"/>
            <a:ext cx="4572000" cy="274320"/>
          </a:xfrm>
          <a:prstGeom prst="rect">
            <a:avLst/>
          </a:prstGeom>
          <a:noFill/>
          <a:ln/>
        </p:spPr>
        <p:txBody>
          <a:bodyPr wrap="square" lIns="0" tIns="0" rIns="0" bIns="0" rtlCol="0" anchor="t"/>
          <a:lstStyle/>
          <a:p>
            <a:pPr marL="0" indent="0">
              <a:buNone/>
            </a:pPr>
            <a:r>
              <a:rPr lang="en-US" sz="1200" b="1" kern="0" spc="200" dirty="0">
                <a:solidFill>
                  <a:srgbClr val="B45309"/>
                </a:solidFill>
              </a:rPr>
              <a:t>SUPPORTING CONTROLS</a:t>
            </a:r>
            <a:endParaRPr lang="en-US" sz="1200" dirty="0"/>
          </a:p>
        </p:txBody>
      </p:sp>
      <p:sp>
        <p:nvSpPr>
          <p:cNvPr id="32" name="Box"/>
          <p:cNvSpPr/>
          <p:nvPr/>
        </p:nvSpPr>
        <p:spPr>
          <a:xfrm>
            <a:off x="548640" y="5440680"/>
            <a:ext cx="3840480" cy="548640"/>
          </a:xfrm>
          <a:prstGeom prst="roundRect">
            <a:avLst>
              <a:gd name="adj" fmla="val 16667"/>
            </a:avLst>
          </a:prstGeom>
          <a:solidFill>
            <a:srgbClr val="FEF3C7"/>
          </a:solidFill>
          <a:ln w="12700">
            <a:solidFill>
              <a:srgbClr val="B45309"/>
            </a:solidFill>
          </a:ln>
        </p:spPr>
        <p:txBody>
          <a:bodyPr wrap="square" lIns="50800" tIns="50800" rIns="50800" bIns="50800" rtlCol="0" anchor="ctr"/>
          <a:lstStyle/>
          <a:p>
            <a:pPr marL="0" indent="0" algn="ctr">
              <a:buNone/>
            </a:pPr>
            <a:r>
              <a:rPr lang="en-US" sz="1400" dirty="0">
                <a:solidFill>
                  <a:srgbClr val="0B1437"/>
                </a:solidFill>
              </a:rPr>
              <a:t>Refusal if evidence is insufficient</a:t>
            </a:r>
            <a:endParaRPr lang="en-US" sz="1400" dirty="0"/>
          </a:p>
        </p:txBody>
      </p:sp>
      <p:sp>
        <p:nvSpPr>
          <p:cNvPr id="33" name="Box"/>
          <p:cNvSpPr/>
          <p:nvPr/>
        </p:nvSpPr>
        <p:spPr>
          <a:xfrm>
            <a:off x="4572000" y="5440680"/>
            <a:ext cx="2377440" cy="548640"/>
          </a:xfrm>
          <a:prstGeom prst="roundRect">
            <a:avLst>
              <a:gd name="adj" fmla="val 16667"/>
            </a:avLst>
          </a:prstGeom>
          <a:solidFill>
            <a:srgbClr val="FEF3C7"/>
          </a:solidFill>
          <a:ln w="12700">
            <a:solidFill>
              <a:srgbClr val="B45309"/>
            </a:solidFill>
          </a:ln>
        </p:spPr>
        <p:txBody>
          <a:bodyPr wrap="square" lIns="50800" tIns="50800" rIns="50800" bIns="50800" rtlCol="0" anchor="ctr"/>
          <a:lstStyle/>
          <a:p>
            <a:pPr marL="0" indent="0" algn="ctr">
              <a:buNone/>
            </a:pPr>
            <a:r>
              <a:rPr lang="en-US" sz="1400" dirty="0">
                <a:solidFill>
                  <a:srgbClr val="0B1437"/>
                </a:solidFill>
              </a:rPr>
              <a:t>Audit logging</a:t>
            </a:r>
            <a:endParaRPr lang="en-US" sz="1400" dirty="0"/>
          </a:p>
        </p:txBody>
      </p:sp>
      <p:sp>
        <p:nvSpPr>
          <p:cNvPr id="34" name="Box"/>
          <p:cNvSpPr/>
          <p:nvPr/>
        </p:nvSpPr>
        <p:spPr>
          <a:xfrm>
            <a:off x="7132320" y="5440680"/>
            <a:ext cx="3840480" cy="548640"/>
          </a:xfrm>
          <a:prstGeom prst="roundRect">
            <a:avLst>
              <a:gd name="adj" fmla="val 16667"/>
            </a:avLst>
          </a:prstGeom>
          <a:solidFill>
            <a:srgbClr val="FEF3C7"/>
          </a:solidFill>
          <a:ln w="12700">
            <a:solidFill>
              <a:srgbClr val="B45309"/>
            </a:solidFill>
          </a:ln>
        </p:spPr>
        <p:txBody>
          <a:bodyPr wrap="square" lIns="50800" tIns="50800" rIns="50800" bIns="50800" rtlCol="0" anchor="ctr"/>
          <a:lstStyle/>
          <a:p>
            <a:pPr marL="0" indent="0" algn="ctr">
              <a:buNone/>
            </a:pPr>
            <a:r>
              <a:rPr lang="en-US" sz="1400" dirty="0">
                <a:solidFill>
                  <a:srgbClr val="0B1437"/>
                </a:solidFill>
              </a:rPr>
              <a:t>Separate evaluation scripts</a:t>
            </a:r>
            <a:endParaRPr lang="en-US" sz="1400" dirty="0"/>
          </a:p>
        </p:txBody>
      </p:sp>
      <p:sp>
        <p:nvSpPr>
          <p:cNvPr id="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ection pill"/>
          <p:cNvSpPr/>
          <p:nvPr/>
        </p:nvSpPr>
        <p:spPr>
          <a:xfrm>
            <a:off x="548640" y="384048"/>
            <a:ext cx="2107692" cy="274320"/>
          </a:xfrm>
          <a:prstGeom prst="roundRect">
            <a:avLst>
              <a:gd name="adj" fmla="val 50000"/>
            </a:avLst>
          </a:prstGeom>
          <a:solidFill>
            <a:srgbClr val="047857"/>
          </a:solidFill>
          <a:ln/>
        </p:spPr>
        <p:txBody>
          <a:bodyPr wrap="square" lIns="0" tIns="0" rIns="0" bIns="0" rtlCol="0" anchor="ctr"/>
          <a:lstStyle/>
          <a:p>
            <a:pPr marL="0" indent="0" algn="ctr">
              <a:buNone/>
            </a:pPr>
            <a:r>
              <a:rPr lang="en-US" sz="1100" b="1" kern="0" spc="100" dirty="0">
                <a:solidFill>
                  <a:srgbClr val="FFFFFF"/>
                </a:solidFill>
              </a:rPr>
              <a:t>PART 3  ·  PIPELINE</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Step 1: Document ingestion</a:t>
            </a:r>
            <a:endParaRPr lang="en-US" sz="3200" dirty="0"/>
          </a:p>
        </p:txBody>
      </p:sp>
      <p:sp>
        <p:nvSpPr>
          <p:cNvPr id="5" name="Text 2"/>
          <p:cNvSpPr txBox="1"/>
          <p:nvPr/>
        </p:nvSpPr>
        <p:spPr>
          <a:xfrm>
            <a:off x="548640" y="1783080"/>
            <a:ext cx="5212080" cy="34747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1E293B"/>
                </a:solidFill>
              </a:rPr>
              <a:t>Input: 10 PDF documents with internal company information</a:t>
            </a:r>
            <a:endParaRPr lang="en-US" sz="1800" dirty="0"/>
          </a:p>
          <a:p>
            <a:pPr marL="342900" indent="-342900">
              <a:spcAft>
                <a:spcPts val="1200"/>
              </a:spcAft>
              <a:buSzPct val="100000"/>
              <a:buChar char="•"/>
            </a:pPr>
            <a:r>
              <a:rPr lang="en-US" sz="1800" dirty="0">
                <a:solidFill>
                  <a:srgbClr val="1E293B"/>
                </a:solidFill>
              </a:rPr>
              <a:t>Load each PDF and extract its text</a:t>
            </a:r>
            <a:endParaRPr lang="en-US" sz="1800" dirty="0"/>
          </a:p>
          <a:p>
            <a:pPr marL="342900" indent="-342900">
              <a:spcAft>
                <a:spcPts val="1200"/>
              </a:spcAft>
              <a:buSzPct val="100000"/>
              <a:buChar char="•"/>
            </a:pPr>
            <a:r>
              <a:rPr lang="en-US" sz="1800" dirty="0">
                <a:solidFill>
                  <a:srgbClr val="1E293B"/>
                </a:solidFill>
              </a:rPr>
              <a:t>Keep the document name and page number</a:t>
            </a:r>
            <a:endParaRPr lang="en-US" sz="1800" dirty="0"/>
          </a:p>
          <a:p>
            <a:pPr marL="342900" indent="-342900">
              <a:spcAft>
                <a:spcPts val="1200"/>
              </a:spcAft>
              <a:buSzPct val="100000"/>
              <a:buChar char="•"/>
            </a:pPr>
            <a:r>
              <a:rPr lang="en-US" sz="1800" dirty="0">
                <a:solidFill>
                  <a:srgbClr val="1E293B"/>
                </a:solidFill>
              </a:rPr>
              <a:t>Split the text into smaller chunks</a:t>
            </a:r>
            <a:endParaRPr lang="en-US" sz="1800" dirty="0"/>
          </a:p>
          <a:p>
            <a:pPr marL="342900" indent="-342900">
              <a:spcAft>
                <a:spcPts val="1200"/>
              </a:spcAft>
              <a:buSzPct val="100000"/>
              <a:buChar char="•"/>
            </a:pPr>
            <a:r>
              <a:rPr lang="en-US" sz="1800" dirty="0">
                <a:solidFill>
                  <a:srgbClr val="1E293B"/>
                </a:solidFill>
              </a:rPr>
              <a:t>Prepare chunks and metadata for embedding</a:t>
            </a:r>
            <a:endParaRPr lang="en-US" sz="1800" dirty="0"/>
          </a:p>
        </p:txBody>
      </p:sp>
      <p:sp>
        <p:nvSpPr>
          <p:cNvPr id="6" name="Box"/>
          <p:cNvSpPr/>
          <p:nvPr/>
        </p:nvSpPr>
        <p:spPr>
          <a:xfrm>
            <a:off x="6126480" y="1828800"/>
            <a:ext cx="1463040" cy="914400"/>
          </a:xfrm>
          <a:prstGeom prst="roundRect">
            <a:avLst>
              <a:gd name="adj" fmla="val 10000"/>
            </a:avLst>
          </a:prstGeom>
          <a:solidFill>
            <a:srgbClr val="D1FAE5"/>
          </a:solidFill>
          <a:ln w="12700">
            <a:solidFill>
              <a:srgbClr val="047857"/>
            </a:solidFill>
          </a:ln>
        </p:spPr>
        <p:txBody>
          <a:bodyPr wrap="square" lIns="50800" tIns="50800" rIns="50800" bIns="50800" rtlCol="0" anchor="ctr"/>
          <a:lstStyle/>
          <a:p>
            <a:pPr marL="0" indent="0" algn="ctr">
              <a:buNone/>
            </a:pPr>
            <a:r>
              <a:rPr lang="en-US" sz="1400" b="1" dirty="0">
                <a:solidFill>
                  <a:srgbClr val="0B1437"/>
                </a:solidFill>
              </a:rPr>
              <a:t>PDF files</a:t>
            </a:r>
            <a:endParaRPr lang="en-US" sz="1400" dirty="0"/>
          </a:p>
        </p:txBody>
      </p:sp>
      <p:sp>
        <p:nvSpPr>
          <p:cNvPr id="7" name="Connector"/>
          <p:cNvSpPr/>
          <p:nvPr/>
        </p:nvSpPr>
        <p:spPr>
          <a:xfrm>
            <a:off x="7589520" y="2286000"/>
            <a:ext cx="411480" cy="0"/>
          </a:xfrm>
          <a:prstGeom prst="line">
            <a:avLst/>
          </a:prstGeom>
          <a:noFill/>
          <a:ln w="22225">
            <a:solidFill>
              <a:srgbClr val="64748B"/>
            </a:solidFill>
            <a:prstDash val="solid"/>
            <a:tailEnd type="triangle"/>
          </a:ln>
        </p:spPr>
      </p:sp>
      <p:sp>
        <p:nvSpPr>
          <p:cNvPr id="8" name="Box"/>
          <p:cNvSpPr/>
          <p:nvPr/>
        </p:nvSpPr>
        <p:spPr>
          <a:xfrm>
            <a:off x="8001000" y="1828800"/>
            <a:ext cx="1463040" cy="914400"/>
          </a:xfrm>
          <a:prstGeom prst="roundRect">
            <a:avLst>
              <a:gd name="adj" fmla="val 10000"/>
            </a:avLst>
          </a:prstGeom>
          <a:solidFill>
            <a:srgbClr val="D1FAE5"/>
          </a:solidFill>
          <a:ln w="12700">
            <a:solidFill>
              <a:srgbClr val="047857"/>
            </a:solidFill>
          </a:ln>
        </p:spPr>
        <p:txBody>
          <a:bodyPr wrap="square" lIns="50800" tIns="50800" rIns="50800" bIns="50800" rtlCol="0" anchor="ctr"/>
          <a:lstStyle/>
          <a:p>
            <a:pPr marL="0" indent="0" algn="ctr">
              <a:buNone/>
            </a:pPr>
            <a:r>
              <a:rPr lang="en-US" sz="1400" b="1" dirty="0">
                <a:solidFill>
                  <a:srgbClr val="0B1437"/>
                </a:solidFill>
              </a:rPr>
              <a:t>Extract text</a:t>
            </a:r>
            <a:endParaRPr lang="en-US" sz="1400" dirty="0"/>
          </a:p>
        </p:txBody>
      </p:sp>
      <p:sp>
        <p:nvSpPr>
          <p:cNvPr id="9" name="Connector"/>
          <p:cNvSpPr/>
          <p:nvPr/>
        </p:nvSpPr>
        <p:spPr>
          <a:xfrm>
            <a:off x="9464040" y="2286000"/>
            <a:ext cx="411480" cy="0"/>
          </a:xfrm>
          <a:prstGeom prst="line">
            <a:avLst/>
          </a:prstGeom>
          <a:noFill/>
          <a:ln w="22225">
            <a:solidFill>
              <a:srgbClr val="64748B"/>
            </a:solidFill>
            <a:prstDash val="solid"/>
            <a:tailEnd type="triangle"/>
          </a:ln>
        </p:spPr>
      </p:sp>
      <p:sp>
        <p:nvSpPr>
          <p:cNvPr id="10" name="Box"/>
          <p:cNvSpPr/>
          <p:nvPr/>
        </p:nvSpPr>
        <p:spPr>
          <a:xfrm>
            <a:off x="9875520" y="1828800"/>
            <a:ext cx="1463040" cy="914400"/>
          </a:xfrm>
          <a:prstGeom prst="roundRect">
            <a:avLst>
              <a:gd name="adj" fmla="val 10000"/>
            </a:avLst>
          </a:prstGeom>
          <a:solidFill>
            <a:srgbClr val="FEF3C7"/>
          </a:solidFill>
          <a:ln w="19050">
            <a:solidFill>
              <a:srgbClr val="F59E0B"/>
            </a:solidFill>
          </a:ln>
        </p:spPr>
        <p:txBody>
          <a:bodyPr wrap="square" lIns="50800" tIns="50800" rIns="50800" bIns="50800" rtlCol="0" anchor="ctr"/>
          <a:lstStyle/>
          <a:p>
            <a:pPr marL="0" indent="0" algn="ctr">
              <a:buNone/>
            </a:pPr>
            <a:r>
              <a:rPr lang="en-US" sz="1400" b="1" dirty="0">
                <a:solidFill>
                  <a:srgbClr val="0B1437"/>
                </a:solidFill>
              </a:rPr>
              <a:t>Chunks</a:t>
            </a:r>
            <a:endParaRPr lang="en-US" sz="1400" dirty="0"/>
          </a:p>
        </p:txBody>
      </p:sp>
      <p:sp>
        <p:nvSpPr>
          <p:cNvPr id="11" name="Output chunk card"/>
          <p:cNvSpPr/>
          <p:nvPr/>
        </p:nvSpPr>
        <p:spPr>
          <a:xfrm>
            <a:off x="6126480" y="3108960"/>
            <a:ext cx="5486400" cy="1600200"/>
          </a:xfrm>
          <a:prstGeom prst="roundRect">
            <a:avLst>
              <a:gd name="adj" fmla="val 5714"/>
            </a:avLst>
          </a:prstGeom>
          <a:solidFill>
            <a:srgbClr val="F1F5F9"/>
          </a:solidFill>
          <a:ln w="12700">
            <a:solidFill>
              <a:srgbClr val="CBD5E1"/>
            </a:solidFill>
            <a:prstDash val="solid"/>
          </a:ln>
        </p:spPr>
      </p:sp>
      <p:sp>
        <p:nvSpPr>
          <p:cNvPr id="12" name="Text 9"/>
          <p:cNvSpPr txBox="1"/>
          <p:nvPr/>
        </p:nvSpPr>
        <p:spPr>
          <a:xfrm>
            <a:off x="6355080" y="3218688"/>
            <a:ext cx="5029200" cy="320040"/>
          </a:xfrm>
          <a:prstGeom prst="rect">
            <a:avLst/>
          </a:prstGeom>
          <a:noFill/>
          <a:ln/>
        </p:spPr>
        <p:txBody>
          <a:bodyPr wrap="square" lIns="0" tIns="0" rIns="0" bIns="0" rtlCol="0" anchor="t"/>
          <a:lstStyle/>
          <a:p>
            <a:pPr marL="0" indent="0">
              <a:buNone/>
            </a:pPr>
            <a:r>
              <a:rPr lang="en-US" sz="1600" b="1" dirty="0">
                <a:solidFill>
                  <a:srgbClr val="0B1437"/>
                </a:solidFill>
              </a:rPr>
              <a:t>Output: one chunk</a:t>
            </a:r>
            <a:endParaRPr lang="en-US" sz="1600" dirty="0"/>
          </a:p>
        </p:txBody>
      </p:sp>
      <p:sp>
        <p:nvSpPr>
          <p:cNvPr id="13" name="Text 10"/>
          <p:cNvSpPr txBox="1"/>
          <p:nvPr/>
        </p:nvSpPr>
        <p:spPr>
          <a:xfrm>
            <a:off x="6355080" y="3611880"/>
            <a:ext cx="5029200" cy="310896"/>
          </a:xfrm>
          <a:prstGeom prst="rect">
            <a:avLst/>
          </a:prstGeom>
          <a:noFill/>
          <a:ln/>
        </p:spPr>
        <p:txBody>
          <a:bodyPr wrap="square" lIns="0" tIns="0" rIns="0" bIns="0" rtlCol="0" anchor="t"/>
          <a:lstStyle/>
          <a:p>
            <a:pPr marL="0" indent="0">
              <a:buNone/>
            </a:pPr>
            <a:r>
              <a:rPr lang="en-US" sz="1500" b="1" dirty="0">
                <a:solidFill>
                  <a:srgbClr val="0369A1"/>
                </a:solidFill>
              </a:rPr>
              <a:t>Chunk text:  </a:t>
            </a:r>
            <a:r>
              <a:rPr lang="en-US" sz="1500" dirty="0">
                <a:solidFill>
                  <a:srgbClr val="1E293B"/>
                </a:solidFill>
              </a:rPr>
              <a:t>a short section of the document</a:t>
            </a:r>
            <a:endParaRPr lang="en-US" sz="1500" dirty="0"/>
          </a:p>
        </p:txBody>
      </p:sp>
      <p:sp>
        <p:nvSpPr>
          <p:cNvPr id="14" name="Text 11"/>
          <p:cNvSpPr txBox="1"/>
          <p:nvPr/>
        </p:nvSpPr>
        <p:spPr>
          <a:xfrm>
            <a:off x="6355080" y="3950208"/>
            <a:ext cx="5029200" cy="310896"/>
          </a:xfrm>
          <a:prstGeom prst="rect">
            <a:avLst/>
          </a:prstGeom>
          <a:noFill/>
          <a:ln/>
        </p:spPr>
        <p:txBody>
          <a:bodyPr wrap="square" lIns="0" tIns="0" rIns="0" bIns="0" rtlCol="0" anchor="t"/>
          <a:lstStyle/>
          <a:p>
            <a:pPr marL="0" indent="0">
              <a:buNone/>
            </a:pPr>
            <a:r>
              <a:rPr lang="en-US" sz="1500" b="1" dirty="0">
                <a:solidFill>
                  <a:srgbClr val="0369A1"/>
                </a:solidFill>
              </a:rPr>
              <a:t>Source document:  </a:t>
            </a:r>
            <a:r>
              <a:rPr lang="en-US" sz="1500" dirty="0">
                <a:solidFill>
                  <a:srgbClr val="1E293B"/>
                </a:solidFill>
              </a:rPr>
              <a:t>the PDF it came from</a:t>
            </a:r>
            <a:endParaRPr lang="en-US" sz="1500" dirty="0"/>
          </a:p>
        </p:txBody>
      </p:sp>
      <p:sp>
        <p:nvSpPr>
          <p:cNvPr id="15" name="Text 12"/>
          <p:cNvSpPr txBox="1"/>
          <p:nvPr/>
        </p:nvSpPr>
        <p:spPr>
          <a:xfrm>
            <a:off x="6355080" y="4288536"/>
            <a:ext cx="5029200" cy="310896"/>
          </a:xfrm>
          <a:prstGeom prst="rect">
            <a:avLst/>
          </a:prstGeom>
          <a:noFill/>
          <a:ln/>
        </p:spPr>
        <p:txBody>
          <a:bodyPr wrap="square" lIns="0" tIns="0" rIns="0" bIns="0" rtlCol="0" anchor="t"/>
          <a:lstStyle/>
          <a:p>
            <a:pPr marL="0" indent="0">
              <a:buNone/>
            </a:pPr>
            <a:r>
              <a:rPr lang="en-US" sz="1500" b="1" dirty="0">
                <a:solidFill>
                  <a:srgbClr val="0369A1"/>
                </a:solidFill>
              </a:rPr>
              <a:t>Page number:  </a:t>
            </a:r>
            <a:r>
              <a:rPr lang="en-US" sz="1500" dirty="0">
                <a:solidFill>
                  <a:srgbClr val="1E293B"/>
                </a:solidFill>
              </a:rPr>
              <a:t>where it appears</a:t>
            </a:r>
            <a:endParaRPr lang="en-US" sz="1500" dirty="0"/>
          </a:p>
        </p:txBody>
      </p:sp>
      <p:sp>
        <p:nvSpPr>
          <p:cNvPr id="16" name="Callout"/>
          <p:cNvSpPr/>
          <p:nvPr/>
        </p:nvSpPr>
        <p:spPr>
          <a:xfrm>
            <a:off x="6126480" y="4983480"/>
            <a:ext cx="5486400" cy="868680"/>
          </a:xfrm>
          <a:prstGeom prst="roundRect">
            <a:avLst>
              <a:gd name="adj" fmla="val 10526"/>
            </a:avLst>
          </a:prstGeom>
          <a:solidFill>
            <a:srgbClr val="E0F2FE"/>
          </a:solidFill>
          <a:ln w="12700">
            <a:solidFill>
              <a:srgbClr val="0EA5E9"/>
            </a:solidFill>
            <a:prstDash val="solid"/>
          </a:ln>
        </p:spPr>
      </p:sp>
      <p:sp>
        <p:nvSpPr>
          <p:cNvPr id="17" name="Text 14"/>
          <p:cNvSpPr txBox="1"/>
          <p:nvPr/>
        </p:nvSpPr>
        <p:spPr>
          <a:xfrm>
            <a:off x="6355080" y="4983480"/>
            <a:ext cx="5029200" cy="868680"/>
          </a:xfrm>
          <a:prstGeom prst="rect">
            <a:avLst/>
          </a:prstGeom>
          <a:noFill/>
          <a:ln/>
        </p:spPr>
        <p:txBody>
          <a:bodyPr wrap="square" lIns="0" tIns="0" rIns="0" bIns="0" rtlCol="0" anchor="ctr"/>
          <a:lstStyle/>
          <a:p>
            <a:pPr marL="0" indent="0">
              <a:buNone/>
            </a:pPr>
            <a:r>
              <a:rPr lang="en-US" sz="1500" b="1" dirty="0">
                <a:solidFill>
                  <a:srgbClr val="1E293B"/>
                </a:solidFill>
              </a:rPr>
              <a:t>Why it matters:  </a:t>
            </a:r>
            <a:r>
              <a:rPr lang="en-US" sz="1500" dirty="0">
                <a:solidFill>
                  <a:srgbClr val="1E293B"/>
                </a:solidFill>
              </a:rPr>
              <a:t>chunks are small units that can be searched on their own.</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ection pill"/>
          <p:cNvSpPr/>
          <p:nvPr/>
        </p:nvSpPr>
        <p:spPr>
          <a:xfrm>
            <a:off x="548640" y="384048"/>
            <a:ext cx="2107692" cy="274320"/>
          </a:xfrm>
          <a:prstGeom prst="roundRect">
            <a:avLst>
              <a:gd name="adj" fmla="val 50000"/>
            </a:avLst>
          </a:prstGeom>
          <a:solidFill>
            <a:srgbClr val="047857"/>
          </a:solidFill>
          <a:ln/>
        </p:spPr>
        <p:txBody>
          <a:bodyPr wrap="square" lIns="0" tIns="0" rIns="0" bIns="0" rtlCol="0" anchor="ctr"/>
          <a:lstStyle/>
          <a:p>
            <a:pPr marL="0" indent="0" algn="ctr">
              <a:buNone/>
            </a:pPr>
            <a:r>
              <a:rPr lang="en-US" sz="1100" b="1" kern="0" spc="100" dirty="0">
                <a:solidFill>
                  <a:srgbClr val="FFFFFF"/>
                </a:solidFill>
              </a:rPr>
              <a:t>PART 3  ·  PIPELINE</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Step 2: Chunking and embeddings</a:t>
            </a:r>
            <a:endParaRPr lang="en-US" sz="3200" dirty="0"/>
          </a:p>
        </p:txBody>
      </p:sp>
      <p:sp>
        <p:nvSpPr>
          <p:cNvPr id="5" name="Text 2"/>
          <p:cNvSpPr txBox="1"/>
          <p:nvPr/>
        </p:nvSpPr>
        <p:spPr>
          <a:xfrm>
            <a:off x="548640" y="1783080"/>
            <a:ext cx="6400800" cy="365760"/>
          </a:xfrm>
          <a:prstGeom prst="rect">
            <a:avLst/>
          </a:prstGeom>
          <a:noFill/>
          <a:ln/>
        </p:spPr>
        <p:txBody>
          <a:bodyPr wrap="square" lIns="0" tIns="0" rIns="0" bIns="0" rtlCol="0" anchor="t"/>
          <a:lstStyle/>
          <a:p>
            <a:pPr marL="0" indent="0">
              <a:buNone/>
            </a:pPr>
            <a:r>
              <a:rPr lang="en-US" sz="2000" b="1" dirty="0">
                <a:solidFill>
                  <a:srgbClr val="0B1437"/>
                </a:solidFill>
              </a:rPr>
              <a:t>Chunking</a:t>
            </a:r>
            <a:endParaRPr lang="en-US" sz="2000" dirty="0"/>
          </a:p>
        </p:txBody>
      </p:sp>
      <p:sp>
        <p:nvSpPr>
          <p:cNvPr id="6" name="Text 3"/>
          <p:cNvSpPr txBox="1"/>
          <p:nvPr/>
        </p:nvSpPr>
        <p:spPr>
          <a:xfrm>
            <a:off x="548640" y="2194560"/>
            <a:ext cx="658368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E293B"/>
                </a:solidFill>
              </a:rPr>
              <a:t>Divide the document text into smaller sections</a:t>
            </a:r>
            <a:endParaRPr lang="en-US" sz="1600" dirty="0"/>
          </a:p>
          <a:p>
            <a:pPr marL="342900" indent="-342900">
              <a:spcAft>
                <a:spcPts val="800"/>
              </a:spcAft>
              <a:buSzPct val="100000"/>
              <a:buChar char="•"/>
            </a:pPr>
            <a:r>
              <a:rPr lang="en-US" sz="1600" dirty="0">
                <a:solidFill>
                  <a:srgbClr val="1E293B"/>
                </a:solidFill>
              </a:rPr>
              <a:t>Preserve the meaning of each section</a:t>
            </a:r>
            <a:endParaRPr lang="en-US" sz="1600" dirty="0"/>
          </a:p>
          <a:p>
            <a:pPr marL="342900" indent="-342900">
              <a:spcAft>
                <a:spcPts val="800"/>
              </a:spcAft>
              <a:buSzPct val="100000"/>
              <a:buChar char="•"/>
            </a:pPr>
            <a:r>
              <a:rPr lang="en-US" sz="1600" dirty="0">
                <a:solidFill>
                  <a:srgbClr val="1E293B"/>
                </a:solidFill>
              </a:rPr>
              <a:t>Link each chunk to its source document and page</a:t>
            </a:r>
            <a:endParaRPr lang="en-US" sz="1600" dirty="0"/>
          </a:p>
        </p:txBody>
      </p:sp>
      <p:sp>
        <p:nvSpPr>
          <p:cNvPr id="7" name="Text 4"/>
          <p:cNvSpPr txBox="1"/>
          <p:nvPr/>
        </p:nvSpPr>
        <p:spPr>
          <a:xfrm>
            <a:off x="548640" y="3611880"/>
            <a:ext cx="6400800" cy="365760"/>
          </a:xfrm>
          <a:prstGeom prst="rect">
            <a:avLst/>
          </a:prstGeom>
          <a:noFill/>
          <a:ln/>
        </p:spPr>
        <p:txBody>
          <a:bodyPr wrap="square" lIns="0" tIns="0" rIns="0" bIns="0" rtlCol="0" anchor="t"/>
          <a:lstStyle/>
          <a:p>
            <a:pPr marL="0" indent="0">
              <a:buNone/>
            </a:pPr>
            <a:r>
              <a:rPr lang="en-US" sz="2000" b="1" dirty="0">
                <a:solidFill>
                  <a:srgbClr val="0B1437"/>
                </a:solidFill>
              </a:rPr>
              <a:t>Embeddings (nomic-embed-text)</a:t>
            </a:r>
            <a:endParaRPr lang="en-US" sz="2000" dirty="0"/>
          </a:p>
        </p:txBody>
      </p:sp>
      <p:sp>
        <p:nvSpPr>
          <p:cNvPr id="8" name="Text 5"/>
          <p:cNvSpPr txBox="1"/>
          <p:nvPr/>
        </p:nvSpPr>
        <p:spPr>
          <a:xfrm>
            <a:off x="548640" y="4023360"/>
            <a:ext cx="658368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E293B"/>
                </a:solidFill>
              </a:rPr>
              <a:t>Convert every chunk into a numerical vector</a:t>
            </a:r>
            <a:endParaRPr lang="en-US" sz="1600" dirty="0"/>
          </a:p>
          <a:p>
            <a:pPr marL="342900" indent="-342900">
              <a:spcAft>
                <a:spcPts val="800"/>
              </a:spcAft>
              <a:buSzPct val="100000"/>
              <a:buChar char="•"/>
            </a:pPr>
            <a:r>
              <a:rPr lang="en-US" sz="1600" dirty="0">
                <a:solidFill>
                  <a:srgbClr val="1E293B"/>
                </a:solidFill>
              </a:rPr>
              <a:t>Convert the user's question with the same model</a:t>
            </a:r>
            <a:endParaRPr lang="en-US" sz="1600" dirty="0"/>
          </a:p>
          <a:p>
            <a:pPr marL="342900" indent="-342900">
              <a:spcAft>
                <a:spcPts val="800"/>
              </a:spcAft>
              <a:buSzPct val="100000"/>
              <a:buChar char="•"/>
            </a:pPr>
            <a:r>
              <a:rPr lang="en-US" sz="1600" dirty="0">
                <a:solidFill>
                  <a:srgbClr val="1E293B"/>
                </a:solidFill>
              </a:rPr>
              <a:t>Compare vectors to find similar content</a:t>
            </a:r>
            <a:endParaRPr lang="en-US" sz="1600" dirty="0"/>
          </a:p>
        </p:txBody>
      </p:sp>
      <p:sp>
        <p:nvSpPr>
          <p:cNvPr id="9" name="Embedding space panel"/>
          <p:cNvSpPr/>
          <p:nvPr/>
        </p:nvSpPr>
        <p:spPr>
          <a:xfrm>
            <a:off x="7498080" y="1783080"/>
            <a:ext cx="4114800" cy="3566160"/>
          </a:xfrm>
          <a:prstGeom prst="roundRect">
            <a:avLst>
              <a:gd name="adj" fmla="val 2564"/>
            </a:avLst>
          </a:prstGeom>
          <a:solidFill>
            <a:srgbClr val="F1F5F9"/>
          </a:solidFill>
          <a:ln w="12700">
            <a:solidFill>
              <a:srgbClr val="CBD5E1"/>
            </a:solidFill>
            <a:prstDash val="solid"/>
          </a:ln>
        </p:spPr>
      </p:sp>
      <p:sp>
        <p:nvSpPr>
          <p:cNvPr id="10" name="Text 7"/>
          <p:cNvSpPr txBox="1"/>
          <p:nvPr/>
        </p:nvSpPr>
        <p:spPr>
          <a:xfrm>
            <a:off x="7726680" y="1874520"/>
            <a:ext cx="3657600" cy="274320"/>
          </a:xfrm>
          <a:prstGeom prst="rect">
            <a:avLst/>
          </a:prstGeom>
          <a:noFill/>
          <a:ln/>
        </p:spPr>
        <p:txBody>
          <a:bodyPr wrap="square" lIns="0" tIns="0" rIns="0" bIns="0" rtlCol="0" anchor="t"/>
          <a:lstStyle/>
          <a:p>
            <a:pPr marL="0" indent="0">
              <a:buNone/>
            </a:pPr>
            <a:r>
              <a:rPr lang="en-US" sz="1400" b="1" dirty="0">
                <a:solidFill>
                  <a:srgbClr val="0B1437"/>
                </a:solidFill>
              </a:rPr>
              <a:t>Embedding space (2D sketch)</a:t>
            </a:r>
            <a:endParaRPr lang="en-US" sz="1400" dirty="0"/>
          </a:p>
        </p:txBody>
      </p:sp>
      <p:sp>
        <p:nvSpPr>
          <p:cNvPr id="11" name="Similar cluster"/>
          <p:cNvSpPr/>
          <p:nvPr/>
        </p:nvSpPr>
        <p:spPr>
          <a:xfrm>
            <a:off x="7818120" y="2468880"/>
            <a:ext cx="2103120" cy="1554480"/>
          </a:xfrm>
          <a:prstGeom prst="ellipse">
            <a:avLst/>
          </a:prstGeom>
          <a:solidFill>
            <a:srgbClr val="E0F2FE">
              <a:alpha val="70000"/>
            </a:srgbClr>
          </a:solidFill>
          <a:ln w="19050">
            <a:solidFill>
              <a:srgbClr val="0EA5E9"/>
            </a:solidFill>
            <a:prstDash val="dash"/>
          </a:ln>
        </p:spPr>
      </p:sp>
      <p:sp>
        <p:nvSpPr>
          <p:cNvPr id="12" name="Chunk near"/>
          <p:cNvSpPr/>
          <p:nvPr/>
        </p:nvSpPr>
        <p:spPr>
          <a:xfrm>
            <a:off x="8092440" y="2926080"/>
            <a:ext cx="237744" cy="237744"/>
          </a:xfrm>
          <a:prstGeom prst="ellipse">
            <a:avLst/>
          </a:prstGeom>
          <a:solidFill>
            <a:srgbClr val="0B1437"/>
          </a:solidFill>
          <a:ln w="12700">
            <a:solidFill>
              <a:srgbClr val="FFFFFF"/>
            </a:solidFill>
            <a:prstDash val="solid"/>
          </a:ln>
        </p:spPr>
      </p:sp>
      <p:sp>
        <p:nvSpPr>
          <p:cNvPr id="13" name="Chunk near"/>
          <p:cNvSpPr/>
          <p:nvPr/>
        </p:nvSpPr>
        <p:spPr>
          <a:xfrm>
            <a:off x="9052560" y="2697480"/>
            <a:ext cx="237744" cy="237744"/>
          </a:xfrm>
          <a:prstGeom prst="ellipse">
            <a:avLst/>
          </a:prstGeom>
          <a:solidFill>
            <a:srgbClr val="0B1437"/>
          </a:solidFill>
          <a:ln w="12700">
            <a:solidFill>
              <a:srgbClr val="FFFFFF"/>
            </a:solidFill>
            <a:prstDash val="solid"/>
          </a:ln>
        </p:spPr>
      </p:sp>
      <p:sp>
        <p:nvSpPr>
          <p:cNvPr id="14" name="Chunk near"/>
          <p:cNvSpPr/>
          <p:nvPr/>
        </p:nvSpPr>
        <p:spPr>
          <a:xfrm>
            <a:off x="8412480" y="3520440"/>
            <a:ext cx="237744" cy="237744"/>
          </a:xfrm>
          <a:prstGeom prst="ellipse">
            <a:avLst/>
          </a:prstGeom>
          <a:solidFill>
            <a:srgbClr val="0B1437"/>
          </a:solidFill>
          <a:ln w="12700">
            <a:solidFill>
              <a:srgbClr val="FFFFFF"/>
            </a:solidFill>
            <a:prstDash val="solid"/>
          </a:ln>
        </p:spPr>
      </p:sp>
      <p:sp>
        <p:nvSpPr>
          <p:cNvPr id="15" name="Question"/>
          <p:cNvSpPr/>
          <p:nvPr/>
        </p:nvSpPr>
        <p:spPr>
          <a:xfrm>
            <a:off x="8732520" y="3154680"/>
            <a:ext cx="292608" cy="292608"/>
          </a:xfrm>
          <a:prstGeom prst="ellipse">
            <a:avLst/>
          </a:prstGeom>
          <a:solidFill>
            <a:srgbClr val="F59E0B"/>
          </a:solidFill>
          <a:ln w="12700">
            <a:solidFill>
              <a:srgbClr val="FFFFFF"/>
            </a:solidFill>
            <a:prstDash val="solid"/>
          </a:ln>
        </p:spPr>
      </p:sp>
      <p:sp>
        <p:nvSpPr>
          <p:cNvPr id="16" name="Chunk far"/>
          <p:cNvSpPr/>
          <p:nvPr/>
        </p:nvSpPr>
        <p:spPr>
          <a:xfrm>
            <a:off x="10698480" y="2331720"/>
            <a:ext cx="237744" cy="237744"/>
          </a:xfrm>
          <a:prstGeom prst="ellipse">
            <a:avLst/>
          </a:prstGeom>
          <a:solidFill>
            <a:srgbClr val="94A3B8"/>
          </a:solidFill>
          <a:ln w="12700">
            <a:solidFill>
              <a:srgbClr val="FFFFFF"/>
            </a:solidFill>
            <a:prstDash val="solid"/>
          </a:ln>
        </p:spPr>
      </p:sp>
      <p:sp>
        <p:nvSpPr>
          <p:cNvPr id="17" name="Chunk far"/>
          <p:cNvSpPr/>
          <p:nvPr/>
        </p:nvSpPr>
        <p:spPr>
          <a:xfrm>
            <a:off x="10972800" y="4023360"/>
            <a:ext cx="237744" cy="237744"/>
          </a:xfrm>
          <a:prstGeom prst="ellipse">
            <a:avLst/>
          </a:prstGeom>
          <a:solidFill>
            <a:srgbClr val="94A3B8"/>
          </a:solidFill>
          <a:ln w="12700">
            <a:solidFill>
              <a:srgbClr val="FFFFFF"/>
            </a:solidFill>
            <a:prstDash val="solid"/>
          </a:ln>
        </p:spPr>
      </p:sp>
      <p:sp>
        <p:nvSpPr>
          <p:cNvPr id="18" name="Chunk far"/>
          <p:cNvSpPr/>
          <p:nvPr/>
        </p:nvSpPr>
        <p:spPr>
          <a:xfrm>
            <a:off x="10149840" y="4617720"/>
            <a:ext cx="237744" cy="237744"/>
          </a:xfrm>
          <a:prstGeom prst="ellipse">
            <a:avLst/>
          </a:prstGeom>
          <a:solidFill>
            <a:srgbClr val="94A3B8"/>
          </a:solidFill>
          <a:ln w="12700">
            <a:solidFill>
              <a:srgbClr val="FFFFFF"/>
            </a:solidFill>
            <a:prstDash val="solid"/>
          </a:ln>
        </p:spPr>
      </p:sp>
      <p:sp>
        <p:nvSpPr>
          <p:cNvPr id="19" name="Text 16"/>
          <p:cNvSpPr txBox="1"/>
          <p:nvPr/>
        </p:nvSpPr>
        <p:spPr>
          <a:xfrm>
            <a:off x="9098280" y="3200400"/>
            <a:ext cx="1005840" cy="274320"/>
          </a:xfrm>
          <a:prstGeom prst="rect">
            <a:avLst/>
          </a:prstGeom>
          <a:noFill/>
          <a:ln/>
        </p:spPr>
        <p:txBody>
          <a:bodyPr wrap="square" lIns="0" tIns="0" rIns="0" bIns="0" rtlCol="0" anchor="t"/>
          <a:lstStyle/>
          <a:p>
            <a:pPr marL="0" indent="0">
              <a:buNone/>
            </a:pPr>
            <a:r>
              <a:rPr lang="en-US" sz="1200" b="1" dirty="0">
                <a:solidFill>
                  <a:srgbClr val="B45309"/>
                </a:solidFill>
              </a:rPr>
              <a:t>question</a:t>
            </a:r>
            <a:endParaRPr lang="en-US" sz="1200" dirty="0"/>
          </a:p>
        </p:txBody>
      </p:sp>
      <p:sp>
        <p:nvSpPr>
          <p:cNvPr id="20" name="Text 17"/>
          <p:cNvSpPr txBox="1"/>
          <p:nvPr/>
        </p:nvSpPr>
        <p:spPr>
          <a:xfrm>
            <a:off x="7726680" y="4800600"/>
            <a:ext cx="3749040" cy="457200"/>
          </a:xfrm>
          <a:prstGeom prst="rect">
            <a:avLst/>
          </a:prstGeom>
          <a:noFill/>
          <a:ln/>
        </p:spPr>
        <p:txBody>
          <a:bodyPr wrap="square" lIns="0" tIns="0" rIns="0" bIns="0" rtlCol="0" anchor="t"/>
          <a:lstStyle/>
          <a:p>
            <a:pPr marL="0" indent="0">
              <a:buNone/>
            </a:pPr>
            <a:r>
              <a:rPr lang="en-US" sz="1200" dirty="0">
                <a:solidFill>
                  <a:srgbClr val="64748B"/>
                </a:solidFill>
              </a:rPr>
              <a:t>similar chunks sit close to the question</a:t>
            </a:r>
            <a:endParaRPr lang="en-US" sz="1200" dirty="0"/>
          </a:p>
        </p:txBody>
      </p:sp>
      <p:sp>
        <p:nvSpPr>
          <p:cNvPr id="21" name="Callout"/>
          <p:cNvSpPr/>
          <p:nvPr/>
        </p:nvSpPr>
        <p:spPr>
          <a:xfrm>
            <a:off x="548640" y="5577840"/>
            <a:ext cx="11064240" cy="548640"/>
          </a:xfrm>
          <a:prstGeom prst="roundRect">
            <a:avLst>
              <a:gd name="adj" fmla="val 16667"/>
            </a:avLst>
          </a:prstGeom>
          <a:solidFill>
            <a:srgbClr val="E0F2FE"/>
          </a:solidFill>
          <a:ln w="12700">
            <a:solidFill>
              <a:srgbClr val="0EA5E9"/>
            </a:solidFill>
            <a:prstDash val="solid"/>
          </a:ln>
        </p:spPr>
      </p:sp>
      <p:sp>
        <p:nvSpPr>
          <p:cNvPr id="22" name="Text 19"/>
          <p:cNvSpPr txBox="1"/>
          <p:nvPr/>
        </p:nvSpPr>
        <p:spPr>
          <a:xfrm>
            <a:off x="777240" y="5577840"/>
            <a:ext cx="10607040" cy="548640"/>
          </a:xfrm>
          <a:prstGeom prst="rect">
            <a:avLst/>
          </a:prstGeom>
          <a:noFill/>
          <a:ln/>
        </p:spPr>
        <p:txBody>
          <a:bodyPr wrap="square" lIns="0" tIns="0" rIns="0" bIns="0" rtlCol="0" anchor="ctr"/>
          <a:lstStyle/>
          <a:p>
            <a:pPr marL="0" indent="0">
              <a:buNone/>
            </a:pPr>
            <a:r>
              <a:rPr lang="en-US" sz="1500" b="1" dirty="0">
                <a:solidFill>
                  <a:srgbClr val="1E293B"/>
                </a:solidFill>
              </a:rPr>
              <a:t>Why it matters:  </a:t>
            </a:r>
            <a:r>
              <a:rPr lang="en-US" sz="1500" dirty="0">
                <a:solidFill>
                  <a:srgbClr val="1E293B"/>
                </a:solidFill>
              </a:rPr>
              <a:t>search by meaning finds related text even when the user's wording differs.</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ection pill"/>
          <p:cNvSpPr/>
          <p:nvPr/>
        </p:nvSpPr>
        <p:spPr>
          <a:xfrm>
            <a:off x="548640" y="384048"/>
            <a:ext cx="2107692" cy="274320"/>
          </a:xfrm>
          <a:prstGeom prst="roundRect">
            <a:avLst>
              <a:gd name="adj" fmla="val 50000"/>
            </a:avLst>
          </a:prstGeom>
          <a:solidFill>
            <a:srgbClr val="047857"/>
          </a:solidFill>
          <a:ln/>
        </p:spPr>
        <p:txBody>
          <a:bodyPr wrap="square" lIns="0" tIns="0" rIns="0" bIns="0" rtlCol="0" anchor="ctr"/>
          <a:lstStyle/>
          <a:p>
            <a:pPr marL="0" indent="0" algn="ctr">
              <a:buNone/>
            </a:pPr>
            <a:r>
              <a:rPr lang="en-US" sz="1100" b="1" kern="0" spc="100" dirty="0">
                <a:solidFill>
                  <a:srgbClr val="FFFFFF"/>
                </a:solidFill>
              </a:rPr>
              <a:t>PART 3  ·  PIPELINE</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Step 3: ChromaDB storage and retrieval</a:t>
            </a:r>
            <a:endParaRPr lang="en-US" sz="3200" dirty="0"/>
          </a:p>
        </p:txBody>
      </p:sp>
      <p:sp>
        <p:nvSpPr>
          <p:cNvPr id="5" name="Text 2"/>
          <p:cNvSpPr txBox="1"/>
          <p:nvPr/>
        </p:nvSpPr>
        <p:spPr>
          <a:xfrm>
            <a:off x="548640" y="1783080"/>
            <a:ext cx="5120640" cy="365760"/>
          </a:xfrm>
          <a:prstGeom prst="rect">
            <a:avLst/>
          </a:prstGeom>
          <a:noFill/>
          <a:ln/>
        </p:spPr>
        <p:txBody>
          <a:bodyPr wrap="square" lIns="0" tIns="0" rIns="0" bIns="0" rtlCol="0" anchor="t"/>
          <a:lstStyle/>
          <a:p>
            <a:pPr marL="0" indent="0">
              <a:buNone/>
            </a:pPr>
            <a:r>
              <a:rPr lang="en-US" sz="2000" b="1" dirty="0">
                <a:solidFill>
                  <a:srgbClr val="0B1437"/>
                </a:solidFill>
              </a:rPr>
              <a:t>What ChromaDB stores</a:t>
            </a:r>
            <a:endParaRPr lang="en-US" sz="2000" dirty="0"/>
          </a:p>
        </p:txBody>
      </p:sp>
      <p:sp>
        <p:nvSpPr>
          <p:cNvPr id="6" name="Box"/>
          <p:cNvSpPr/>
          <p:nvPr/>
        </p:nvSpPr>
        <p:spPr>
          <a:xfrm>
            <a:off x="548640" y="2286000"/>
            <a:ext cx="5120640" cy="457200"/>
          </a:xfrm>
          <a:prstGeom prst="roundRect">
            <a:avLst>
              <a:gd name="adj" fmla="val 20000"/>
            </a:avLst>
          </a:prstGeom>
          <a:solidFill>
            <a:srgbClr val="F1F5F9"/>
          </a:solidFill>
          <a:ln w="12700">
            <a:solidFill>
              <a:srgbClr val="CBD5E1"/>
            </a:solidFill>
          </a:ln>
        </p:spPr>
        <p:txBody>
          <a:bodyPr wrap="square" lIns="127000" tIns="127000" rIns="127000" bIns="127000" rtlCol="0" anchor="ctr"/>
          <a:lstStyle/>
          <a:p>
            <a:pPr marL="0" indent="0" algn="l">
              <a:buNone/>
            </a:pPr>
            <a:r>
              <a:rPr lang="en-US" sz="1600" dirty="0">
                <a:solidFill>
                  <a:srgbClr val="1E293B"/>
                </a:solidFill>
              </a:rPr>
              <a:t>Chunk ID</a:t>
            </a:r>
            <a:endParaRPr lang="en-US" sz="1600" dirty="0"/>
          </a:p>
        </p:txBody>
      </p:sp>
      <p:sp>
        <p:nvSpPr>
          <p:cNvPr id="7" name="Box"/>
          <p:cNvSpPr/>
          <p:nvPr/>
        </p:nvSpPr>
        <p:spPr>
          <a:xfrm>
            <a:off x="548640" y="2852928"/>
            <a:ext cx="5120640" cy="457200"/>
          </a:xfrm>
          <a:prstGeom prst="roundRect">
            <a:avLst>
              <a:gd name="adj" fmla="val 20000"/>
            </a:avLst>
          </a:prstGeom>
          <a:solidFill>
            <a:srgbClr val="F1F5F9"/>
          </a:solidFill>
          <a:ln w="12700">
            <a:solidFill>
              <a:srgbClr val="CBD5E1"/>
            </a:solidFill>
          </a:ln>
        </p:spPr>
        <p:txBody>
          <a:bodyPr wrap="square" lIns="127000" tIns="127000" rIns="127000" bIns="127000" rtlCol="0" anchor="ctr"/>
          <a:lstStyle/>
          <a:p>
            <a:pPr marL="0" indent="0" algn="l">
              <a:buNone/>
            </a:pPr>
            <a:r>
              <a:rPr lang="en-US" sz="1600" dirty="0">
                <a:solidFill>
                  <a:srgbClr val="1E293B"/>
                </a:solidFill>
              </a:rPr>
              <a:t>Chunk text</a:t>
            </a:r>
            <a:endParaRPr lang="en-US" sz="1600" dirty="0"/>
          </a:p>
        </p:txBody>
      </p:sp>
      <p:sp>
        <p:nvSpPr>
          <p:cNvPr id="8" name="Box"/>
          <p:cNvSpPr/>
          <p:nvPr/>
        </p:nvSpPr>
        <p:spPr>
          <a:xfrm>
            <a:off x="548640" y="3419856"/>
            <a:ext cx="5120640" cy="457200"/>
          </a:xfrm>
          <a:prstGeom prst="roundRect">
            <a:avLst>
              <a:gd name="adj" fmla="val 20000"/>
            </a:avLst>
          </a:prstGeom>
          <a:solidFill>
            <a:srgbClr val="F1F5F9"/>
          </a:solidFill>
          <a:ln w="12700">
            <a:solidFill>
              <a:srgbClr val="CBD5E1"/>
            </a:solidFill>
          </a:ln>
        </p:spPr>
        <p:txBody>
          <a:bodyPr wrap="square" lIns="127000" tIns="127000" rIns="127000" bIns="127000" rtlCol="0" anchor="ctr"/>
          <a:lstStyle/>
          <a:p>
            <a:pPr marL="0" indent="0" algn="l">
              <a:buNone/>
            </a:pPr>
            <a:r>
              <a:rPr lang="en-US" sz="1600" dirty="0">
                <a:solidFill>
                  <a:srgbClr val="1E293B"/>
                </a:solidFill>
              </a:rPr>
              <a:t>Source document</a:t>
            </a:r>
            <a:endParaRPr lang="en-US" sz="1600" dirty="0"/>
          </a:p>
        </p:txBody>
      </p:sp>
      <p:sp>
        <p:nvSpPr>
          <p:cNvPr id="9" name="Box"/>
          <p:cNvSpPr/>
          <p:nvPr/>
        </p:nvSpPr>
        <p:spPr>
          <a:xfrm>
            <a:off x="548640" y="3986784"/>
            <a:ext cx="5120640" cy="457200"/>
          </a:xfrm>
          <a:prstGeom prst="roundRect">
            <a:avLst>
              <a:gd name="adj" fmla="val 20000"/>
            </a:avLst>
          </a:prstGeom>
          <a:solidFill>
            <a:srgbClr val="F1F5F9"/>
          </a:solidFill>
          <a:ln w="12700">
            <a:solidFill>
              <a:srgbClr val="CBD5E1"/>
            </a:solidFill>
          </a:ln>
        </p:spPr>
        <p:txBody>
          <a:bodyPr wrap="square" lIns="127000" tIns="127000" rIns="127000" bIns="127000" rtlCol="0" anchor="ctr"/>
          <a:lstStyle/>
          <a:p>
            <a:pPr marL="0" indent="0" algn="l">
              <a:buNone/>
            </a:pPr>
            <a:r>
              <a:rPr lang="en-US" sz="1600" dirty="0">
                <a:solidFill>
                  <a:srgbClr val="1E293B"/>
                </a:solidFill>
              </a:rPr>
              <a:t>Page number</a:t>
            </a:r>
            <a:endParaRPr lang="en-US" sz="1600" dirty="0"/>
          </a:p>
        </p:txBody>
      </p:sp>
      <p:sp>
        <p:nvSpPr>
          <p:cNvPr id="10" name="Box"/>
          <p:cNvSpPr/>
          <p:nvPr/>
        </p:nvSpPr>
        <p:spPr>
          <a:xfrm>
            <a:off x="548640" y="4553712"/>
            <a:ext cx="5120640" cy="457200"/>
          </a:xfrm>
          <a:prstGeom prst="roundRect">
            <a:avLst>
              <a:gd name="adj" fmla="val 20000"/>
            </a:avLst>
          </a:prstGeom>
          <a:solidFill>
            <a:srgbClr val="FEF3C7"/>
          </a:solidFill>
          <a:ln w="12700">
            <a:solidFill>
              <a:srgbClr val="F59E0B"/>
            </a:solidFill>
          </a:ln>
        </p:spPr>
        <p:txBody>
          <a:bodyPr wrap="square" lIns="127000" tIns="127000" rIns="127000" bIns="127000" rtlCol="0" anchor="ctr"/>
          <a:lstStyle/>
          <a:p>
            <a:pPr marL="0" indent="0" algn="l">
              <a:buNone/>
            </a:pPr>
            <a:r>
              <a:rPr lang="en-US" sz="1600" dirty="0">
                <a:solidFill>
                  <a:srgbClr val="1E293B"/>
                </a:solidFill>
              </a:rPr>
              <a:t>Embedding vector</a:t>
            </a:r>
            <a:endParaRPr lang="en-US" sz="1600" dirty="0"/>
          </a:p>
        </p:txBody>
      </p:sp>
      <p:sp>
        <p:nvSpPr>
          <p:cNvPr id="11" name="Text 8"/>
          <p:cNvSpPr txBox="1"/>
          <p:nvPr/>
        </p:nvSpPr>
        <p:spPr>
          <a:xfrm>
            <a:off x="6126480" y="1783080"/>
            <a:ext cx="5486400" cy="365760"/>
          </a:xfrm>
          <a:prstGeom prst="rect">
            <a:avLst/>
          </a:prstGeom>
          <a:noFill/>
          <a:ln/>
        </p:spPr>
        <p:txBody>
          <a:bodyPr wrap="square" lIns="0" tIns="0" rIns="0" bIns="0" rtlCol="0" anchor="t"/>
          <a:lstStyle/>
          <a:p>
            <a:pPr marL="0" indent="0">
              <a:buNone/>
            </a:pPr>
            <a:r>
              <a:rPr lang="en-US" sz="2000" b="1" dirty="0">
                <a:solidFill>
                  <a:srgbClr val="0B1437"/>
                </a:solidFill>
              </a:rPr>
              <a:t>How retrieval works</a:t>
            </a:r>
            <a:endParaRPr lang="en-US" sz="2000" dirty="0"/>
          </a:p>
        </p:txBody>
      </p:sp>
      <p:sp>
        <p:nvSpPr>
          <p:cNvPr id="12" name="Number"/>
          <p:cNvSpPr/>
          <p:nvPr/>
        </p:nvSpPr>
        <p:spPr>
          <a:xfrm>
            <a:off x="6126480" y="2331720"/>
            <a:ext cx="365760" cy="365760"/>
          </a:xfrm>
          <a:prstGeom prst="ellipse">
            <a:avLst/>
          </a:prstGeom>
          <a:solidFill>
            <a:srgbClr val="047857"/>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3" name="Text 10"/>
          <p:cNvSpPr txBox="1"/>
          <p:nvPr/>
        </p:nvSpPr>
        <p:spPr>
          <a:xfrm>
            <a:off x="6675120" y="2286000"/>
            <a:ext cx="4937760" cy="457200"/>
          </a:xfrm>
          <a:prstGeom prst="rect">
            <a:avLst/>
          </a:prstGeom>
          <a:noFill/>
          <a:ln/>
        </p:spPr>
        <p:txBody>
          <a:bodyPr wrap="square" lIns="0" tIns="0" rIns="0" bIns="0" rtlCol="0" anchor="ctr"/>
          <a:lstStyle/>
          <a:p>
            <a:pPr marL="0" indent="0">
              <a:buNone/>
            </a:pPr>
            <a:r>
              <a:rPr lang="en-US" sz="1600" dirty="0">
                <a:solidFill>
                  <a:srgbClr val="1E293B"/>
                </a:solidFill>
              </a:rPr>
              <a:t>Embed the user's question</a:t>
            </a:r>
            <a:endParaRPr lang="en-US" sz="1600" dirty="0"/>
          </a:p>
        </p:txBody>
      </p:sp>
      <p:sp>
        <p:nvSpPr>
          <p:cNvPr id="14" name="Number"/>
          <p:cNvSpPr/>
          <p:nvPr/>
        </p:nvSpPr>
        <p:spPr>
          <a:xfrm>
            <a:off x="6126480" y="2898648"/>
            <a:ext cx="365760" cy="365760"/>
          </a:xfrm>
          <a:prstGeom prst="ellipse">
            <a:avLst/>
          </a:prstGeom>
          <a:solidFill>
            <a:srgbClr val="047857"/>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5" name="Text 12"/>
          <p:cNvSpPr txBox="1"/>
          <p:nvPr/>
        </p:nvSpPr>
        <p:spPr>
          <a:xfrm>
            <a:off x="6675120" y="2852928"/>
            <a:ext cx="4937760" cy="457200"/>
          </a:xfrm>
          <a:prstGeom prst="rect">
            <a:avLst/>
          </a:prstGeom>
          <a:noFill/>
          <a:ln/>
        </p:spPr>
        <p:txBody>
          <a:bodyPr wrap="square" lIns="0" tIns="0" rIns="0" bIns="0" rtlCol="0" anchor="ctr"/>
          <a:lstStyle/>
          <a:p>
            <a:pPr marL="0" indent="0">
              <a:buNone/>
            </a:pPr>
            <a:r>
              <a:rPr lang="en-US" sz="1600" dirty="0">
                <a:solidFill>
                  <a:srgbClr val="1E293B"/>
                </a:solidFill>
              </a:rPr>
              <a:t>Search for similar stored vectors</a:t>
            </a:r>
            <a:endParaRPr lang="en-US" sz="1600" dirty="0"/>
          </a:p>
        </p:txBody>
      </p:sp>
      <p:sp>
        <p:nvSpPr>
          <p:cNvPr id="16" name="Number"/>
          <p:cNvSpPr/>
          <p:nvPr/>
        </p:nvSpPr>
        <p:spPr>
          <a:xfrm>
            <a:off x="6126480" y="3465576"/>
            <a:ext cx="365760" cy="365760"/>
          </a:xfrm>
          <a:prstGeom prst="ellipse">
            <a:avLst/>
          </a:prstGeom>
          <a:solidFill>
            <a:srgbClr val="047857"/>
          </a:solid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7" name="Text 14"/>
          <p:cNvSpPr txBox="1"/>
          <p:nvPr/>
        </p:nvSpPr>
        <p:spPr>
          <a:xfrm>
            <a:off x="6675120" y="3419856"/>
            <a:ext cx="4937760" cy="457200"/>
          </a:xfrm>
          <a:prstGeom prst="rect">
            <a:avLst/>
          </a:prstGeom>
          <a:noFill/>
          <a:ln/>
        </p:spPr>
        <p:txBody>
          <a:bodyPr wrap="square" lIns="0" tIns="0" rIns="0" bIns="0" rtlCol="0" anchor="ctr"/>
          <a:lstStyle/>
          <a:p>
            <a:pPr marL="0" indent="0">
              <a:buNone/>
            </a:pPr>
            <a:r>
              <a:rPr lang="en-US" sz="1600" dirty="0">
                <a:solidFill>
                  <a:srgbClr val="1E293B"/>
                </a:solidFill>
              </a:rPr>
              <a:t>Take the top-ranked chunks (Top-K)</a:t>
            </a:r>
            <a:endParaRPr lang="en-US" sz="1600" dirty="0"/>
          </a:p>
        </p:txBody>
      </p:sp>
      <p:sp>
        <p:nvSpPr>
          <p:cNvPr id="18" name="Number"/>
          <p:cNvSpPr/>
          <p:nvPr/>
        </p:nvSpPr>
        <p:spPr>
          <a:xfrm>
            <a:off x="6126480" y="4032504"/>
            <a:ext cx="365760" cy="365760"/>
          </a:xfrm>
          <a:prstGeom prst="ellipse">
            <a:avLst/>
          </a:prstGeom>
          <a:solidFill>
            <a:srgbClr val="047857"/>
          </a:solid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9" name="Text 16"/>
          <p:cNvSpPr txBox="1"/>
          <p:nvPr/>
        </p:nvSpPr>
        <p:spPr>
          <a:xfrm>
            <a:off x="6675120" y="3986784"/>
            <a:ext cx="4937760" cy="457200"/>
          </a:xfrm>
          <a:prstGeom prst="rect">
            <a:avLst/>
          </a:prstGeom>
          <a:noFill/>
          <a:ln/>
        </p:spPr>
        <p:txBody>
          <a:bodyPr wrap="square" lIns="0" tIns="0" rIns="0" bIns="0" rtlCol="0" anchor="ctr"/>
          <a:lstStyle/>
          <a:p>
            <a:pPr marL="0" indent="0">
              <a:buNone/>
            </a:pPr>
            <a:r>
              <a:rPr lang="en-US" sz="1600" dirty="0">
                <a:solidFill>
                  <a:srgbClr val="1E293B"/>
                </a:solidFill>
              </a:rPr>
              <a:t>Apply the distance threshold</a:t>
            </a:r>
            <a:endParaRPr lang="en-US" sz="1600" dirty="0"/>
          </a:p>
        </p:txBody>
      </p:sp>
      <p:sp>
        <p:nvSpPr>
          <p:cNvPr id="20" name="Number"/>
          <p:cNvSpPr/>
          <p:nvPr/>
        </p:nvSpPr>
        <p:spPr>
          <a:xfrm>
            <a:off x="6126480" y="4599432"/>
            <a:ext cx="365760" cy="365760"/>
          </a:xfrm>
          <a:prstGeom prst="ellipse">
            <a:avLst/>
          </a:prstGeom>
          <a:solidFill>
            <a:srgbClr val="047857"/>
          </a:solid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1" name="Text 18"/>
          <p:cNvSpPr txBox="1"/>
          <p:nvPr/>
        </p:nvSpPr>
        <p:spPr>
          <a:xfrm>
            <a:off x="6675120" y="4553712"/>
            <a:ext cx="4937760" cy="457200"/>
          </a:xfrm>
          <a:prstGeom prst="rect">
            <a:avLst/>
          </a:prstGeom>
          <a:noFill/>
          <a:ln/>
        </p:spPr>
        <p:txBody>
          <a:bodyPr wrap="square" lIns="0" tIns="0" rIns="0" bIns="0" rtlCol="0" anchor="ctr"/>
          <a:lstStyle/>
          <a:p>
            <a:pPr marL="0" indent="0">
              <a:buNone/>
            </a:pPr>
            <a:r>
              <a:rPr lang="en-US" sz="1600" dirty="0">
                <a:solidFill>
                  <a:srgbClr val="1E293B"/>
                </a:solidFill>
              </a:rPr>
              <a:t>Pass the relevant context to the LLM</a:t>
            </a:r>
            <a:endParaRPr lang="en-US" sz="1600" dirty="0"/>
          </a:p>
        </p:txBody>
      </p:sp>
      <p:sp>
        <p:nvSpPr>
          <p:cNvPr id="22" name="Callout"/>
          <p:cNvSpPr/>
          <p:nvPr/>
        </p:nvSpPr>
        <p:spPr>
          <a:xfrm>
            <a:off x="548640" y="5349240"/>
            <a:ext cx="11064240" cy="594360"/>
          </a:xfrm>
          <a:prstGeom prst="roundRect">
            <a:avLst>
              <a:gd name="adj" fmla="val 15385"/>
            </a:avLst>
          </a:prstGeom>
          <a:solidFill>
            <a:srgbClr val="E0F2FE"/>
          </a:solidFill>
          <a:ln w="12700">
            <a:solidFill>
              <a:srgbClr val="0EA5E9"/>
            </a:solidFill>
            <a:prstDash val="solid"/>
          </a:ln>
        </p:spPr>
      </p:sp>
      <p:sp>
        <p:nvSpPr>
          <p:cNvPr id="23" name="Text 20"/>
          <p:cNvSpPr txBox="1"/>
          <p:nvPr/>
        </p:nvSpPr>
        <p:spPr>
          <a:xfrm>
            <a:off x="777240" y="5349240"/>
            <a:ext cx="10607040" cy="594360"/>
          </a:xfrm>
          <a:prstGeom prst="rect">
            <a:avLst/>
          </a:prstGeom>
          <a:noFill/>
          <a:ln/>
        </p:spPr>
        <p:txBody>
          <a:bodyPr wrap="square" lIns="0" tIns="0" rIns="0" bIns="0" rtlCol="0" anchor="ctr"/>
          <a:lstStyle/>
          <a:p>
            <a:pPr marL="0" indent="0">
              <a:buNone/>
            </a:pPr>
            <a:r>
              <a:rPr lang="en-US" sz="1500" b="1" dirty="0">
                <a:solidFill>
                  <a:srgbClr val="1E293B"/>
                </a:solidFill>
              </a:rPr>
              <a:t>Settings used:  </a:t>
            </a:r>
            <a:r>
              <a:rPr lang="en-US" sz="1500" dirty="0">
                <a:solidFill>
                  <a:srgbClr val="1E293B"/>
                </a:solidFill>
              </a:rPr>
              <a:t>Top-K = 3*  ·  distance threshold = 1.0*. Only close matches reach the LLM.</a:t>
            </a:r>
            <a:endParaRPr lang="en-US" sz="1500" dirty="0"/>
          </a:p>
        </p:txBody>
      </p:sp>
      <p:sp>
        <p:nvSpPr>
          <p:cNvPr id="24" name="Text 21"/>
          <p:cNvSpPr txBox="1"/>
          <p:nvPr/>
        </p:nvSpPr>
        <p:spPr>
          <a:xfrm>
            <a:off x="548640" y="6053328"/>
            <a:ext cx="5486400" cy="228600"/>
          </a:xfrm>
          <a:prstGeom prst="rect">
            <a:avLst/>
          </a:prstGeom>
          <a:noFill/>
          <a:ln/>
        </p:spPr>
        <p:txBody>
          <a:bodyPr wrap="square" lIns="0" tIns="0" rIns="0" bIns="0" rtlCol="0" anchor="t"/>
          <a:lstStyle/>
          <a:p>
            <a:pPr marL="0" indent="0">
              <a:buNone/>
            </a:pPr>
            <a:r>
              <a:rPr lang="en-US" sz="1100" dirty="0">
                <a:solidFill>
                  <a:srgbClr val="64748B"/>
                </a:solidFill>
              </a:rPr>
              <a:t>*Confirm against the final configuration</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ection pill"/>
          <p:cNvSpPr/>
          <p:nvPr/>
        </p:nvSpPr>
        <p:spPr>
          <a:xfrm>
            <a:off x="548640" y="384048"/>
            <a:ext cx="2107692" cy="274320"/>
          </a:xfrm>
          <a:prstGeom prst="roundRect">
            <a:avLst>
              <a:gd name="adj" fmla="val 50000"/>
            </a:avLst>
          </a:prstGeom>
          <a:solidFill>
            <a:srgbClr val="047857"/>
          </a:solidFill>
          <a:ln/>
        </p:spPr>
        <p:txBody>
          <a:bodyPr wrap="square" lIns="0" tIns="0" rIns="0" bIns="0" rtlCol="0" anchor="ctr"/>
          <a:lstStyle/>
          <a:p>
            <a:pPr marL="0" indent="0" algn="ctr">
              <a:buNone/>
            </a:pPr>
            <a:r>
              <a:rPr lang="en-US" sz="1100" b="1" kern="0" spc="100" dirty="0">
                <a:solidFill>
                  <a:srgbClr val="FFFFFF"/>
                </a:solidFill>
              </a:rPr>
              <a:t>PART 3  ·  PIPELINE</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Step 4: RAG pipeline and hallucination control</a:t>
            </a:r>
            <a:endParaRPr lang="en-US" sz="3200" dirty="0"/>
          </a:p>
        </p:txBody>
      </p:sp>
      <p:sp>
        <p:nvSpPr>
          <p:cNvPr id="5" name="Box"/>
          <p:cNvSpPr/>
          <p:nvPr/>
        </p:nvSpPr>
        <p:spPr>
          <a:xfrm>
            <a:off x="548640" y="1828800"/>
            <a:ext cx="1554480" cy="1188720"/>
          </a:xfrm>
          <a:prstGeom prst="roundRect">
            <a:avLst>
              <a:gd name="adj" fmla="val 7692"/>
            </a:avLst>
          </a:prstGeom>
          <a:solidFill>
            <a:srgbClr val="E0F2FE"/>
          </a:solidFill>
          <a:ln w="12700">
            <a:solidFill>
              <a:srgbClr val="0EA5E9"/>
            </a:solidFill>
          </a:ln>
        </p:spPr>
        <p:txBody>
          <a:bodyPr wrap="square" lIns="50800" tIns="50800" rIns="50800" bIns="50800" rtlCol="0" anchor="ctr"/>
          <a:lstStyle/>
          <a:p>
            <a:pPr marL="0" indent="0" algn="ctr">
              <a:buNone/>
            </a:pPr>
            <a:r>
              <a:rPr lang="en-US" sz="1600" b="1" dirty="0">
                <a:solidFill>
                  <a:srgbClr val="0B1437"/>
                </a:solidFill>
              </a:rPr>
              <a:t>User question</a:t>
            </a:r>
            <a:endParaRPr lang="en-US" sz="1600" dirty="0"/>
          </a:p>
        </p:txBody>
      </p:sp>
      <p:sp>
        <p:nvSpPr>
          <p:cNvPr id="6" name="Connector"/>
          <p:cNvSpPr/>
          <p:nvPr/>
        </p:nvSpPr>
        <p:spPr>
          <a:xfrm>
            <a:off x="2103120" y="2423160"/>
            <a:ext cx="411480" cy="0"/>
          </a:xfrm>
          <a:prstGeom prst="line">
            <a:avLst/>
          </a:prstGeom>
          <a:noFill/>
          <a:ln w="22225">
            <a:solidFill>
              <a:srgbClr val="64748B"/>
            </a:solidFill>
            <a:prstDash val="solid"/>
            <a:tailEnd type="triangle"/>
          </a:ln>
        </p:spPr>
      </p:sp>
      <p:sp>
        <p:nvSpPr>
          <p:cNvPr id="7" name="Box"/>
          <p:cNvSpPr/>
          <p:nvPr/>
        </p:nvSpPr>
        <p:spPr>
          <a:xfrm>
            <a:off x="2514600" y="1828800"/>
            <a:ext cx="1645920" cy="1188720"/>
          </a:xfrm>
          <a:prstGeom prst="roundRect">
            <a:avLst>
              <a:gd name="adj" fmla="val 7692"/>
            </a:avLst>
          </a:prstGeom>
          <a:solidFill>
            <a:srgbClr val="F1F5F9"/>
          </a:solidFill>
          <a:ln w="12700">
            <a:solidFill>
              <a:srgbClr val="CBD5E1"/>
            </a:solidFill>
          </a:ln>
        </p:spPr>
        <p:txBody>
          <a:bodyPr wrap="square" lIns="50800" tIns="50800" rIns="50800" bIns="50800" rtlCol="0" anchor="ctr"/>
          <a:lstStyle/>
          <a:p>
            <a:pPr marL="0" indent="0" algn="ctr">
              <a:buNone/>
            </a:pPr>
            <a:r>
              <a:rPr lang="en-US" sz="1500" b="1" dirty="0">
                <a:solidFill>
                  <a:srgbClr val="1E293B"/>
                </a:solidFill>
              </a:rPr>
              <a:t>Retrieve chunks from ChromaDB</a:t>
            </a:r>
            <a:endParaRPr lang="en-US" sz="1500" dirty="0"/>
          </a:p>
        </p:txBody>
      </p:sp>
      <p:sp>
        <p:nvSpPr>
          <p:cNvPr id="8" name="Connector"/>
          <p:cNvSpPr/>
          <p:nvPr/>
        </p:nvSpPr>
        <p:spPr>
          <a:xfrm>
            <a:off x="4160520" y="2423160"/>
            <a:ext cx="411480" cy="0"/>
          </a:xfrm>
          <a:prstGeom prst="line">
            <a:avLst/>
          </a:prstGeom>
          <a:noFill/>
          <a:ln w="22225">
            <a:solidFill>
              <a:srgbClr val="64748B"/>
            </a:solidFill>
            <a:prstDash val="solid"/>
            <a:tailEnd type="triangle"/>
          </a:ln>
        </p:spPr>
      </p:sp>
      <p:sp>
        <p:nvSpPr>
          <p:cNvPr id="9" name="Decision"/>
          <p:cNvSpPr/>
          <p:nvPr/>
        </p:nvSpPr>
        <p:spPr>
          <a:xfrm>
            <a:off x="4572000" y="1737360"/>
            <a:ext cx="2286000" cy="1371600"/>
          </a:xfrm>
          <a:prstGeom prst="diamond">
            <a:avLst/>
          </a:prstGeom>
          <a:solidFill>
            <a:srgbClr val="FEF3C7"/>
          </a:solidFill>
          <a:ln w="19050">
            <a:solidFill>
              <a:srgbClr val="F59E0B"/>
            </a:solidFill>
            <a:prstDash val="solid"/>
          </a:ln>
        </p:spPr>
      </p:sp>
      <p:sp>
        <p:nvSpPr>
          <p:cNvPr id="10" name="Text 7"/>
          <p:cNvSpPr txBox="1"/>
          <p:nvPr/>
        </p:nvSpPr>
        <p:spPr>
          <a:xfrm>
            <a:off x="5074920" y="2011680"/>
            <a:ext cx="1280160" cy="822960"/>
          </a:xfrm>
          <a:prstGeom prst="rect">
            <a:avLst/>
          </a:prstGeom>
          <a:noFill/>
          <a:ln/>
        </p:spPr>
        <p:txBody>
          <a:bodyPr wrap="square" lIns="0" tIns="0" rIns="0" bIns="0" rtlCol="0" anchor="ctr"/>
          <a:lstStyle/>
          <a:p>
            <a:pPr marL="0" indent="0" algn="ctr">
              <a:buNone/>
            </a:pPr>
            <a:r>
              <a:rPr lang="en-US" sz="1400" b="1" dirty="0">
                <a:solidFill>
                  <a:srgbClr val="0B1437"/>
                </a:solidFill>
              </a:rPr>
              <a:t>Enough relevant evidence?</a:t>
            </a:r>
            <a:endParaRPr lang="en-US" sz="1400" dirty="0"/>
          </a:p>
        </p:txBody>
      </p:sp>
      <p:sp>
        <p:nvSpPr>
          <p:cNvPr id="11" name="Connector"/>
          <p:cNvSpPr/>
          <p:nvPr/>
        </p:nvSpPr>
        <p:spPr>
          <a:xfrm>
            <a:off x="6858000" y="2423160"/>
            <a:ext cx="411480" cy="0"/>
          </a:xfrm>
          <a:prstGeom prst="line">
            <a:avLst/>
          </a:prstGeom>
          <a:noFill/>
          <a:ln w="22225">
            <a:solidFill>
              <a:srgbClr val="047857"/>
            </a:solidFill>
            <a:prstDash val="solid"/>
            <a:tailEnd type="triangle"/>
          </a:ln>
        </p:spPr>
      </p:sp>
      <p:sp>
        <p:nvSpPr>
          <p:cNvPr id="12" name="Text 9"/>
          <p:cNvSpPr txBox="1"/>
          <p:nvPr/>
        </p:nvSpPr>
        <p:spPr>
          <a:xfrm>
            <a:off x="6858000" y="2075688"/>
            <a:ext cx="457200" cy="228600"/>
          </a:xfrm>
          <a:prstGeom prst="rect">
            <a:avLst/>
          </a:prstGeom>
          <a:noFill/>
          <a:ln/>
        </p:spPr>
        <p:txBody>
          <a:bodyPr wrap="square" lIns="0" tIns="0" rIns="0" bIns="0" rtlCol="0" anchor="t"/>
          <a:lstStyle/>
          <a:p>
            <a:pPr marL="0" indent="0">
              <a:buNone/>
            </a:pPr>
            <a:r>
              <a:rPr lang="en-US" sz="1200" b="1" dirty="0">
                <a:solidFill>
                  <a:srgbClr val="047857"/>
                </a:solidFill>
              </a:rPr>
              <a:t>YES</a:t>
            </a:r>
            <a:endParaRPr lang="en-US" sz="1200" dirty="0"/>
          </a:p>
        </p:txBody>
      </p:sp>
      <p:sp>
        <p:nvSpPr>
          <p:cNvPr id="13" name="Box"/>
          <p:cNvSpPr/>
          <p:nvPr/>
        </p:nvSpPr>
        <p:spPr>
          <a:xfrm>
            <a:off x="7269480" y="1828800"/>
            <a:ext cx="2103120" cy="1188720"/>
          </a:xfrm>
          <a:prstGeom prst="roundRect">
            <a:avLst>
              <a:gd name="adj" fmla="val 7692"/>
            </a:avLst>
          </a:prstGeom>
          <a:solidFill>
            <a:srgbClr val="0B1437"/>
          </a:solidFill>
          <a:ln w="12700">
            <a:solidFill>
              <a:srgbClr val="0B1437"/>
            </a:solidFill>
          </a:ln>
        </p:spPr>
        <p:txBody>
          <a:bodyPr wrap="square" lIns="50800" tIns="50800" rIns="50800" bIns="50800" rtlCol="0" anchor="ctr"/>
          <a:lstStyle/>
          <a:p>
            <a:pPr marL="0" indent="0" algn="ctr">
              <a:buNone/>
            </a:pPr>
            <a:r>
              <a:rPr lang="en-US" sz="1500" b="1" dirty="0">
                <a:solidFill>
                  <a:srgbClr val="FFFFFF"/>
                </a:solidFill>
              </a:rPr>
              <a:t>Build prompt</a:t>
            </a:r>
            <a:endParaRPr lang="en-US" sz="1400" dirty="0"/>
          </a:p>
          <a:p>
            <a:pPr marL="0" indent="0" algn="ctr">
              <a:buNone/>
            </a:pPr>
            <a:r>
              <a:rPr lang="en-US" sz="1300" dirty="0">
                <a:solidFill>
                  <a:srgbClr val="FFFFFF"/>
                </a:solidFill>
              </a:rPr>
              <a:t>question + context</a:t>
            </a:r>
            <a:endParaRPr lang="en-US" sz="1400" dirty="0"/>
          </a:p>
          <a:p>
            <a:pPr marL="0" indent="0" algn="ctr">
              <a:buNone/>
            </a:pPr>
            <a:r>
              <a:rPr lang="en-US" sz="1400" b="1" dirty="0">
                <a:solidFill>
                  <a:srgbClr val="FFFFFF"/>
                </a:solidFill>
              </a:rPr>
              <a:t>Qwen3:8b (Ollama)</a:t>
            </a:r>
            <a:endParaRPr lang="en-US" sz="1400" dirty="0"/>
          </a:p>
        </p:txBody>
      </p:sp>
      <p:sp>
        <p:nvSpPr>
          <p:cNvPr id="14" name="Connector"/>
          <p:cNvSpPr/>
          <p:nvPr/>
        </p:nvSpPr>
        <p:spPr>
          <a:xfrm>
            <a:off x="9372600" y="2423160"/>
            <a:ext cx="411480" cy="0"/>
          </a:xfrm>
          <a:prstGeom prst="line">
            <a:avLst/>
          </a:prstGeom>
          <a:noFill/>
          <a:ln w="22225">
            <a:solidFill>
              <a:srgbClr val="64748B"/>
            </a:solidFill>
            <a:prstDash val="solid"/>
            <a:tailEnd type="triangle"/>
          </a:ln>
        </p:spPr>
      </p:sp>
      <p:sp>
        <p:nvSpPr>
          <p:cNvPr id="15" name="Box"/>
          <p:cNvSpPr/>
          <p:nvPr/>
        </p:nvSpPr>
        <p:spPr>
          <a:xfrm>
            <a:off x="9784080" y="1828800"/>
            <a:ext cx="1828800" cy="1188720"/>
          </a:xfrm>
          <a:prstGeom prst="roundRect">
            <a:avLst>
              <a:gd name="adj" fmla="val 7692"/>
            </a:avLst>
          </a:prstGeom>
          <a:solidFill>
            <a:srgbClr val="F59E0B"/>
          </a:solidFill>
          <a:ln w="12700">
            <a:solidFill>
              <a:srgbClr val="F59E0B"/>
            </a:solidFill>
          </a:ln>
        </p:spPr>
        <p:txBody>
          <a:bodyPr wrap="square" lIns="50800" tIns="50800" rIns="50800" bIns="50800" rtlCol="0" anchor="ctr"/>
          <a:lstStyle/>
          <a:p>
            <a:pPr marL="0" indent="0" algn="ctr">
              <a:buNone/>
            </a:pPr>
            <a:r>
              <a:rPr lang="en-US" sz="1500" b="1" dirty="0">
                <a:solidFill>
                  <a:srgbClr val="0B1437"/>
                </a:solidFill>
              </a:rPr>
              <a:t>Answer with source citations</a:t>
            </a:r>
            <a:endParaRPr lang="en-US" sz="1500" dirty="0"/>
          </a:p>
        </p:txBody>
      </p:sp>
      <p:sp>
        <p:nvSpPr>
          <p:cNvPr id="16" name="Connector"/>
          <p:cNvSpPr/>
          <p:nvPr/>
        </p:nvSpPr>
        <p:spPr>
          <a:xfrm>
            <a:off x="5715000" y="3108960"/>
            <a:ext cx="0" cy="731520"/>
          </a:xfrm>
          <a:prstGeom prst="line">
            <a:avLst/>
          </a:prstGeom>
          <a:noFill/>
          <a:ln w="22225">
            <a:solidFill>
              <a:srgbClr val="B91C1C"/>
            </a:solidFill>
            <a:prstDash val="solid"/>
            <a:tailEnd type="triangle"/>
          </a:ln>
        </p:spPr>
      </p:sp>
      <p:sp>
        <p:nvSpPr>
          <p:cNvPr id="17" name="Text 14"/>
          <p:cNvSpPr txBox="1"/>
          <p:nvPr/>
        </p:nvSpPr>
        <p:spPr>
          <a:xfrm>
            <a:off x="5806440" y="3291840"/>
            <a:ext cx="457200" cy="228600"/>
          </a:xfrm>
          <a:prstGeom prst="rect">
            <a:avLst/>
          </a:prstGeom>
          <a:noFill/>
          <a:ln/>
        </p:spPr>
        <p:txBody>
          <a:bodyPr wrap="square" lIns="0" tIns="0" rIns="0" bIns="0" rtlCol="0" anchor="t"/>
          <a:lstStyle/>
          <a:p>
            <a:pPr marL="0" indent="0">
              <a:buNone/>
            </a:pPr>
            <a:r>
              <a:rPr lang="en-US" sz="1200" b="1" dirty="0">
                <a:solidFill>
                  <a:srgbClr val="B91C1C"/>
                </a:solidFill>
              </a:rPr>
              <a:t>NO</a:t>
            </a:r>
            <a:endParaRPr lang="en-US" sz="1200" dirty="0"/>
          </a:p>
        </p:txBody>
      </p:sp>
      <p:sp>
        <p:nvSpPr>
          <p:cNvPr id="18" name="Box"/>
          <p:cNvSpPr/>
          <p:nvPr/>
        </p:nvSpPr>
        <p:spPr>
          <a:xfrm>
            <a:off x="4343400" y="3840480"/>
            <a:ext cx="2743200" cy="822960"/>
          </a:xfrm>
          <a:prstGeom prst="roundRect">
            <a:avLst>
              <a:gd name="adj" fmla="val 11111"/>
            </a:avLst>
          </a:prstGeom>
          <a:solidFill>
            <a:srgbClr val="FEE2E2"/>
          </a:solidFill>
          <a:ln w="12700">
            <a:solidFill>
              <a:srgbClr val="B91C1C"/>
            </a:solidFill>
          </a:ln>
        </p:spPr>
        <p:txBody>
          <a:bodyPr wrap="square" lIns="50800" tIns="50800" rIns="50800" bIns="50800" rtlCol="0" anchor="ctr"/>
          <a:lstStyle/>
          <a:p>
            <a:pPr marL="0" indent="0" algn="ctr">
              <a:buNone/>
            </a:pPr>
            <a:r>
              <a:rPr lang="en-US" sz="1400" b="1" dirty="0">
                <a:solidFill>
                  <a:srgbClr val="7F1D1D"/>
                </a:solidFill>
              </a:rPr>
              <a:t>Refusal response: “not enough information”</a:t>
            </a:r>
            <a:endParaRPr lang="en-US" sz="1400" dirty="0"/>
          </a:p>
        </p:txBody>
      </p:sp>
      <p:sp>
        <p:nvSpPr>
          <p:cNvPr id="19" name="Callout"/>
          <p:cNvSpPr/>
          <p:nvPr/>
        </p:nvSpPr>
        <p:spPr>
          <a:xfrm>
            <a:off x="548640" y="5074920"/>
            <a:ext cx="11064240" cy="868680"/>
          </a:xfrm>
          <a:prstGeom prst="roundRect">
            <a:avLst>
              <a:gd name="adj" fmla="val 10526"/>
            </a:avLst>
          </a:prstGeom>
          <a:solidFill>
            <a:srgbClr val="FEF3C7"/>
          </a:solidFill>
          <a:ln w="12700">
            <a:solidFill>
              <a:srgbClr val="F59E0B"/>
            </a:solidFill>
            <a:prstDash val="solid"/>
          </a:ln>
        </p:spPr>
      </p:sp>
      <p:sp>
        <p:nvSpPr>
          <p:cNvPr id="20" name="Text 17"/>
          <p:cNvSpPr txBox="1"/>
          <p:nvPr/>
        </p:nvSpPr>
        <p:spPr>
          <a:xfrm>
            <a:off x="777240" y="5074920"/>
            <a:ext cx="10607040" cy="868680"/>
          </a:xfrm>
          <a:prstGeom prst="rect">
            <a:avLst/>
          </a:prstGeom>
          <a:noFill/>
          <a:ln/>
        </p:spPr>
        <p:txBody>
          <a:bodyPr wrap="square" lIns="0" tIns="0" rIns="0" bIns="0" rtlCol="0" anchor="ctr"/>
          <a:lstStyle/>
          <a:p>
            <a:pPr marL="0" indent="0">
              <a:buNone/>
            </a:pPr>
            <a:r>
              <a:rPr lang="en-US" sz="1500" b="1" dirty="0">
                <a:solidFill>
                  <a:srgbClr val="1E293B"/>
                </a:solidFill>
              </a:rPr>
              <a:t>Important:  </a:t>
            </a:r>
            <a:r>
              <a:rPr lang="en-US" sz="1500" dirty="0">
                <a:solidFill>
                  <a:srgbClr val="1E293B"/>
                </a:solidFill>
              </a:rPr>
              <a:t>citations let users verify answers. Grounded prompts and refusals reduce unsupported answers, but cannot guarantee every answer is correct.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ection pill"/>
          <p:cNvSpPr/>
          <p:nvPr/>
        </p:nvSpPr>
        <p:spPr>
          <a:xfrm>
            <a:off x="548640" y="384048"/>
            <a:ext cx="2107692" cy="274320"/>
          </a:xfrm>
          <a:prstGeom prst="roundRect">
            <a:avLst>
              <a:gd name="adj" fmla="val 50000"/>
            </a:avLst>
          </a:prstGeom>
          <a:solidFill>
            <a:srgbClr val="047857"/>
          </a:solidFill>
          <a:ln/>
        </p:spPr>
        <p:txBody>
          <a:bodyPr wrap="square" lIns="0" tIns="0" rIns="0" bIns="0" rtlCol="0" anchor="ctr"/>
          <a:lstStyle/>
          <a:p>
            <a:pPr marL="0" indent="0" algn="ctr">
              <a:buNone/>
            </a:pPr>
            <a:r>
              <a:rPr lang="en-US" sz="1100" b="1" kern="0" spc="100" dirty="0">
                <a:solidFill>
                  <a:srgbClr val="FFFFFF"/>
                </a:solidFill>
              </a:rPr>
              <a:t>PART 3  ·  PIPELINE</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Key parameters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2547334400"/>
              </p:ext>
            </p:extLst>
          </p:nvPr>
        </p:nvGraphicFramePr>
        <p:xfrm>
          <a:off x="548640" y="1737360"/>
          <a:ext cx="11064240" cy="3657600"/>
        </p:xfrm>
        <a:graphic>
          <a:graphicData uri="http://schemas.openxmlformats.org/drawingml/2006/table">
            <a:tbl>
              <a:tblPr/>
              <a:tblGrid>
                <a:gridCol w="35661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457200">
                <a:tc>
                  <a:txBody>
                    <a:bodyPr/>
                    <a:lstStyle/>
                    <a:p>
                      <a:pPr marL="0" indent="0">
                        <a:buNone/>
                      </a:pPr>
                      <a:r>
                        <a:rPr lang="en-US" sz="1500" b="1" dirty="0">
                          <a:solidFill>
                            <a:srgbClr val="FFFFFF"/>
                          </a:solidFill>
                        </a:rPr>
                        <a:t>Parameter</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437"/>
                    </a:solidFill>
                  </a:tcPr>
                </a:tc>
                <a:tc>
                  <a:txBody>
                    <a:bodyPr/>
                    <a:lstStyle/>
                    <a:p>
                      <a:pPr marL="0" indent="0">
                        <a:buNone/>
                      </a:pPr>
                      <a:r>
                        <a:rPr lang="en-US" sz="1500" b="1" dirty="0">
                          <a:solidFill>
                            <a:srgbClr val="FFFFFF"/>
                          </a:solidFill>
                        </a:rPr>
                        <a:t>Value</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437"/>
                    </a:solidFill>
                  </a:tcPr>
                </a:tc>
                <a:tc>
                  <a:txBody>
                    <a:bodyPr/>
                    <a:lstStyle/>
                    <a:p>
                      <a:pPr marL="0" indent="0">
                        <a:buNone/>
                      </a:pPr>
                      <a:r>
                        <a:rPr lang="en-US" sz="1500" b="1" dirty="0">
                          <a:solidFill>
                            <a:srgbClr val="FFFFFF"/>
                          </a:solidFill>
                        </a:rPr>
                        <a:t>Purpose</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437"/>
                    </a:solidFill>
                  </a:tcPr>
                </a:tc>
                <a:extLst>
                  <a:ext uri="{0D108BD9-81ED-4DB2-BD59-A6C34878D82A}">
                    <a16:rowId xmlns:a16="http://schemas.microsoft.com/office/drawing/2014/main" val="10000"/>
                  </a:ext>
                </a:extLst>
              </a:tr>
              <a:tr h="457200">
                <a:tc>
                  <a:txBody>
                    <a:bodyPr/>
                    <a:lstStyle/>
                    <a:p>
                      <a:pPr marL="0" indent="0">
                        <a:buNone/>
                      </a:pPr>
                      <a:r>
                        <a:rPr lang="en-US" sz="1500" b="1" dirty="0">
                          <a:solidFill>
                            <a:srgbClr val="1E293B"/>
                          </a:solidFill>
                        </a:rPr>
                        <a:t>PDF documents</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0369A1"/>
                          </a:solidFill>
                          <a:latin typeface="Courier New" pitchFamily="34" charset="0"/>
                          <a:ea typeface="Courier New" pitchFamily="34" charset="-122"/>
                          <a:cs typeface="Courier New" pitchFamily="34" charset="-120"/>
                        </a:rPr>
                        <a:t>10</a:t>
                      </a:r>
                      <a:endParaRPr lang="en-US" sz="15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rPr>
                        <a:t>Initial document collection</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b="1" dirty="0">
                          <a:solidFill>
                            <a:srgbClr val="1E293B"/>
                          </a:solidFill>
                        </a:rPr>
                        <a:t>Generation model</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500" dirty="0">
                          <a:solidFill>
                            <a:srgbClr val="0369A1"/>
                          </a:solidFill>
                          <a:latin typeface="Courier New" pitchFamily="34" charset="0"/>
                          <a:ea typeface="Courier New" pitchFamily="34" charset="-122"/>
                          <a:cs typeface="Courier New" pitchFamily="34" charset="-120"/>
                        </a:rPr>
                        <a:t>qwen3:8b</a:t>
                      </a:r>
                      <a:endParaRPr lang="en-US" sz="15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500" dirty="0">
                          <a:solidFill>
                            <a:srgbClr val="1E293B"/>
                          </a:solidFill>
                        </a:rPr>
                        <a:t>Generates answers</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457200">
                <a:tc>
                  <a:txBody>
                    <a:bodyPr/>
                    <a:lstStyle/>
                    <a:p>
                      <a:pPr marL="0" indent="0">
                        <a:buNone/>
                      </a:pPr>
                      <a:r>
                        <a:rPr lang="en-US" sz="1500" b="1" dirty="0">
                          <a:solidFill>
                            <a:srgbClr val="1E293B"/>
                          </a:solidFill>
                        </a:rPr>
                        <a:t>Embedding model</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0369A1"/>
                          </a:solidFill>
                          <a:latin typeface="Courier New" pitchFamily="34" charset="0"/>
                          <a:ea typeface="Courier New" pitchFamily="34" charset="-122"/>
                          <a:cs typeface="Courier New" pitchFamily="34" charset="-120"/>
                        </a:rPr>
                        <a:t>nomic-embed-text</a:t>
                      </a:r>
                      <a:endParaRPr lang="en-US" sz="15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rPr>
                        <a:t>Turns text into vectors</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500" b="1" dirty="0">
                          <a:solidFill>
                            <a:srgbClr val="1E293B"/>
                          </a:solidFill>
                        </a:rPr>
                        <a:t>Vector database</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500" dirty="0">
                          <a:solidFill>
                            <a:srgbClr val="0369A1"/>
                          </a:solidFill>
                          <a:latin typeface="Courier New" pitchFamily="34" charset="0"/>
                          <a:ea typeface="Courier New" pitchFamily="34" charset="-122"/>
                          <a:cs typeface="Courier New" pitchFamily="34" charset="-120"/>
                        </a:rPr>
                        <a:t>ChromaDB</a:t>
                      </a:r>
                      <a:endParaRPr lang="en-US" sz="15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500" dirty="0">
                          <a:solidFill>
                            <a:srgbClr val="1E293B"/>
                          </a:solidFill>
                        </a:rPr>
                        <a:t>Stores embeddings and chunks</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457200">
                <a:tc>
                  <a:txBody>
                    <a:bodyPr/>
                    <a:lstStyle/>
                    <a:p>
                      <a:pPr marL="0" indent="0">
                        <a:buNone/>
                      </a:pPr>
                      <a:r>
                        <a:rPr lang="en-US" sz="1500" b="1" dirty="0">
                          <a:solidFill>
                            <a:srgbClr val="1E293B"/>
                          </a:solidFill>
                        </a:rPr>
                        <a:t>Top-K</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0369A1"/>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rPr>
                        <a:t>Number of candidate chunks retrieved</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500" b="1" dirty="0">
                          <a:solidFill>
                            <a:srgbClr val="1E293B"/>
                          </a:solidFill>
                        </a:rPr>
                        <a:t>Distance threshold</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500" dirty="0">
                          <a:solidFill>
                            <a:srgbClr val="0369A1"/>
                          </a:solidFill>
                          <a:latin typeface="Courier New" pitchFamily="34" charset="0"/>
                          <a:ea typeface="Courier New" pitchFamily="34" charset="-122"/>
                          <a:cs typeface="Courier New" pitchFamily="34" charset="-120"/>
                        </a:rPr>
                        <a:t>1.0</a:t>
                      </a:r>
                      <a:endParaRPr lang="en-US" sz="15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500" dirty="0">
                          <a:solidFill>
                            <a:srgbClr val="1E293B"/>
                          </a:solidFill>
                        </a:rPr>
                        <a:t>Retrieval relevance gate</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457200">
                <a:tc>
                  <a:txBody>
                    <a:bodyPr/>
                    <a:lstStyle/>
                    <a:p>
                      <a:pPr marL="0" indent="0">
                        <a:buNone/>
                      </a:pPr>
                      <a:r>
                        <a:rPr lang="en-US" sz="1500" b="1" dirty="0">
                          <a:solidFill>
                            <a:srgbClr val="1E293B"/>
                          </a:solidFill>
                        </a:rPr>
                        <a:t>Temperature</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0369A1"/>
                          </a:solidFill>
                          <a:latin typeface="Courier New" pitchFamily="34" charset="0"/>
                          <a:ea typeface="Courier New" pitchFamily="34" charset="-122"/>
                          <a:cs typeface="Courier New" pitchFamily="34" charset="-120"/>
                        </a:rPr>
                        <a:t>0.0</a:t>
                      </a:r>
                      <a:endParaRPr lang="en-US" sz="15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1E293B"/>
                          </a:solidFill>
                        </a:rPr>
                        <a:t>Favors more consistent answers</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2"/>
          <p:cNvSpPr txBox="1"/>
          <p:nvPr/>
        </p:nvSpPr>
        <p:spPr>
          <a:xfrm>
            <a:off x="548640" y="5989320"/>
            <a:ext cx="5486400" cy="228600"/>
          </a:xfrm>
          <a:prstGeom prst="rect">
            <a:avLst/>
          </a:prstGeom>
          <a:noFill/>
          <a:ln/>
        </p:spPr>
        <p:txBody>
          <a:bodyPr wrap="square" lIns="0" tIns="0" rIns="0" bIns="0" rtlCol="0" anchor="t"/>
          <a:lstStyle/>
          <a:p>
            <a:pPr marL="0" indent="0">
              <a:buNone/>
            </a:pPr>
            <a:r>
              <a:rPr lang="en-US" sz="1100" dirty="0">
                <a:solidFill>
                  <a:srgbClr val="64748B"/>
                </a:solidFill>
              </a:rPr>
              <a:t>*Confirm against the final configuration</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ection pill"/>
          <p:cNvSpPr/>
          <p:nvPr/>
        </p:nvSpPr>
        <p:spPr>
          <a:xfrm>
            <a:off x="548640" y="384048"/>
            <a:ext cx="2020824" cy="274320"/>
          </a:xfrm>
          <a:prstGeom prst="roundRect">
            <a:avLst>
              <a:gd name="adj" fmla="val 50000"/>
            </a:avLst>
          </a:prstGeom>
          <a:solidFill>
            <a:srgbClr val="B45309"/>
          </a:solidFill>
          <a:ln/>
        </p:spPr>
        <p:txBody>
          <a:bodyPr wrap="square" lIns="0" tIns="0" rIns="0" bIns="0" rtlCol="0" anchor="ctr"/>
          <a:lstStyle/>
          <a:p>
            <a:pPr marL="0" indent="0" algn="ctr">
              <a:buNone/>
            </a:pPr>
            <a:r>
              <a:rPr lang="en-US" sz="1100" b="1" kern="0" spc="100" dirty="0">
                <a:solidFill>
                  <a:srgbClr val="FFFFFF"/>
                </a:solidFill>
              </a:rPr>
              <a:t>PART 4  ·  QUALITY</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Step 5: Audit logging and observability</a:t>
            </a:r>
            <a:endParaRPr lang="en-US" sz="3200" dirty="0"/>
          </a:p>
        </p:txBody>
      </p:sp>
      <p:sp>
        <p:nvSpPr>
          <p:cNvPr id="5" name="Text 2"/>
          <p:cNvSpPr txBox="1"/>
          <p:nvPr/>
        </p:nvSpPr>
        <p:spPr>
          <a:xfrm>
            <a:off x="548640" y="1783080"/>
            <a:ext cx="5486400" cy="365760"/>
          </a:xfrm>
          <a:prstGeom prst="rect">
            <a:avLst/>
          </a:prstGeom>
          <a:noFill/>
          <a:ln/>
        </p:spPr>
        <p:txBody>
          <a:bodyPr wrap="square" lIns="0" tIns="0" rIns="0" bIns="0" rtlCol="0" anchor="t"/>
          <a:lstStyle/>
          <a:p>
            <a:pPr marL="0" indent="0">
              <a:buNone/>
            </a:pPr>
            <a:r>
              <a:rPr lang="en-US" sz="2000" b="1" dirty="0">
                <a:solidFill>
                  <a:srgbClr val="0B1437"/>
                </a:solidFill>
              </a:rPr>
              <a:t>What can be recorded</a:t>
            </a:r>
            <a:endParaRPr lang="en-US" sz="2000" dirty="0"/>
          </a:p>
        </p:txBody>
      </p:sp>
      <p:sp>
        <p:nvSpPr>
          <p:cNvPr id="6" name="Box"/>
          <p:cNvSpPr/>
          <p:nvPr/>
        </p:nvSpPr>
        <p:spPr>
          <a:xfrm>
            <a:off x="548640" y="2286000"/>
            <a:ext cx="2560320" cy="594360"/>
          </a:xfrm>
          <a:prstGeom prst="roundRect">
            <a:avLst>
              <a:gd name="adj" fmla="val 15385"/>
            </a:avLst>
          </a:prstGeom>
          <a:solidFill>
            <a:srgbClr val="FEF3C7"/>
          </a:solidFill>
          <a:ln w="12700">
            <a:solidFill>
              <a:srgbClr val="F59E0B"/>
            </a:solidFill>
          </a:ln>
        </p:spPr>
        <p:txBody>
          <a:bodyPr wrap="square" lIns="50800" tIns="50800" rIns="50800" bIns="50800" rtlCol="0" anchor="ctr"/>
          <a:lstStyle/>
          <a:p>
            <a:pPr marL="0" indent="0" algn="ctr">
              <a:buNone/>
            </a:pPr>
            <a:r>
              <a:rPr lang="en-US" sz="1500" dirty="0">
                <a:solidFill>
                  <a:srgbClr val="0B1437"/>
                </a:solidFill>
              </a:rPr>
              <a:t>Request ID</a:t>
            </a:r>
            <a:endParaRPr lang="en-US" sz="1500" dirty="0"/>
          </a:p>
        </p:txBody>
      </p:sp>
      <p:sp>
        <p:nvSpPr>
          <p:cNvPr id="7" name="Box"/>
          <p:cNvSpPr/>
          <p:nvPr/>
        </p:nvSpPr>
        <p:spPr>
          <a:xfrm>
            <a:off x="3291840" y="2286000"/>
            <a:ext cx="2560320" cy="594360"/>
          </a:xfrm>
          <a:prstGeom prst="roundRect">
            <a:avLst>
              <a:gd name="adj" fmla="val 15385"/>
            </a:avLst>
          </a:prstGeom>
          <a:solidFill>
            <a:srgbClr val="FEF3C7"/>
          </a:solidFill>
          <a:ln w="12700">
            <a:solidFill>
              <a:srgbClr val="F59E0B"/>
            </a:solidFill>
          </a:ln>
        </p:spPr>
        <p:txBody>
          <a:bodyPr wrap="square" lIns="50800" tIns="50800" rIns="50800" bIns="50800" rtlCol="0" anchor="ctr"/>
          <a:lstStyle/>
          <a:p>
            <a:pPr marL="0" indent="0" algn="ctr">
              <a:buNone/>
            </a:pPr>
            <a:r>
              <a:rPr lang="en-US" sz="1500" dirty="0">
                <a:solidFill>
                  <a:srgbClr val="0B1437"/>
                </a:solidFill>
              </a:rPr>
              <a:t>Question</a:t>
            </a:r>
            <a:endParaRPr lang="en-US" sz="1500" dirty="0"/>
          </a:p>
        </p:txBody>
      </p:sp>
      <p:sp>
        <p:nvSpPr>
          <p:cNvPr id="8" name="Box"/>
          <p:cNvSpPr/>
          <p:nvPr/>
        </p:nvSpPr>
        <p:spPr>
          <a:xfrm>
            <a:off x="548640" y="3063240"/>
            <a:ext cx="2560320" cy="594360"/>
          </a:xfrm>
          <a:prstGeom prst="roundRect">
            <a:avLst>
              <a:gd name="adj" fmla="val 15385"/>
            </a:avLst>
          </a:prstGeom>
          <a:solidFill>
            <a:srgbClr val="FEF3C7"/>
          </a:solidFill>
          <a:ln w="12700">
            <a:solidFill>
              <a:srgbClr val="F59E0B"/>
            </a:solidFill>
          </a:ln>
        </p:spPr>
        <p:txBody>
          <a:bodyPr wrap="square" lIns="50800" tIns="50800" rIns="50800" bIns="50800" rtlCol="0" anchor="ctr"/>
          <a:lstStyle/>
          <a:p>
            <a:pPr marL="0" indent="0" algn="ctr">
              <a:buNone/>
            </a:pPr>
            <a:r>
              <a:rPr lang="en-US" sz="1500" dirty="0">
                <a:solidFill>
                  <a:srgbClr val="0B1437"/>
                </a:solidFill>
              </a:rPr>
              <a:t>Retrieved sources</a:t>
            </a:r>
            <a:endParaRPr lang="en-US" sz="1500" dirty="0"/>
          </a:p>
        </p:txBody>
      </p:sp>
      <p:sp>
        <p:nvSpPr>
          <p:cNvPr id="9" name="Box"/>
          <p:cNvSpPr/>
          <p:nvPr/>
        </p:nvSpPr>
        <p:spPr>
          <a:xfrm>
            <a:off x="3291840" y="3063240"/>
            <a:ext cx="2560320" cy="594360"/>
          </a:xfrm>
          <a:prstGeom prst="roundRect">
            <a:avLst>
              <a:gd name="adj" fmla="val 15385"/>
            </a:avLst>
          </a:prstGeom>
          <a:solidFill>
            <a:srgbClr val="FEF3C7"/>
          </a:solidFill>
          <a:ln w="12700">
            <a:solidFill>
              <a:srgbClr val="F59E0B"/>
            </a:solidFill>
          </a:ln>
        </p:spPr>
        <p:txBody>
          <a:bodyPr wrap="square" lIns="50800" tIns="50800" rIns="50800" bIns="50800" rtlCol="0" anchor="ctr"/>
          <a:lstStyle/>
          <a:p>
            <a:pPr marL="0" indent="0" algn="ctr">
              <a:buNone/>
            </a:pPr>
            <a:r>
              <a:rPr lang="en-US" sz="1500" dirty="0">
                <a:solidFill>
                  <a:srgbClr val="0B1437"/>
                </a:solidFill>
              </a:rPr>
              <a:t>Generated answer</a:t>
            </a:r>
            <a:endParaRPr lang="en-US" sz="1500" dirty="0"/>
          </a:p>
        </p:txBody>
      </p:sp>
      <p:sp>
        <p:nvSpPr>
          <p:cNvPr id="10" name="Box"/>
          <p:cNvSpPr/>
          <p:nvPr/>
        </p:nvSpPr>
        <p:spPr>
          <a:xfrm>
            <a:off x="548640" y="3840480"/>
            <a:ext cx="2560320" cy="594360"/>
          </a:xfrm>
          <a:prstGeom prst="roundRect">
            <a:avLst>
              <a:gd name="adj" fmla="val 15385"/>
            </a:avLst>
          </a:prstGeom>
          <a:solidFill>
            <a:srgbClr val="FEF3C7"/>
          </a:solidFill>
          <a:ln w="12700">
            <a:solidFill>
              <a:srgbClr val="F59E0B"/>
            </a:solidFill>
          </a:ln>
        </p:spPr>
        <p:txBody>
          <a:bodyPr wrap="square" lIns="50800" tIns="50800" rIns="50800" bIns="50800" rtlCol="0" anchor="ctr"/>
          <a:lstStyle/>
          <a:p>
            <a:pPr marL="0" indent="0" algn="ctr">
              <a:buNone/>
            </a:pPr>
            <a:r>
              <a:rPr lang="en-US" sz="1500" dirty="0">
                <a:solidFill>
                  <a:srgbClr val="0B1437"/>
                </a:solidFill>
              </a:rPr>
              <a:t>Status and errors</a:t>
            </a:r>
            <a:endParaRPr lang="en-US" sz="1500" dirty="0"/>
          </a:p>
        </p:txBody>
      </p:sp>
      <p:sp>
        <p:nvSpPr>
          <p:cNvPr id="11" name="Box"/>
          <p:cNvSpPr/>
          <p:nvPr/>
        </p:nvSpPr>
        <p:spPr>
          <a:xfrm>
            <a:off x="3291840" y="3840480"/>
            <a:ext cx="2560320" cy="594360"/>
          </a:xfrm>
          <a:prstGeom prst="roundRect">
            <a:avLst>
              <a:gd name="adj" fmla="val 15385"/>
            </a:avLst>
          </a:prstGeom>
          <a:solidFill>
            <a:srgbClr val="FEF3C7"/>
          </a:solidFill>
          <a:ln w="12700">
            <a:solidFill>
              <a:srgbClr val="F59E0B"/>
            </a:solidFill>
          </a:ln>
        </p:spPr>
        <p:txBody>
          <a:bodyPr wrap="square" lIns="50800" tIns="50800" rIns="50800" bIns="50800" rtlCol="0" anchor="ctr"/>
          <a:lstStyle/>
          <a:p>
            <a:pPr marL="0" indent="0" algn="ctr">
              <a:buNone/>
            </a:pPr>
            <a:r>
              <a:rPr lang="en-US" sz="1500" dirty="0">
                <a:solidFill>
                  <a:srgbClr val="0B1437"/>
                </a:solidFill>
              </a:rPr>
              <a:t>Timestamp</a:t>
            </a:r>
            <a:endParaRPr lang="en-US" sz="1500" dirty="0"/>
          </a:p>
        </p:txBody>
      </p:sp>
      <p:sp>
        <p:nvSpPr>
          <p:cNvPr id="12" name="Text 9"/>
          <p:cNvSpPr txBox="1"/>
          <p:nvPr/>
        </p:nvSpPr>
        <p:spPr>
          <a:xfrm>
            <a:off x="6400800" y="1783080"/>
            <a:ext cx="5212080" cy="365760"/>
          </a:xfrm>
          <a:prstGeom prst="rect">
            <a:avLst/>
          </a:prstGeom>
          <a:noFill/>
          <a:ln/>
        </p:spPr>
        <p:txBody>
          <a:bodyPr wrap="square" lIns="0" tIns="0" rIns="0" bIns="0" rtlCol="0" anchor="t"/>
          <a:lstStyle/>
          <a:p>
            <a:pPr marL="0" indent="0">
              <a:buNone/>
            </a:pPr>
            <a:r>
              <a:rPr lang="en-US" sz="2000" b="1" dirty="0">
                <a:solidFill>
                  <a:srgbClr val="0B1437"/>
                </a:solidFill>
              </a:rPr>
              <a:t>Where time is spent</a:t>
            </a:r>
            <a:endParaRPr lang="en-US" sz="2000" dirty="0"/>
          </a:p>
        </p:txBody>
      </p:sp>
      <p:sp>
        <p:nvSpPr>
          <p:cNvPr id="13" name="Box"/>
          <p:cNvSpPr/>
          <p:nvPr/>
        </p:nvSpPr>
        <p:spPr>
          <a:xfrm>
            <a:off x="6400800" y="2286000"/>
            <a:ext cx="3108960" cy="594360"/>
          </a:xfrm>
          <a:prstGeom prst="roundRect">
            <a:avLst>
              <a:gd name="adj" fmla="val 15385"/>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B1437"/>
                </a:solidFill>
              </a:rPr>
              <a:t>Embedding generation</a:t>
            </a:r>
            <a:endParaRPr lang="en-US" sz="1500" dirty="0"/>
          </a:p>
        </p:txBody>
      </p:sp>
      <p:sp>
        <p:nvSpPr>
          <p:cNvPr id="14" name="Connector"/>
          <p:cNvSpPr/>
          <p:nvPr/>
        </p:nvSpPr>
        <p:spPr>
          <a:xfrm>
            <a:off x="7955280" y="2880360"/>
            <a:ext cx="0" cy="274320"/>
          </a:xfrm>
          <a:prstGeom prst="line">
            <a:avLst/>
          </a:prstGeom>
          <a:noFill/>
          <a:ln w="22225">
            <a:solidFill>
              <a:srgbClr val="64748B"/>
            </a:solidFill>
            <a:prstDash val="solid"/>
            <a:tailEnd type="triangle"/>
          </a:ln>
        </p:spPr>
      </p:sp>
      <p:sp>
        <p:nvSpPr>
          <p:cNvPr id="15" name="Box"/>
          <p:cNvSpPr/>
          <p:nvPr/>
        </p:nvSpPr>
        <p:spPr>
          <a:xfrm>
            <a:off x="6400800" y="3154680"/>
            <a:ext cx="3108960" cy="594360"/>
          </a:xfrm>
          <a:prstGeom prst="roundRect">
            <a:avLst>
              <a:gd name="adj" fmla="val 15385"/>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B1437"/>
                </a:solidFill>
              </a:rPr>
              <a:t>Vector retrieval</a:t>
            </a:r>
            <a:endParaRPr lang="en-US" sz="1500" dirty="0"/>
          </a:p>
        </p:txBody>
      </p:sp>
      <p:sp>
        <p:nvSpPr>
          <p:cNvPr id="16" name="Connector"/>
          <p:cNvSpPr/>
          <p:nvPr/>
        </p:nvSpPr>
        <p:spPr>
          <a:xfrm>
            <a:off x="7955280" y="3749040"/>
            <a:ext cx="0" cy="274320"/>
          </a:xfrm>
          <a:prstGeom prst="line">
            <a:avLst/>
          </a:prstGeom>
          <a:noFill/>
          <a:ln w="22225">
            <a:solidFill>
              <a:srgbClr val="64748B"/>
            </a:solidFill>
            <a:prstDash val="solid"/>
            <a:tailEnd type="triangle"/>
          </a:ln>
        </p:spPr>
      </p:sp>
      <p:sp>
        <p:nvSpPr>
          <p:cNvPr id="17" name="Box"/>
          <p:cNvSpPr/>
          <p:nvPr/>
        </p:nvSpPr>
        <p:spPr>
          <a:xfrm>
            <a:off x="6400800" y="4023360"/>
            <a:ext cx="3108960" cy="594360"/>
          </a:xfrm>
          <a:prstGeom prst="roundRect">
            <a:avLst>
              <a:gd name="adj" fmla="val 15385"/>
            </a:avLst>
          </a:prstGeom>
          <a:solidFill>
            <a:srgbClr val="0B1437"/>
          </a:solidFill>
          <a:ln w="12700">
            <a:solidFill>
              <a:srgbClr val="0B1437"/>
            </a:solidFill>
          </a:ln>
        </p:spPr>
        <p:txBody>
          <a:bodyPr wrap="square" lIns="50800" tIns="50800" rIns="50800" bIns="50800" rtlCol="0" anchor="ctr"/>
          <a:lstStyle/>
          <a:p>
            <a:pPr marL="0" indent="0" algn="ctr">
              <a:buNone/>
            </a:pPr>
            <a:r>
              <a:rPr lang="en-US" sz="1500" b="1" dirty="0">
                <a:solidFill>
                  <a:srgbClr val="FFFFFF"/>
                </a:solidFill>
              </a:rPr>
              <a:t>LLM generation</a:t>
            </a:r>
            <a:endParaRPr lang="en-US" sz="1500" dirty="0"/>
          </a:p>
        </p:txBody>
      </p:sp>
      <p:sp>
        <p:nvSpPr>
          <p:cNvPr id="18" name="Text 15"/>
          <p:cNvSpPr txBox="1"/>
          <p:nvPr/>
        </p:nvSpPr>
        <p:spPr>
          <a:xfrm>
            <a:off x="9692640" y="2926080"/>
            <a:ext cx="1920240" cy="640080"/>
          </a:xfrm>
          <a:prstGeom prst="rect">
            <a:avLst/>
          </a:prstGeom>
          <a:noFill/>
          <a:ln/>
        </p:spPr>
        <p:txBody>
          <a:bodyPr wrap="square" lIns="0" tIns="0" rIns="0" bIns="0" rtlCol="0" anchor="t"/>
          <a:lstStyle/>
          <a:p>
            <a:pPr marL="0" indent="0">
              <a:buNone/>
            </a:pPr>
            <a:r>
              <a:rPr lang="en-US" sz="1400" i="1" dirty="0">
                <a:solidFill>
                  <a:srgbClr val="64748B"/>
                </a:solidFill>
              </a:rPr>
              <a:t>each stage can be timed separately</a:t>
            </a:r>
            <a:endParaRPr lang="en-US" sz="1400" dirty="0"/>
          </a:p>
        </p:txBody>
      </p:sp>
      <p:sp>
        <p:nvSpPr>
          <p:cNvPr id="19" name="Callout"/>
          <p:cNvSpPr/>
          <p:nvPr/>
        </p:nvSpPr>
        <p:spPr>
          <a:xfrm>
            <a:off x="548640" y="5029200"/>
            <a:ext cx="11064240" cy="822960"/>
          </a:xfrm>
          <a:prstGeom prst="roundRect">
            <a:avLst>
              <a:gd name="adj" fmla="val 11111"/>
            </a:avLst>
          </a:prstGeom>
          <a:solidFill>
            <a:srgbClr val="E0F2FE"/>
          </a:solidFill>
          <a:ln w="12700">
            <a:solidFill>
              <a:srgbClr val="0EA5E9"/>
            </a:solidFill>
            <a:prstDash val="solid"/>
          </a:ln>
        </p:spPr>
      </p:sp>
      <p:sp>
        <p:nvSpPr>
          <p:cNvPr id="20" name="Text 17"/>
          <p:cNvSpPr txBox="1"/>
          <p:nvPr/>
        </p:nvSpPr>
        <p:spPr>
          <a:xfrm>
            <a:off x="777240" y="5029200"/>
            <a:ext cx="10607040" cy="822960"/>
          </a:xfrm>
          <a:prstGeom prst="rect">
            <a:avLst/>
          </a:prstGeom>
          <a:noFill/>
          <a:ln/>
        </p:spPr>
        <p:txBody>
          <a:bodyPr wrap="square" lIns="0" tIns="0" rIns="0" bIns="0" rtlCol="0" anchor="ctr"/>
          <a:lstStyle/>
          <a:p>
            <a:pPr marL="0" indent="0">
              <a:buNone/>
            </a:pPr>
            <a:r>
              <a:rPr lang="en-US" sz="1500" b="1" dirty="0">
                <a:solidFill>
                  <a:srgbClr val="1E293B"/>
                </a:solidFill>
              </a:rPr>
              <a:t>Why it matters:  </a:t>
            </a:r>
            <a:r>
              <a:rPr lang="en-US" sz="1500" dirty="0">
                <a:solidFill>
                  <a:srgbClr val="1E293B"/>
                </a:solidFill>
              </a:rPr>
              <a:t>logs help trace a request, investigate incorrect answers and find performance bottlenecks.</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ection pill"/>
          <p:cNvSpPr/>
          <p:nvPr/>
        </p:nvSpPr>
        <p:spPr>
          <a:xfrm>
            <a:off x="548640" y="384048"/>
            <a:ext cx="2020824" cy="274320"/>
          </a:xfrm>
          <a:prstGeom prst="roundRect">
            <a:avLst>
              <a:gd name="adj" fmla="val 50000"/>
            </a:avLst>
          </a:prstGeom>
          <a:solidFill>
            <a:srgbClr val="B45309"/>
          </a:solidFill>
          <a:ln/>
        </p:spPr>
        <p:txBody>
          <a:bodyPr wrap="square" lIns="0" tIns="0" rIns="0" bIns="0" rtlCol="0" anchor="ctr"/>
          <a:lstStyle/>
          <a:p>
            <a:pPr marL="0" indent="0" algn="ctr">
              <a:buNone/>
            </a:pPr>
            <a:r>
              <a:rPr lang="en-US" sz="1100" b="1" kern="0" spc="100" dirty="0">
                <a:solidFill>
                  <a:srgbClr val="FFFFFF"/>
                </a:solidFill>
              </a:rPr>
              <a:t>PART 4  ·  QUALITY</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Step 6: Evaluation metrics</a:t>
            </a:r>
            <a:endParaRPr lang="en-US" sz="3200" dirty="0"/>
          </a:p>
        </p:txBody>
      </p:sp>
      <p:sp>
        <p:nvSpPr>
          <p:cNvPr id="5" name="Metric card Faithfulness"/>
          <p:cNvSpPr/>
          <p:nvPr/>
        </p:nvSpPr>
        <p:spPr>
          <a:xfrm>
            <a:off x="548640" y="1783080"/>
            <a:ext cx="3566160" cy="2606040"/>
          </a:xfrm>
          <a:prstGeom prst="roundRect">
            <a:avLst>
              <a:gd name="adj" fmla="val 3509"/>
            </a:avLst>
          </a:prstGeom>
          <a:solidFill>
            <a:srgbClr val="F1F5F9"/>
          </a:solidFill>
          <a:ln w="12700">
            <a:solidFill>
              <a:srgbClr val="CBD5E1"/>
            </a:solidFill>
            <a:prstDash val="solid"/>
          </a:ln>
        </p:spPr>
      </p:sp>
      <p:sp>
        <p:nvSpPr>
          <p:cNvPr id="6" name="Number"/>
          <p:cNvSpPr/>
          <p:nvPr/>
        </p:nvSpPr>
        <p:spPr>
          <a:xfrm>
            <a:off x="777240" y="1965960"/>
            <a:ext cx="502920" cy="502920"/>
          </a:xfrm>
          <a:prstGeom prst="ellipse">
            <a:avLst/>
          </a:prstGeom>
          <a:solidFill>
            <a:srgbClr val="0369A1"/>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4"/>
          <p:cNvSpPr txBox="1"/>
          <p:nvPr/>
        </p:nvSpPr>
        <p:spPr>
          <a:xfrm>
            <a:off x="1417320" y="1965960"/>
            <a:ext cx="2560320" cy="502920"/>
          </a:xfrm>
          <a:prstGeom prst="rect">
            <a:avLst/>
          </a:prstGeom>
          <a:noFill/>
          <a:ln/>
        </p:spPr>
        <p:txBody>
          <a:bodyPr wrap="square" lIns="0" tIns="0" rIns="0" bIns="0" rtlCol="0" anchor="ctr"/>
          <a:lstStyle/>
          <a:p>
            <a:pPr marL="0" indent="0">
              <a:buNone/>
            </a:pPr>
            <a:r>
              <a:rPr lang="en-US" sz="1900" b="1" dirty="0">
                <a:solidFill>
                  <a:srgbClr val="0B1437"/>
                </a:solidFill>
              </a:rPr>
              <a:t>Faithfulness</a:t>
            </a:r>
            <a:endParaRPr lang="en-US" sz="1900" dirty="0"/>
          </a:p>
        </p:txBody>
      </p:sp>
      <p:sp>
        <p:nvSpPr>
          <p:cNvPr id="8" name="Text 5"/>
          <p:cNvSpPr txBox="1"/>
          <p:nvPr/>
        </p:nvSpPr>
        <p:spPr>
          <a:xfrm>
            <a:off x="777240" y="2743200"/>
            <a:ext cx="3108960" cy="822960"/>
          </a:xfrm>
          <a:prstGeom prst="rect">
            <a:avLst/>
          </a:prstGeom>
          <a:noFill/>
          <a:ln/>
        </p:spPr>
        <p:txBody>
          <a:bodyPr wrap="square" lIns="0" tIns="0" rIns="0" bIns="0" rtlCol="0" anchor="t"/>
          <a:lstStyle/>
          <a:p>
            <a:pPr marL="0" indent="0">
              <a:buNone/>
            </a:pPr>
            <a:r>
              <a:rPr lang="en-US" sz="1600" b="1" dirty="0">
                <a:solidFill>
                  <a:srgbClr val="1E293B"/>
                </a:solidFill>
              </a:rPr>
              <a:t>Is the answer supported by the retrieved context?</a:t>
            </a:r>
            <a:endParaRPr lang="en-US" sz="1600" dirty="0"/>
          </a:p>
        </p:txBody>
      </p:sp>
      <p:sp>
        <p:nvSpPr>
          <p:cNvPr id="9" name="Text 6"/>
          <p:cNvSpPr txBox="1"/>
          <p:nvPr/>
        </p:nvSpPr>
        <p:spPr>
          <a:xfrm>
            <a:off x="777240" y="3657600"/>
            <a:ext cx="3108960" cy="548640"/>
          </a:xfrm>
          <a:prstGeom prst="rect">
            <a:avLst/>
          </a:prstGeom>
          <a:noFill/>
          <a:ln/>
        </p:spPr>
        <p:txBody>
          <a:bodyPr wrap="square" lIns="0" tIns="0" rIns="0" bIns="0" rtlCol="0" anchor="t"/>
          <a:lstStyle/>
          <a:p>
            <a:pPr marL="0" indent="0">
              <a:buNone/>
            </a:pPr>
            <a:r>
              <a:rPr lang="en-US" sz="1400" dirty="0">
                <a:solidFill>
                  <a:srgbClr val="64748B"/>
                </a:solidFill>
              </a:rPr>
              <a:t>Higher score = better support from evidence</a:t>
            </a:r>
            <a:endParaRPr lang="en-US" sz="1400" dirty="0"/>
          </a:p>
        </p:txBody>
      </p:sp>
      <p:sp>
        <p:nvSpPr>
          <p:cNvPr id="10" name="Metric card Answer Relevancy"/>
          <p:cNvSpPr/>
          <p:nvPr/>
        </p:nvSpPr>
        <p:spPr>
          <a:xfrm>
            <a:off x="4297680" y="1783080"/>
            <a:ext cx="3566160" cy="2606040"/>
          </a:xfrm>
          <a:prstGeom prst="roundRect">
            <a:avLst>
              <a:gd name="adj" fmla="val 3509"/>
            </a:avLst>
          </a:prstGeom>
          <a:solidFill>
            <a:srgbClr val="F1F5F9"/>
          </a:solidFill>
          <a:ln w="12700">
            <a:solidFill>
              <a:srgbClr val="CBD5E1"/>
            </a:solidFill>
            <a:prstDash val="solid"/>
          </a:ln>
        </p:spPr>
      </p:sp>
      <p:sp>
        <p:nvSpPr>
          <p:cNvPr id="11" name="Number"/>
          <p:cNvSpPr/>
          <p:nvPr/>
        </p:nvSpPr>
        <p:spPr>
          <a:xfrm>
            <a:off x="4526280" y="1965960"/>
            <a:ext cx="502920" cy="502920"/>
          </a:xfrm>
          <a:prstGeom prst="ellipse">
            <a:avLst/>
          </a:prstGeom>
          <a:solidFill>
            <a:srgbClr val="6D28D9"/>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2" name="Text 9"/>
          <p:cNvSpPr txBox="1"/>
          <p:nvPr/>
        </p:nvSpPr>
        <p:spPr>
          <a:xfrm>
            <a:off x="5166360" y="1965960"/>
            <a:ext cx="2560320" cy="502920"/>
          </a:xfrm>
          <a:prstGeom prst="rect">
            <a:avLst/>
          </a:prstGeom>
          <a:noFill/>
          <a:ln/>
        </p:spPr>
        <p:txBody>
          <a:bodyPr wrap="square" lIns="0" tIns="0" rIns="0" bIns="0" rtlCol="0" anchor="ctr"/>
          <a:lstStyle/>
          <a:p>
            <a:pPr marL="0" indent="0">
              <a:buNone/>
            </a:pPr>
            <a:r>
              <a:rPr lang="en-US" sz="1900" b="1" dirty="0">
                <a:solidFill>
                  <a:srgbClr val="0B1437"/>
                </a:solidFill>
              </a:rPr>
              <a:t>Answer Relevancy</a:t>
            </a:r>
            <a:endParaRPr lang="en-US" sz="1900" dirty="0"/>
          </a:p>
        </p:txBody>
      </p:sp>
      <p:sp>
        <p:nvSpPr>
          <p:cNvPr id="13" name="Text 10"/>
          <p:cNvSpPr txBox="1"/>
          <p:nvPr/>
        </p:nvSpPr>
        <p:spPr>
          <a:xfrm>
            <a:off x="4526280" y="2743200"/>
            <a:ext cx="3108960" cy="822960"/>
          </a:xfrm>
          <a:prstGeom prst="rect">
            <a:avLst/>
          </a:prstGeom>
          <a:noFill/>
          <a:ln/>
        </p:spPr>
        <p:txBody>
          <a:bodyPr wrap="square" lIns="0" tIns="0" rIns="0" bIns="0" rtlCol="0" anchor="t"/>
          <a:lstStyle/>
          <a:p>
            <a:pPr marL="0" indent="0">
              <a:buNone/>
            </a:pPr>
            <a:r>
              <a:rPr lang="en-US" sz="1600" b="1" dirty="0">
                <a:solidFill>
                  <a:srgbClr val="1E293B"/>
                </a:solidFill>
              </a:rPr>
              <a:t>Does the answer address the user's question?</a:t>
            </a:r>
            <a:endParaRPr lang="en-US" sz="1600" dirty="0"/>
          </a:p>
        </p:txBody>
      </p:sp>
      <p:sp>
        <p:nvSpPr>
          <p:cNvPr id="14" name="Text 11"/>
          <p:cNvSpPr txBox="1"/>
          <p:nvPr/>
        </p:nvSpPr>
        <p:spPr>
          <a:xfrm>
            <a:off x="4526280" y="3657600"/>
            <a:ext cx="3108960" cy="548640"/>
          </a:xfrm>
          <a:prstGeom prst="rect">
            <a:avLst/>
          </a:prstGeom>
          <a:noFill/>
          <a:ln/>
        </p:spPr>
        <p:txBody>
          <a:bodyPr wrap="square" lIns="0" tIns="0" rIns="0" bIns="0" rtlCol="0" anchor="t"/>
          <a:lstStyle/>
          <a:p>
            <a:pPr marL="0" indent="0">
              <a:buNone/>
            </a:pPr>
            <a:r>
              <a:rPr lang="en-US" sz="1400" dirty="0">
                <a:solidFill>
                  <a:srgbClr val="64748B"/>
                </a:solidFill>
              </a:rPr>
              <a:t>Higher score = more on-topic answers</a:t>
            </a:r>
            <a:endParaRPr lang="en-US" sz="1400" dirty="0"/>
          </a:p>
        </p:txBody>
      </p:sp>
      <p:sp>
        <p:nvSpPr>
          <p:cNvPr id="15" name="Metric card Context Precision"/>
          <p:cNvSpPr/>
          <p:nvPr/>
        </p:nvSpPr>
        <p:spPr>
          <a:xfrm>
            <a:off x="8046720" y="1783080"/>
            <a:ext cx="3566160" cy="2606040"/>
          </a:xfrm>
          <a:prstGeom prst="roundRect">
            <a:avLst>
              <a:gd name="adj" fmla="val 3509"/>
            </a:avLst>
          </a:prstGeom>
          <a:solidFill>
            <a:srgbClr val="F1F5F9"/>
          </a:solidFill>
          <a:ln w="12700">
            <a:solidFill>
              <a:srgbClr val="CBD5E1"/>
            </a:solidFill>
            <a:prstDash val="solid"/>
          </a:ln>
        </p:spPr>
      </p:sp>
      <p:sp>
        <p:nvSpPr>
          <p:cNvPr id="16" name="Number"/>
          <p:cNvSpPr/>
          <p:nvPr/>
        </p:nvSpPr>
        <p:spPr>
          <a:xfrm>
            <a:off x="8275320" y="1965960"/>
            <a:ext cx="502920" cy="502920"/>
          </a:xfrm>
          <a:prstGeom prst="ellipse">
            <a:avLst/>
          </a:prstGeom>
          <a:solidFill>
            <a:srgbClr val="047857"/>
          </a:solid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7" name="Text 14"/>
          <p:cNvSpPr txBox="1"/>
          <p:nvPr/>
        </p:nvSpPr>
        <p:spPr>
          <a:xfrm>
            <a:off x="8915400" y="1965960"/>
            <a:ext cx="2560320" cy="502920"/>
          </a:xfrm>
          <a:prstGeom prst="rect">
            <a:avLst/>
          </a:prstGeom>
          <a:noFill/>
          <a:ln/>
        </p:spPr>
        <p:txBody>
          <a:bodyPr wrap="square" lIns="0" tIns="0" rIns="0" bIns="0" rtlCol="0" anchor="ctr"/>
          <a:lstStyle/>
          <a:p>
            <a:pPr marL="0" indent="0">
              <a:buNone/>
            </a:pPr>
            <a:r>
              <a:rPr lang="en-US" sz="1900" b="1" dirty="0">
                <a:solidFill>
                  <a:srgbClr val="0B1437"/>
                </a:solidFill>
              </a:rPr>
              <a:t>Context Precision</a:t>
            </a:r>
            <a:endParaRPr lang="en-US" sz="1900" dirty="0"/>
          </a:p>
        </p:txBody>
      </p:sp>
      <p:sp>
        <p:nvSpPr>
          <p:cNvPr id="18" name="Text 15"/>
          <p:cNvSpPr txBox="1"/>
          <p:nvPr/>
        </p:nvSpPr>
        <p:spPr>
          <a:xfrm>
            <a:off x="8275320" y="2743200"/>
            <a:ext cx="3108960" cy="822960"/>
          </a:xfrm>
          <a:prstGeom prst="rect">
            <a:avLst/>
          </a:prstGeom>
          <a:noFill/>
          <a:ln/>
        </p:spPr>
        <p:txBody>
          <a:bodyPr wrap="square" lIns="0" tIns="0" rIns="0" bIns="0" rtlCol="0" anchor="t"/>
          <a:lstStyle/>
          <a:p>
            <a:pPr marL="0" indent="0">
              <a:buNone/>
            </a:pPr>
            <a:r>
              <a:rPr lang="en-US" sz="1600" b="1" dirty="0">
                <a:solidFill>
                  <a:srgbClr val="1E293B"/>
                </a:solidFill>
              </a:rPr>
              <a:t>Are relevant chunks ranked ahead of irrelevant ones?</a:t>
            </a:r>
            <a:endParaRPr lang="en-US" sz="1600" dirty="0"/>
          </a:p>
        </p:txBody>
      </p:sp>
      <p:sp>
        <p:nvSpPr>
          <p:cNvPr id="19" name="Text 16"/>
          <p:cNvSpPr txBox="1"/>
          <p:nvPr/>
        </p:nvSpPr>
        <p:spPr>
          <a:xfrm>
            <a:off x="8275320" y="3657600"/>
            <a:ext cx="3108960" cy="548640"/>
          </a:xfrm>
          <a:prstGeom prst="rect">
            <a:avLst/>
          </a:prstGeom>
          <a:noFill/>
          <a:ln/>
        </p:spPr>
        <p:txBody>
          <a:bodyPr wrap="square" lIns="0" tIns="0" rIns="0" bIns="0" rtlCol="0" anchor="t"/>
          <a:lstStyle/>
          <a:p>
            <a:pPr marL="0" indent="0">
              <a:buNone/>
            </a:pPr>
            <a:r>
              <a:rPr lang="en-US" sz="1400" dirty="0">
                <a:solidFill>
                  <a:srgbClr val="64748B"/>
                </a:solidFill>
              </a:rPr>
              <a:t>Higher score = better retrieval ranking</a:t>
            </a:r>
            <a:endParaRPr lang="en-US" sz="1400" dirty="0"/>
          </a:p>
        </p:txBody>
      </p:sp>
      <p:sp>
        <p:nvSpPr>
          <p:cNvPr id="20" name="Text 17"/>
          <p:cNvSpPr txBox="1"/>
          <p:nvPr/>
        </p:nvSpPr>
        <p:spPr>
          <a:xfrm>
            <a:off x="548640" y="4663440"/>
            <a:ext cx="5486400" cy="365760"/>
          </a:xfrm>
          <a:prstGeom prst="rect">
            <a:avLst/>
          </a:prstGeom>
          <a:noFill/>
          <a:ln/>
        </p:spPr>
        <p:txBody>
          <a:bodyPr wrap="square" lIns="0" tIns="0" rIns="0" bIns="0" rtlCol="0" anchor="t"/>
          <a:lstStyle/>
          <a:p>
            <a:pPr marL="0" indent="0">
              <a:buNone/>
            </a:pPr>
            <a:r>
              <a:rPr lang="en-US" sz="2000" b="1" dirty="0">
                <a:solidFill>
                  <a:srgbClr val="0B1437"/>
                </a:solidFill>
              </a:rPr>
              <a:t>Evaluation inputs</a:t>
            </a:r>
            <a:endParaRPr lang="en-US" sz="2000" dirty="0"/>
          </a:p>
        </p:txBody>
      </p:sp>
      <p:sp>
        <p:nvSpPr>
          <p:cNvPr id="21" name="Box"/>
          <p:cNvSpPr/>
          <p:nvPr/>
        </p:nvSpPr>
        <p:spPr>
          <a:xfrm>
            <a:off x="548640" y="5120640"/>
            <a:ext cx="2615184" cy="548640"/>
          </a:xfrm>
          <a:prstGeom prst="roundRect">
            <a:avLst>
              <a:gd name="adj" fmla="val 16667"/>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369A1"/>
                </a:solidFill>
              </a:rPr>
              <a:t>User question</a:t>
            </a:r>
            <a:endParaRPr lang="en-US" sz="1500" dirty="0"/>
          </a:p>
        </p:txBody>
      </p:sp>
      <p:sp>
        <p:nvSpPr>
          <p:cNvPr id="22" name="Box"/>
          <p:cNvSpPr/>
          <p:nvPr/>
        </p:nvSpPr>
        <p:spPr>
          <a:xfrm>
            <a:off x="3346704" y="5120640"/>
            <a:ext cx="2615184" cy="548640"/>
          </a:xfrm>
          <a:prstGeom prst="roundRect">
            <a:avLst>
              <a:gd name="adj" fmla="val 16667"/>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369A1"/>
                </a:solidFill>
              </a:rPr>
              <a:t>Generated answer</a:t>
            </a:r>
            <a:endParaRPr lang="en-US" sz="1500" dirty="0"/>
          </a:p>
        </p:txBody>
      </p:sp>
      <p:sp>
        <p:nvSpPr>
          <p:cNvPr id="23" name="Box"/>
          <p:cNvSpPr/>
          <p:nvPr/>
        </p:nvSpPr>
        <p:spPr>
          <a:xfrm>
            <a:off x="6144768" y="5120640"/>
            <a:ext cx="2615184" cy="548640"/>
          </a:xfrm>
          <a:prstGeom prst="roundRect">
            <a:avLst>
              <a:gd name="adj" fmla="val 16667"/>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369A1"/>
                </a:solidFill>
              </a:rPr>
              <a:t>Ground-truth answer</a:t>
            </a:r>
            <a:endParaRPr lang="en-US" sz="1500" dirty="0"/>
          </a:p>
        </p:txBody>
      </p:sp>
      <p:sp>
        <p:nvSpPr>
          <p:cNvPr id="24" name="Box"/>
          <p:cNvSpPr/>
          <p:nvPr/>
        </p:nvSpPr>
        <p:spPr>
          <a:xfrm>
            <a:off x="8942832" y="5120640"/>
            <a:ext cx="2615184" cy="548640"/>
          </a:xfrm>
          <a:prstGeom prst="roundRect">
            <a:avLst>
              <a:gd name="adj" fmla="val 16667"/>
            </a:avLst>
          </a:prstGeom>
          <a:solidFill>
            <a:srgbClr val="E0F2FE"/>
          </a:solidFill>
          <a:ln w="12700">
            <a:solidFill>
              <a:srgbClr val="0EA5E9"/>
            </a:solidFill>
          </a:ln>
        </p:spPr>
        <p:txBody>
          <a:bodyPr wrap="square" lIns="50800" tIns="50800" rIns="50800" bIns="50800" rtlCol="0" anchor="ctr"/>
          <a:lstStyle/>
          <a:p>
            <a:pPr marL="0" indent="0" algn="ctr">
              <a:buNone/>
            </a:pPr>
            <a:r>
              <a:rPr lang="en-US" sz="1500" b="1" dirty="0">
                <a:solidFill>
                  <a:srgbClr val="0369A1"/>
                </a:solidFill>
              </a:rPr>
              <a:t>Retrieved context</a:t>
            </a:r>
            <a:endParaRPr lang="en-US" sz="1500" dirty="0"/>
          </a:p>
        </p:txBody>
      </p:sp>
      <p:sp>
        <p:nvSpPr>
          <p:cNvPr id="25" name="Text 22"/>
          <p:cNvSpPr txBox="1"/>
          <p:nvPr/>
        </p:nvSpPr>
        <p:spPr>
          <a:xfrm>
            <a:off x="548640" y="5897880"/>
            <a:ext cx="11064240" cy="320040"/>
          </a:xfrm>
          <a:prstGeom prst="rect">
            <a:avLst/>
          </a:prstGeom>
          <a:noFill/>
          <a:ln/>
        </p:spPr>
        <p:txBody>
          <a:bodyPr wrap="square" lIns="0" tIns="0" rIns="0" bIns="0" rtlCol="0" anchor="t"/>
          <a:lstStyle/>
          <a:p>
            <a:pPr marL="0" indent="0">
              <a:buNone/>
            </a:pPr>
            <a:r>
              <a:rPr lang="en-US" sz="1400" dirty="0">
                <a:solidFill>
                  <a:srgbClr val="64748B"/>
                </a:solidFill>
              </a:rPr>
              <a:t>Metrics run through separate standalone Python scripts (Ragas is not the evaluation runner).</a:t>
            </a:r>
            <a:endParaRPr lang="en-US" sz="1400" dirty="0"/>
          </a:p>
        </p:txBody>
      </p:sp>
      <p:sp>
        <p:nvSpPr>
          <p:cNvPr id="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ection pill"/>
          <p:cNvSpPr/>
          <p:nvPr/>
        </p:nvSpPr>
        <p:spPr>
          <a:xfrm>
            <a:off x="548640" y="384048"/>
            <a:ext cx="2020824" cy="274320"/>
          </a:xfrm>
          <a:prstGeom prst="roundRect">
            <a:avLst>
              <a:gd name="adj" fmla="val 50000"/>
            </a:avLst>
          </a:prstGeom>
          <a:solidFill>
            <a:srgbClr val="B45309"/>
          </a:solidFill>
          <a:ln/>
        </p:spPr>
        <p:txBody>
          <a:bodyPr wrap="square" lIns="0" tIns="0" rIns="0" bIns="0" rtlCol="0" anchor="ctr"/>
          <a:lstStyle/>
          <a:p>
            <a:pPr marL="0" indent="0" algn="ctr">
              <a:buNone/>
            </a:pPr>
            <a:r>
              <a:rPr lang="en-US" sz="1100" b="1" kern="0" spc="100" dirty="0">
                <a:solidFill>
                  <a:srgbClr val="FFFFFF"/>
                </a:solidFill>
              </a:rPr>
              <a:t>PART 4  ·  QUALITY</a:t>
            </a:r>
            <a:endParaRPr lang="en-US" sz="1100" dirty="0"/>
          </a:p>
        </p:txBody>
      </p:sp>
      <p:sp>
        <p:nvSpPr>
          <p:cNvPr id="4"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t"/>
          <a:lstStyle/>
          <a:p>
            <a:pPr marL="0" indent="0" algn="l">
              <a:buNone/>
            </a:pPr>
            <a:r>
              <a:rPr lang="en-US" sz="3200" b="1" dirty="0">
                <a:solidFill>
                  <a:srgbClr val="0B1437"/>
                </a:solidFill>
              </a:rPr>
              <a:t>Results and conclusion</a:t>
            </a:r>
            <a:endParaRPr lang="en-US" sz="3200" dirty="0"/>
          </a:p>
        </p:txBody>
      </p:sp>
      <p:sp>
        <p:nvSpPr>
          <p:cNvPr id="5" name="Stat tile questions"/>
          <p:cNvSpPr/>
          <p:nvPr/>
        </p:nvSpPr>
        <p:spPr>
          <a:xfrm>
            <a:off x="548640" y="1783080"/>
            <a:ext cx="2606040" cy="1691640"/>
          </a:xfrm>
          <a:prstGeom prst="roundRect">
            <a:avLst>
              <a:gd name="adj" fmla="val 5405"/>
            </a:avLst>
          </a:prstGeom>
          <a:solidFill>
            <a:srgbClr val="0B1437"/>
          </a:solidFill>
          <a:ln w="12700">
            <a:solidFill>
              <a:srgbClr val="0B1437"/>
            </a:solidFill>
            <a:prstDash val="solid"/>
          </a:ln>
        </p:spPr>
      </p:sp>
      <p:sp>
        <p:nvSpPr>
          <p:cNvPr id="6" name="Text 3"/>
          <p:cNvSpPr txBox="1"/>
          <p:nvPr/>
        </p:nvSpPr>
        <p:spPr>
          <a:xfrm>
            <a:off x="777240" y="1874520"/>
            <a:ext cx="2194560" cy="868680"/>
          </a:xfrm>
          <a:prstGeom prst="rect">
            <a:avLst/>
          </a:prstGeom>
          <a:noFill/>
          <a:ln/>
        </p:spPr>
        <p:txBody>
          <a:bodyPr wrap="square" lIns="0" tIns="0" rIns="0" bIns="0" rtlCol="0" anchor="t"/>
          <a:lstStyle/>
          <a:p>
            <a:pPr marL="0" indent="0">
              <a:buNone/>
            </a:pPr>
            <a:r>
              <a:rPr lang="en-US" sz="5400" b="1" dirty="0">
                <a:solidFill>
                  <a:srgbClr val="F59E0B"/>
                </a:solidFill>
                <a:latin typeface="Cambria" pitchFamily="34" charset="0"/>
                <a:ea typeface="Cambria" pitchFamily="34" charset="-122"/>
                <a:cs typeface="Cambria" pitchFamily="34" charset="-120"/>
              </a:rPr>
              <a:t>10</a:t>
            </a:r>
            <a:endParaRPr lang="en-US" sz="5400" dirty="0"/>
          </a:p>
        </p:txBody>
      </p:sp>
      <p:sp>
        <p:nvSpPr>
          <p:cNvPr id="7" name="Text 4"/>
          <p:cNvSpPr txBox="1"/>
          <p:nvPr/>
        </p:nvSpPr>
        <p:spPr>
          <a:xfrm>
            <a:off x="777240" y="2788920"/>
            <a:ext cx="2194560" cy="548640"/>
          </a:xfrm>
          <a:prstGeom prst="rect">
            <a:avLst/>
          </a:prstGeom>
          <a:noFill/>
          <a:ln/>
        </p:spPr>
        <p:txBody>
          <a:bodyPr wrap="square" lIns="0" tIns="0" rIns="0" bIns="0" rtlCol="0" anchor="t"/>
          <a:lstStyle/>
          <a:p>
            <a:pPr marL="0" indent="0">
              <a:buNone/>
            </a:pPr>
            <a:r>
              <a:rPr lang="en-US" sz="1400" dirty="0">
                <a:solidFill>
                  <a:srgbClr val="FFFFFF"/>
                </a:solidFill>
              </a:rPr>
              <a:t>questions in the evaluation set</a:t>
            </a:r>
            <a:endParaRPr lang="en-US" sz="1400" dirty="0"/>
          </a:p>
        </p:txBody>
      </p:sp>
      <p:sp>
        <p:nvSpPr>
          <p:cNvPr id="8" name="Stat tile Faithfulness"/>
          <p:cNvSpPr/>
          <p:nvPr/>
        </p:nvSpPr>
        <p:spPr>
          <a:xfrm>
            <a:off x="3383280" y="1783080"/>
            <a:ext cx="2560320" cy="1691640"/>
          </a:xfrm>
          <a:prstGeom prst="roundRect">
            <a:avLst>
              <a:gd name="adj" fmla="val 5405"/>
            </a:avLst>
          </a:prstGeom>
          <a:solidFill>
            <a:srgbClr val="F1F5F9"/>
          </a:solidFill>
          <a:ln w="12700">
            <a:solidFill>
              <a:srgbClr val="CBD5E1"/>
            </a:solidFill>
            <a:prstDash val="solid"/>
          </a:ln>
        </p:spPr>
      </p:sp>
      <p:sp>
        <p:nvSpPr>
          <p:cNvPr id="9" name="Text 6"/>
          <p:cNvSpPr txBox="1"/>
          <p:nvPr/>
        </p:nvSpPr>
        <p:spPr>
          <a:xfrm>
            <a:off x="3611880" y="1874520"/>
            <a:ext cx="2103120" cy="868680"/>
          </a:xfrm>
          <a:prstGeom prst="rect">
            <a:avLst/>
          </a:prstGeom>
          <a:noFill/>
          <a:ln/>
        </p:spPr>
        <p:txBody>
          <a:bodyPr wrap="square" lIns="0" tIns="0" rIns="0" bIns="0" rtlCol="0" anchor="t"/>
          <a:lstStyle/>
          <a:p>
            <a:pPr marL="0" indent="0">
              <a:buNone/>
            </a:pPr>
            <a:r>
              <a:rPr lang="en-US" sz="5400" b="1" dirty="0">
                <a:solidFill>
                  <a:srgbClr val="0369A1"/>
                </a:solidFill>
                <a:latin typeface="Cambria" pitchFamily="34" charset="0"/>
                <a:ea typeface="Cambria" pitchFamily="34" charset="-122"/>
              </a:rPr>
              <a:t>0.87</a:t>
            </a:r>
            <a:endParaRPr lang="en-US" sz="5400" dirty="0"/>
          </a:p>
        </p:txBody>
      </p:sp>
      <p:sp>
        <p:nvSpPr>
          <p:cNvPr id="10" name="Text 7"/>
          <p:cNvSpPr txBox="1"/>
          <p:nvPr/>
        </p:nvSpPr>
        <p:spPr>
          <a:xfrm>
            <a:off x="3611880" y="2788920"/>
            <a:ext cx="2194560" cy="594360"/>
          </a:xfrm>
          <a:prstGeom prst="rect">
            <a:avLst/>
          </a:prstGeom>
          <a:noFill/>
          <a:ln/>
        </p:spPr>
        <p:txBody>
          <a:bodyPr wrap="square" lIns="0" tIns="0" rIns="0" bIns="0" rtlCol="0" anchor="t"/>
          <a:lstStyle/>
          <a:p>
            <a:pPr marL="0" indent="0">
              <a:buNone/>
            </a:pPr>
            <a:r>
              <a:rPr lang="en-US" sz="1400" dirty="0">
                <a:solidFill>
                  <a:srgbClr val="1E293B"/>
                </a:solidFill>
              </a:rPr>
              <a:t>Average Faithfulness</a:t>
            </a:r>
            <a:endParaRPr lang="en-US" sz="1400" dirty="0"/>
          </a:p>
          <a:p>
            <a:pPr marL="0" indent="0">
              <a:buNone/>
            </a:pPr>
            <a:r>
              <a:rPr lang="en-US" sz="1200" dirty="0">
                <a:solidFill>
                  <a:srgbClr val="64748B"/>
                </a:solidFill>
              </a:rPr>
              <a:t>add measured score</a:t>
            </a:r>
            <a:endParaRPr lang="en-US" sz="1400" dirty="0"/>
          </a:p>
        </p:txBody>
      </p:sp>
      <p:sp>
        <p:nvSpPr>
          <p:cNvPr id="11" name="Stat tile Answer Relevancy"/>
          <p:cNvSpPr/>
          <p:nvPr/>
        </p:nvSpPr>
        <p:spPr>
          <a:xfrm>
            <a:off x="6126480" y="1783080"/>
            <a:ext cx="2560320" cy="1691640"/>
          </a:xfrm>
          <a:prstGeom prst="roundRect">
            <a:avLst>
              <a:gd name="adj" fmla="val 5405"/>
            </a:avLst>
          </a:prstGeom>
          <a:solidFill>
            <a:srgbClr val="F1F5F9"/>
          </a:solidFill>
          <a:ln w="12700">
            <a:solidFill>
              <a:srgbClr val="CBD5E1"/>
            </a:solidFill>
            <a:prstDash val="solid"/>
          </a:ln>
        </p:spPr>
      </p:sp>
      <p:sp>
        <p:nvSpPr>
          <p:cNvPr id="12" name="Text 9"/>
          <p:cNvSpPr txBox="1"/>
          <p:nvPr/>
        </p:nvSpPr>
        <p:spPr>
          <a:xfrm>
            <a:off x="6355080" y="1874520"/>
            <a:ext cx="2103120" cy="868680"/>
          </a:xfrm>
          <a:prstGeom prst="rect">
            <a:avLst/>
          </a:prstGeom>
          <a:noFill/>
          <a:ln/>
        </p:spPr>
        <p:txBody>
          <a:bodyPr wrap="square" lIns="0" tIns="0" rIns="0" bIns="0" rtlCol="0" anchor="t"/>
          <a:lstStyle/>
          <a:p>
            <a:pPr marL="0" indent="0">
              <a:buNone/>
            </a:pPr>
            <a:r>
              <a:rPr lang="en-US" sz="5400" b="1" dirty="0">
                <a:solidFill>
                  <a:srgbClr val="6D28D9"/>
                </a:solidFill>
                <a:latin typeface="Cambria" pitchFamily="34" charset="0"/>
                <a:ea typeface="Cambria" pitchFamily="34" charset="-122"/>
              </a:rPr>
              <a:t>0.94</a:t>
            </a:r>
            <a:endParaRPr lang="en-US" sz="5400" dirty="0"/>
          </a:p>
        </p:txBody>
      </p:sp>
      <p:sp>
        <p:nvSpPr>
          <p:cNvPr id="13" name="Text 10"/>
          <p:cNvSpPr txBox="1"/>
          <p:nvPr/>
        </p:nvSpPr>
        <p:spPr>
          <a:xfrm>
            <a:off x="6355080" y="2788920"/>
            <a:ext cx="2194560" cy="594360"/>
          </a:xfrm>
          <a:prstGeom prst="rect">
            <a:avLst/>
          </a:prstGeom>
          <a:noFill/>
          <a:ln/>
        </p:spPr>
        <p:txBody>
          <a:bodyPr wrap="square" lIns="0" tIns="0" rIns="0" bIns="0" rtlCol="0" anchor="t"/>
          <a:lstStyle/>
          <a:p>
            <a:pPr marL="0" indent="0">
              <a:buNone/>
            </a:pPr>
            <a:r>
              <a:rPr lang="en-US" sz="1400" dirty="0">
                <a:solidFill>
                  <a:srgbClr val="1E293B"/>
                </a:solidFill>
              </a:rPr>
              <a:t>Average Answer Relevancy</a:t>
            </a:r>
            <a:endParaRPr lang="en-US" sz="1400" dirty="0"/>
          </a:p>
          <a:p>
            <a:pPr marL="0" indent="0">
              <a:buNone/>
            </a:pPr>
            <a:r>
              <a:rPr lang="en-US" sz="1200" dirty="0">
                <a:solidFill>
                  <a:srgbClr val="64748B"/>
                </a:solidFill>
              </a:rPr>
              <a:t>add measured score</a:t>
            </a:r>
            <a:endParaRPr lang="en-US" sz="1400" dirty="0"/>
          </a:p>
        </p:txBody>
      </p:sp>
      <p:sp>
        <p:nvSpPr>
          <p:cNvPr id="14" name="Stat tile Context Precision"/>
          <p:cNvSpPr/>
          <p:nvPr/>
        </p:nvSpPr>
        <p:spPr>
          <a:xfrm>
            <a:off x="8869680" y="1783080"/>
            <a:ext cx="2560320" cy="1691640"/>
          </a:xfrm>
          <a:prstGeom prst="roundRect">
            <a:avLst>
              <a:gd name="adj" fmla="val 5405"/>
            </a:avLst>
          </a:prstGeom>
          <a:solidFill>
            <a:srgbClr val="F1F5F9"/>
          </a:solidFill>
          <a:ln w="12700">
            <a:solidFill>
              <a:srgbClr val="CBD5E1"/>
            </a:solidFill>
            <a:prstDash val="solid"/>
          </a:ln>
        </p:spPr>
      </p:sp>
      <p:sp>
        <p:nvSpPr>
          <p:cNvPr id="15" name="Text 12"/>
          <p:cNvSpPr txBox="1"/>
          <p:nvPr/>
        </p:nvSpPr>
        <p:spPr>
          <a:xfrm>
            <a:off x="9098280" y="1874520"/>
            <a:ext cx="2103120" cy="868680"/>
          </a:xfrm>
          <a:prstGeom prst="rect">
            <a:avLst/>
          </a:prstGeom>
          <a:noFill/>
          <a:ln/>
        </p:spPr>
        <p:txBody>
          <a:bodyPr wrap="square" lIns="0" tIns="0" rIns="0" bIns="0" rtlCol="0" anchor="t"/>
          <a:lstStyle/>
          <a:p>
            <a:pPr marL="0" indent="0">
              <a:buNone/>
            </a:pPr>
            <a:r>
              <a:rPr lang="en-US" sz="5400" b="1" dirty="0">
                <a:solidFill>
                  <a:srgbClr val="047857"/>
                </a:solidFill>
                <a:latin typeface="Cambria" pitchFamily="34" charset="0"/>
                <a:ea typeface="Cambria" pitchFamily="34" charset="-122"/>
              </a:rPr>
              <a:t>0.56</a:t>
            </a:r>
            <a:endParaRPr lang="en-US" sz="5400" dirty="0"/>
          </a:p>
        </p:txBody>
      </p:sp>
      <p:sp>
        <p:nvSpPr>
          <p:cNvPr id="16" name="Text 13"/>
          <p:cNvSpPr txBox="1"/>
          <p:nvPr/>
        </p:nvSpPr>
        <p:spPr>
          <a:xfrm>
            <a:off x="9098280" y="2788920"/>
            <a:ext cx="2194560" cy="594360"/>
          </a:xfrm>
          <a:prstGeom prst="rect">
            <a:avLst/>
          </a:prstGeom>
          <a:noFill/>
          <a:ln/>
        </p:spPr>
        <p:txBody>
          <a:bodyPr wrap="square" lIns="0" tIns="0" rIns="0" bIns="0" rtlCol="0" anchor="t"/>
          <a:lstStyle/>
          <a:p>
            <a:pPr marL="0" indent="0">
              <a:buNone/>
            </a:pPr>
            <a:r>
              <a:rPr lang="en-US" sz="1400" dirty="0">
                <a:solidFill>
                  <a:srgbClr val="1E293B"/>
                </a:solidFill>
              </a:rPr>
              <a:t>Average Context Precision</a:t>
            </a:r>
            <a:endParaRPr lang="en-US" sz="1400" dirty="0"/>
          </a:p>
          <a:p>
            <a:pPr marL="0" indent="0">
              <a:buNone/>
            </a:pPr>
            <a:r>
              <a:rPr lang="en-US" sz="1200" dirty="0">
                <a:solidFill>
                  <a:srgbClr val="64748B"/>
                </a:solidFill>
              </a:rPr>
              <a:t>add measured score</a:t>
            </a:r>
            <a:endParaRPr lang="en-US" sz="1400" dirty="0"/>
          </a:p>
        </p:txBody>
      </p:sp>
      <p:sp>
        <p:nvSpPr>
          <p:cNvPr id="17" name="Conclusion card"/>
          <p:cNvSpPr/>
          <p:nvPr/>
        </p:nvSpPr>
        <p:spPr>
          <a:xfrm>
            <a:off x="548640" y="3794760"/>
            <a:ext cx="11064240" cy="1828800"/>
          </a:xfrm>
          <a:prstGeom prst="roundRect">
            <a:avLst>
              <a:gd name="adj" fmla="val 5000"/>
            </a:avLst>
          </a:prstGeom>
          <a:solidFill>
            <a:srgbClr val="E0F2FE"/>
          </a:solidFill>
          <a:ln w="12700">
            <a:solidFill>
              <a:srgbClr val="0EA5E9"/>
            </a:solidFill>
            <a:prstDash val="solid"/>
          </a:ln>
        </p:spPr>
      </p:sp>
      <p:sp>
        <p:nvSpPr>
          <p:cNvPr id="18" name="Text 15"/>
          <p:cNvSpPr txBox="1"/>
          <p:nvPr/>
        </p:nvSpPr>
        <p:spPr>
          <a:xfrm>
            <a:off x="822960" y="3931920"/>
            <a:ext cx="10515600" cy="365760"/>
          </a:xfrm>
          <a:prstGeom prst="rect">
            <a:avLst/>
          </a:prstGeom>
          <a:noFill/>
          <a:ln/>
        </p:spPr>
        <p:txBody>
          <a:bodyPr wrap="square" lIns="0" tIns="0" rIns="0" bIns="0" rtlCol="0" anchor="t"/>
          <a:lstStyle/>
          <a:p>
            <a:pPr marL="0" indent="0">
              <a:buNone/>
            </a:pPr>
            <a:r>
              <a:rPr lang="en-US" sz="2000" b="1" dirty="0">
                <a:solidFill>
                  <a:srgbClr val="0B1437"/>
                </a:solidFill>
              </a:rPr>
              <a:t>Conclusion</a:t>
            </a:r>
            <a:endParaRPr lang="en-US" sz="2000" dirty="0"/>
          </a:p>
        </p:txBody>
      </p:sp>
      <p:sp>
        <p:nvSpPr>
          <p:cNvPr id="19" name="Text 16"/>
          <p:cNvSpPr txBox="1"/>
          <p:nvPr/>
        </p:nvSpPr>
        <p:spPr>
          <a:xfrm>
            <a:off x="822960" y="4434840"/>
            <a:ext cx="10515600" cy="1097280"/>
          </a:xfrm>
          <a:prstGeom prst="rect">
            <a:avLst/>
          </a:prstGeom>
          <a:noFill/>
          <a:ln/>
        </p:spPr>
        <p:txBody>
          <a:bodyPr wrap="square" lIns="0" tIns="0" rIns="0" bIns="0" rtlCol="0" anchor="t"/>
          <a:lstStyle/>
          <a:p>
            <a:pPr marL="0" indent="0">
              <a:buNone/>
            </a:pPr>
            <a:r>
              <a:rPr lang="en-US" sz="1800" dirty="0">
                <a:solidFill>
                  <a:srgbClr val="1E293B"/>
                </a:solidFill>
              </a:rPr>
              <a:t>The Internal Knowledge Assistant demonstrates an end-to-end RAG workflow: document ingestion, embedding generation, vector retrieval, grounded answers with source citations, refusal controls, audit logging, and independent quality evaluation.</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Knowledge Assistant">
  <a:themeElements>
    <a:clrScheme name="Knowledge Assistant">
      <a:dk1>
        <a:srgbClr val="1E293B"/>
      </a:dk1>
      <a:lt1>
        <a:srgbClr val="FFFFFF"/>
      </a:lt1>
      <a:dk2>
        <a:srgbClr val="0B1437"/>
      </a:dk2>
      <a:lt2>
        <a:srgbClr val="F1F5F9"/>
      </a:lt2>
      <a:accent1>
        <a:srgbClr val="0369A1"/>
      </a:accent1>
      <a:accent2>
        <a:srgbClr val="6D28D9"/>
      </a:accent2>
      <a:accent3>
        <a:srgbClr val="047857"/>
      </a:accent3>
      <a:accent4>
        <a:srgbClr val="B45309"/>
      </a:accent4>
      <a:accent5>
        <a:srgbClr val="F59E0B"/>
      </a:accent5>
      <a:accent6>
        <a:srgbClr val="0EA5E9"/>
      </a:accent6>
      <a:hlink>
        <a:srgbClr val="0369A1"/>
      </a:hlink>
      <a:folHlink>
        <a:srgbClr val="6D28D9"/>
      </a:folHlink>
    </a:clrScheme>
    <a:fontScheme name="Knowledge Assista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1576</Words>
  <Application>Microsoft Office PowerPoint</Application>
  <PresentationFormat>Widescreen</PresentationFormat>
  <Paragraphs>304</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Knowledge Assistant</vt:lpstr>
      <vt:lpstr>PowerPoint Presentation</vt:lpstr>
      <vt:lpstr>What we will cover</vt:lpstr>
      <vt:lpstr>The problem and our objectives</vt:lpstr>
      <vt:lpstr>What is RAG?</vt:lpstr>
      <vt:lpstr>Technology stack</vt:lpstr>
      <vt:lpstr>System architecture</vt:lpstr>
      <vt:lpstr>Step 1: Document ingestion</vt:lpstr>
      <vt:lpstr>Step 2: Chunking and embeddings</vt:lpstr>
      <vt:lpstr>Step 3: ChromaDB storage and retrieval</vt:lpstr>
      <vt:lpstr>Step 4: RAG pipeline and hallucination control</vt:lpstr>
      <vt:lpstr>Key parameters</vt:lpstr>
      <vt:lpstr>Step 5: Audit logging and observability</vt:lpstr>
      <vt:lpstr>Step 6: Evaluation metrics</vt:lpstr>
      <vt:lpstr>Results and 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Knowledge Assistant: Capstone Project</dc:title>
  <dc:subject>PptxGenJS Presentation</dc:subject>
  <dc:creator>PptxGenJS</dc:creator>
  <cp:lastModifiedBy>Sujan H G</cp:lastModifiedBy>
  <cp:revision>5</cp:revision>
  <dcterms:created xsi:type="dcterms:W3CDTF">2026-10-09T05:23:40Z</dcterms:created>
  <dcterms:modified xsi:type="dcterms:W3CDTF">2026-10-21T09:33:51Z</dcterms:modified>
</cp:coreProperties>
</file>